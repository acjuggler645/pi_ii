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9" r:id="rId6"/>
    <p:sldId id="257" r:id="rId7"/>
    <p:sldId id="258" r:id="rId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BCEDE4-1808-A25B-1AD9-08A0BFF1E33E}" v="2" dt="2026-03-24T20:45:29.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8"/>
    <p:restoredTop sz="94658"/>
  </p:normalViewPr>
  <p:slideViewPr>
    <p:cSldViewPr snapToGrid="0">
      <p:cViewPr varScale="1">
        <p:scale>
          <a:sx n="120" d="100"/>
          <a:sy n="120" d="100"/>
        </p:scale>
        <p:origin x="9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DAVID GALEANO PEÑA" userId="S::wdgaleanop@itc.edu.co::6976aec5-c703-432d-871a-af34c2cec04e" providerId="AD" clId="Web-{A8D1BA13-9937-B504-F6E1-85857EC249D7}"/>
    <pc:docChg chg="modSld">
      <pc:chgData name="WILLIAM DAVID GALEANO PEÑA" userId="S::wdgaleanop@itc.edu.co::6976aec5-c703-432d-871a-af34c2cec04e" providerId="AD" clId="Web-{A8D1BA13-9937-B504-F6E1-85857EC249D7}" dt="2026-03-26T00:05:45.006" v="0" actId="1076"/>
      <pc:docMkLst>
        <pc:docMk/>
      </pc:docMkLst>
      <pc:sldChg chg="modSp">
        <pc:chgData name="WILLIAM DAVID GALEANO PEÑA" userId="S::wdgaleanop@itc.edu.co::6976aec5-c703-432d-871a-af34c2cec04e" providerId="AD" clId="Web-{A8D1BA13-9937-B504-F6E1-85857EC249D7}" dt="2026-03-26T00:05:45.006" v="0" actId="1076"/>
        <pc:sldMkLst>
          <pc:docMk/>
          <pc:sldMk cId="2699889865" sldId="257"/>
        </pc:sldMkLst>
        <pc:graphicFrameChg chg="mod">
          <ac:chgData name="WILLIAM DAVID GALEANO PEÑA" userId="S::wdgaleanop@itc.edu.co::6976aec5-c703-432d-871a-af34c2cec04e" providerId="AD" clId="Web-{A8D1BA13-9937-B504-F6E1-85857EC249D7}" dt="2026-03-26T00:05:45.006" v="0" actId="1076"/>
          <ac:graphicFrameMkLst>
            <pc:docMk/>
            <pc:sldMk cId="2699889865" sldId="257"/>
            <ac:graphicFrameMk id="4" creationId="{FCC5FDB0-D304-B9E0-544D-45F1BAEA1062}"/>
          </ac:graphicFrameMkLst>
        </pc:graphicFrameChg>
      </pc:sldChg>
    </pc:docChg>
  </pc:docChgLst>
  <pc:docChgLst>
    <pc:chgData name="SAMUEL ESTEBAN BAQUERO ALFONSO" userId="S::sebaqueroa@itc.edu.co::efe02722-89cb-40b5-8d3f-2cd50782b87e" providerId="AD" clId="Web-{5EBCEDE4-1808-A25B-1AD9-08A0BFF1E33E}"/>
    <pc:docChg chg="addSld delSld">
      <pc:chgData name="SAMUEL ESTEBAN BAQUERO ALFONSO" userId="S::sebaqueroa@itc.edu.co::efe02722-89cb-40b5-8d3f-2cd50782b87e" providerId="AD" clId="Web-{5EBCEDE4-1808-A25B-1AD9-08A0BFF1E33E}" dt="2026-03-24T20:45:29.532" v="1"/>
      <pc:docMkLst>
        <pc:docMk/>
      </pc:docMkLst>
      <pc:sldChg chg="new del">
        <pc:chgData name="SAMUEL ESTEBAN BAQUERO ALFONSO" userId="S::sebaqueroa@itc.edu.co::efe02722-89cb-40b5-8d3f-2cd50782b87e" providerId="AD" clId="Web-{5EBCEDE4-1808-A25B-1AD9-08A0BFF1E33E}" dt="2026-03-24T20:45:29.532" v="1"/>
        <pc:sldMkLst>
          <pc:docMk/>
          <pc:sldMk cId="3906807549" sldId="26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D9C8DE-F3F9-124E-9985-3EF20DC61E2B}"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es-MX"/>
        </a:p>
      </dgm:t>
    </dgm:pt>
    <dgm:pt modelId="{65F57CC6-C856-9049-9EF5-4E14F9E9B45A}">
      <dgm:prSet/>
      <dgm:spPr/>
      <dgm:t>
        <a:bodyPr/>
        <a:lstStyle/>
        <a:p>
          <a:r>
            <a:rPr lang="es-ES_tradnl" noProof="1"/>
            <a:t>I PRESENTACIÓN DEL CURSO </a:t>
          </a:r>
        </a:p>
      </dgm:t>
    </dgm:pt>
    <dgm:pt modelId="{4E5749CE-6A20-B64A-A08E-68DC6345F171}" type="parTrans" cxnId="{2EDD9D75-21A5-944C-803B-923BCFE80680}">
      <dgm:prSet/>
      <dgm:spPr/>
      <dgm:t>
        <a:bodyPr/>
        <a:lstStyle/>
        <a:p>
          <a:endParaRPr lang="es-MX"/>
        </a:p>
      </dgm:t>
    </dgm:pt>
    <dgm:pt modelId="{CD4EF99E-1D53-A646-BE5F-0B9E2B648D3F}" type="sibTrans" cxnId="{2EDD9D75-21A5-944C-803B-923BCFE80680}">
      <dgm:prSet/>
      <dgm:spPr/>
      <dgm:t>
        <a:bodyPr/>
        <a:lstStyle/>
        <a:p>
          <a:endParaRPr lang="es-MX"/>
        </a:p>
      </dgm:t>
    </dgm:pt>
    <dgm:pt modelId="{A631DBE3-C93E-FA4E-8B0C-317644030556}">
      <dgm:prSet/>
      <dgm:spPr/>
      <dgm:t>
        <a:bodyPr/>
        <a:lstStyle/>
        <a:p>
          <a:pPr>
            <a:buFont typeface="Wingdings" pitchFamily="2" charset="2"/>
            <a:buChar char="ü"/>
          </a:pPr>
          <a:r>
            <a:rPr lang="es-ES_tradnl" noProof="1">
              <a:solidFill>
                <a:schemeClr val="accent6"/>
              </a:solidFill>
            </a:rPr>
            <a:t>Presentación del Microcurrículo.  </a:t>
          </a:r>
        </a:p>
      </dgm:t>
    </dgm:pt>
    <dgm:pt modelId="{A25F8E0D-9C89-234D-A862-F3FF5CE51EB1}" type="parTrans" cxnId="{071FA8D1-2A9B-9640-AAB8-C6DBE869ABC8}">
      <dgm:prSet/>
      <dgm:spPr/>
      <dgm:t>
        <a:bodyPr/>
        <a:lstStyle/>
        <a:p>
          <a:endParaRPr lang="es-MX"/>
        </a:p>
      </dgm:t>
    </dgm:pt>
    <dgm:pt modelId="{40DCCDB9-84FF-814D-AFA5-90EDD6BF9AFD}" type="sibTrans" cxnId="{071FA8D1-2A9B-9640-AAB8-C6DBE869ABC8}">
      <dgm:prSet/>
      <dgm:spPr/>
      <dgm:t>
        <a:bodyPr/>
        <a:lstStyle/>
        <a:p>
          <a:endParaRPr lang="es-MX"/>
        </a:p>
      </dgm:t>
    </dgm:pt>
    <dgm:pt modelId="{D160F8DB-BE85-BE4E-90FC-B71D6EC230D8}">
      <dgm:prSet/>
      <dgm:spPr/>
      <dgm:t>
        <a:bodyPr/>
        <a:lstStyle/>
        <a:p>
          <a:pPr>
            <a:buFont typeface="Wingdings" pitchFamily="2" charset="2"/>
            <a:buChar char="ü"/>
          </a:pPr>
          <a:r>
            <a:rPr lang="es-ES_tradnl" noProof="1">
              <a:solidFill>
                <a:schemeClr val="accent6"/>
              </a:solidFill>
            </a:rPr>
            <a:t> Concertación sobre la metodología y las formas de evaluación. </a:t>
          </a:r>
        </a:p>
      </dgm:t>
    </dgm:pt>
    <dgm:pt modelId="{6D9ABEF3-8495-DD49-BD99-FA13E33E0452}" type="parTrans" cxnId="{C9615164-2D32-2141-BED1-F6B4823A5DA5}">
      <dgm:prSet/>
      <dgm:spPr/>
      <dgm:t>
        <a:bodyPr/>
        <a:lstStyle/>
        <a:p>
          <a:endParaRPr lang="es-MX"/>
        </a:p>
      </dgm:t>
    </dgm:pt>
    <dgm:pt modelId="{6D6D9D3F-6BCD-914F-B46F-62D678777763}" type="sibTrans" cxnId="{C9615164-2D32-2141-BED1-F6B4823A5DA5}">
      <dgm:prSet/>
      <dgm:spPr/>
      <dgm:t>
        <a:bodyPr/>
        <a:lstStyle/>
        <a:p>
          <a:endParaRPr lang="es-MX"/>
        </a:p>
      </dgm:t>
    </dgm:pt>
    <dgm:pt modelId="{D802F324-98FE-074B-A223-FB34BDDADE3D}">
      <dgm:prSet/>
      <dgm:spPr/>
      <dgm:t>
        <a:bodyPr/>
        <a:lstStyle/>
        <a:p>
          <a:pPr>
            <a:buFont typeface="Wingdings" pitchFamily="2" charset="2"/>
            <a:buChar char="ü"/>
          </a:pPr>
          <a:r>
            <a:rPr lang="es-ES_tradnl" noProof="1">
              <a:solidFill>
                <a:schemeClr val="accent6"/>
              </a:solidFill>
            </a:rPr>
            <a:t> Conceptos teóricos sobre conocimiento, epistemología y gnoseología. </a:t>
          </a:r>
        </a:p>
      </dgm:t>
    </dgm:pt>
    <dgm:pt modelId="{805CED63-446F-4B4E-859F-20A06C9B3D62}" type="parTrans" cxnId="{B70E5546-86F1-D848-94DE-812F92106A0A}">
      <dgm:prSet/>
      <dgm:spPr/>
      <dgm:t>
        <a:bodyPr/>
        <a:lstStyle/>
        <a:p>
          <a:endParaRPr lang="es-MX"/>
        </a:p>
      </dgm:t>
    </dgm:pt>
    <dgm:pt modelId="{99D4C451-D22C-3644-89F8-0576B2DC8E17}" type="sibTrans" cxnId="{B70E5546-86F1-D848-94DE-812F92106A0A}">
      <dgm:prSet/>
      <dgm:spPr/>
      <dgm:t>
        <a:bodyPr/>
        <a:lstStyle/>
        <a:p>
          <a:endParaRPr lang="es-MX"/>
        </a:p>
      </dgm:t>
    </dgm:pt>
    <dgm:pt modelId="{F1A38DF3-F4E6-E143-9FF1-B7B5CDCC7D11}">
      <dgm:prSet/>
      <dgm:spPr/>
      <dgm:t>
        <a:bodyPr/>
        <a:lstStyle/>
        <a:p>
          <a:r>
            <a:rPr lang="es-ES_tradnl" noProof="1"/>
            <a:t>II. Conceptualización básica </a:t>
          </a:r>
        </a:p>
      </dgm:t>
    </dgm:pt>
    <dgm:pt modelId="{96F8235D-82DD-8D4A-BF17-994CBB1384A5}" type="parTrans" cxnId="{0EFA5DF5-88C4-734B-B871-D8B4F76374DC}">
      <dgm:prSet/>
      <dgm:spPr/>
      <dgm:t>
        <a:bodyPr/>
        <a:lstStyle/>
        <a:p>
          <a:endParaRPr lang="es-MX"/>
        </a:p>
      </dgm:t>
    </dgm:pt>
    <dgm:pt modelId="{5A55922C-BB65-CD42-BC34-477E1D4FC048}" type="sibTrans" cxnId="{0EFA5DF5-88C4-734B-B871-D8B4F76374DC}">
      <dgm:prSet/>
      <dgm:spPr/>
      <dgm:t>
        <a:bodyPr/>
        <a:lstStyle/>
        <a:p>
          <a:endParaRPr lang="es-MX"/>
        </a:p>
      </dgm:t>
    </dgm:pt>
    <dgm:pt modelId="{2FC96311-D035-254D-95F3-746D327AE332}">
      <dgm:prSet/>
      <dgm:spPr/>
      <dgm:t>
        <a:bodyPr/>
        <a:lstStyle/>
        <a:p>
          <a:r>
            <a:rPr lang="es-ES_tradnl" noProof="1"/>
            <a:t>▪ Conocimiento científico y tecnológico, Invención, Innovación y tipos de innovación, desarrollo tecnológico, impacto social del conocimiento. </a:t>
          </a:r>
        </a:p>
      </dgm:t>
    </dgm:pt>
    <dgm:pt modelId="{9320CF6E-465A-B247-B4D4-56A269FAD646}" type="parTrans" cxnId="{A9356F3A-4A4E-574D-A7A0-04675C0086F9}">
      <dgm:prSet/>
      <dgm:spPr/>
      <dgm:t>
        <a:bodyPr/>
        <a:lstStyle/>
        <a:p>
          <a:endParaRPr lang="es-MX"/>
        </a:p>
      </dgm:t>
    </dgm:pt>
    <dgm:pt modelId="{F46A2C6B-8EF2-7241-A148-DB0894DEC1BA}" type="sibTrans" cxnId="{A9356F3A-4A4E-574D-A7A0-04675C0086F9}">
      <dgm:prSet/>
      <dgm:spPr/>
      <dgm:t>
        <a:bodyPr/>
        <a:lstStyle/>
        <a:p>
          <a:endParaRPr lang="es-MX"/>
        </a:p>
      </dgm:t>
    </dgm:pt>
    <dgm:pt modelId="{0FB90C8C-8776-2641-B85E-63F8397B666D}">
      <dgm:prSet/>
      <dgm:spPr/>
      <dgm:t>
        <a:bodyPr/>
        <a:lstStyle/>
        <a:p>
          <a:r>
            <a:rPr lang="es-ES_tradnl" noProof="1"/>
            <a:t>III. Origen de una investigación. </a:t>
          </a:r>
        </a:p>
      </dgm:t>
    </dgm:pt>
    <dgm:pt modelId="{89B1BA94-ACB6-2449-AFA7-E685700E2C3D}" type="parTrans" cxnId="{4C9B89B5-C2A7-B64C-BE24-FDD926C38B18}">
      <dgm:prSet/>
      <dgm:spPr/>
      <dgm:t>
        <a:bodyPr/>
        <a:lstStyle/>
        <a:p>
          <a:endParaRPr lang="es-MX"/>
        </a:p>
      </dgm:t>
    </dgm:pt>
    <dgm:pt modelId="{9D53546A-6A37-BA46-BAB0-4DDB08863D15}" type="sibTrans" cxnId="{4C9B89B5-C2A7-B64C-BE24-FDD926C38B18}">
      <dgm:prSet/>
      <dgm:spPr/>
      <dgm:t>
        <a:bodyPr/>
        <a:lstStyle/>
        <a:p>
          <a:endParaRPr lang="es-MX"/>
        </a:p>
      </dgm:t>
    </dgm:pt>
    <dgm:pt modelId="{1DA9F07D-39CF-224F-A0C4-CD5FC254C593}">
      <dgm:prSet/>
      <dgm:spPr/>
      <dgm:t>
        <a:bodyPr/>
        <a:lstStyle/>
        <a:p>
          <a:r>
            <a:rPr lang="es-ES_tradnl" b="0" i="0" noProof="1"/>
            <a:t>¿De qué manera la </a:t>
          </a:r>
          <a:r>
            <a:rPr lang="es-ES_tradnl" b="1" i="0" noProof="1"/>
            <a:t>integración</a:t>
          </a:r>
          <a:r>
            <a:rPr lang="es-ES_tradnl" b="0" i="0" noProof="1"/>
            <a:t> de variables dinámicas de entorno (huella digital en el LMS, elasticidad laboral y movilidad urbana) en un modelo de analítica predictiva, permite optimizar la detección temprana del riesgo de deserción en los estudiantes de la jornada nocturna de la ETITC Sede Centro?</a:t>
          </a:r>
          <a:endParaRPr lang="es-ES_tradnl" noProof="1"/>
        </a:p>
      </dgm:t>
    </dgm:pt>
    <dgm:pt modelId="{02474C0D-5308-3749-9FBA-B8ADB3B55EF1}" type="parTrans" cxnId="{C165D61C-2A31-9D40-A194-8E914432EF0C}">
      <dgm:prSet/>
      <dgm:spPr/>
      <dgm:t>
        <a:bodyPr/>
        <a:lstStyle/>
        <a:p>
          <a:endParaRPr lang="es-MX"/>
        </a:p>
      </dgm:t>
    </dgm:pt>
    <dgm:pt modelId="{EBA80287-FFB7-1F41-B577-7B9C2A7B49DD}" type="sibTrans" cxnId="{C165D61C-2A31-9D40-A194-8E914432EF0C}">
      <dgm:prSet/>
      <dgm:spPr/>
      <dgm:t>
        <a:bodyPr/>
        <a:lstStyle/>
        <a:p>
          <a:endParaRPr lang="es-MX"/>
        </a:p>
      </dgm:t>
    </dgm:pt>
    <dgm:pt modelId="{DF1F59B6-DDFC-D44F-B1C9-343758A5C496}">
      <dgm:prSet/>
      <dgm:spPr/>
      <dgm:t>
        <a:bodyPr/>
        <a:lstStyle/>
        <a:p>
          <a:r>
            <a:rPr lang="es-ES_tradnl" noProof="1"/>
            <a:t>IV. Búsqueda de la información. </a:t>
          </a:r>
        </a:p>
      </dgm:t>
    </dgm:pt>
    <dgm:pt modelId="{02CBCAA0-6CD3-0D4B-AC6E-9992D399DEA3}" type="parTrans" cxnId="{AC859EC7-2690-5546-8F99-A5C783C32D33}">
      <dgm:prSet/>
      <dgm:spPr/>
      <dgm:t>
        <a:bodyPr/>
        <a:lstStyle/>
        <a:p>
          <a:endParaRPr lang="es-MX"/>
        </a:p>
      </dgm:t>
    </dgm:pt>
    <dgm:pt modelId="{D5AB1AD7-7F91-8E48-95A7-CDE4869B63CC}" type="sibTrans" cxnId="{AC859EC7-2690-5546-8F99-A5C783C32D33}">
      <dgm:prSet/>
      <dgm:spPr/>
      <dgm:t>
        <a:bodyPr/>
        <a:lstStyle/>
        <a:p>
          <a:endParaRPr lang="es-MX"/>
        </a:p>
      </dgm:t>
    </dgm:pt>
    <dgm:pt modelId="{BC82F129-41CF-9149-9E07-7DA8C3DBD7BA}">
      <dgm:prSet/>
      <dgm:spPr/>
      <dgm:t>
        <a:bodyPr/>
        <a:lstStyle/>
        <a:p>
          <a:r>
            <a:rPr lang="es-ES_tradnl" noProof="1"/>
            <a:t>Uso de bases de datos como SPADIES 3.0, Moodle y el Observatorio de Movilidad de</a:t>
          </a:r>
        </a:p>
      </dgm:t>
    </dgm:pt>
    <dgm:pt modelId="{EEBBE0E6-7B14-D24E-AA44-2FCC84C1E827}" type="parTrans" cxnId="{D18B4E14-0982-2E4C-90D1-D064DE35B647}">
      <dgm:prSet/>
      <dgm:spPr/>
      <dgm:t>
        <a:bodyPr/>
        <a:lstStyle/>
        <a:p>
          <a:endParaRPr lang="es-MX"/>
        </a:p>
      </dgm:t>
    </dgm:pt>
    <dgm:pt modelId="{735F6670-9ACD-BC4E-AD1E-AC0662E53059}" type="sibTrans" cxnId="{D18B4E14-0982-2E4C-90D1-D064DE35B647}">
      <dgm:prSet/>
      <dgm:spPr/>
      <dgm:t>
        <a:bodyPr/>
        <a:lstStyle/>
        <a:p>
          <a:endParaRPr lang="es-MX"/>
        </a:p>
      </dgm:t>
    </dgm:pt>
    <dgm:pt modelId="{F8310387-DBFB-7A4C-877A-69282677BBC5}">
      <dgm:prSet/>
      <dgm:spPr/>
      <dgm:t>
        <a:bodyPr/>
        <a:lstStyle/>
        <a:p>
          <a:r>
            <a:rPr lang="es-ES_tradnl" noProof="1"/>
            <a:t>V. Manejo de la información. </a:t>
          </a:r>
        </a:p>
      </dgm:t>
    </dgm:pt>
    <dgm:pt modelId="{65135D99-773A-154E-A581-7A778DF5377A}" type="parTrans" cxnId="{D736B43D-2547-CD48-9E38-0C7F95078132}">
      <dgm:prSet/>
      <dgm:spPr/>
      <dgm:t>
        <a:bodyPr/>
        <a:lstStyle/>
        <a:p>
          <a:endParaRPr lang="es-MX"/>
        </a:p>
      </dgm:t>
    </dgm:pt>
    <dgm:pt modelId="{01DC7B33-D2BE-7C4D-A8F0-B4239766A4C8}" type="sibTrans" cxnId="{D736B43D-2547-CD48-9E38-0C7F95078132}">
      <dgm:prSet/>
      <dgm:spPr/>
      <dgm:t>
        <a:bodyPr/>
        <a:lstStyle/>
        <a:p>
          <a:endParaRPr lang="es-MX"/>
        </a:p>
      </dgm:t>
    </dgm:pt>
    <dgm:pt modelId="{C8B5A808-D478-BD42-97B5-89CBE5988197}">
      <dgm:prSet/>
      <dgm:spPr/>
      <dgm:t>
        <a:bodyPr/>
        <a:lstStyle/>
        <a:p>
          <a:r>
            <a:rPr lang="es-ES_tradnl" noProof="1"/>
            <a:t>▪Gestores bibliográficos. </a:t>
          </a:r>
        </a:p>
      </dgm:t>
    </dgm:pt>
    <dgm:pt modelId="{7EE3E0A8-B5D1-AE4A-BC78-EE8531D32135}" type="parTrans" cxnId="{C369A686-DB99-144F-86B7-B839B88A98D5}">
      <dgm:prSet/>
      <dgm:spPr/>
      <dgm:t>
        <a:bodyPr/>
        <a:lstStyle/>
        <a:p>
          <a:endParaRPr lang="es-MX"/>
        </a:p>
      </dgm:t>
    </dgm:pt>
    <dgm:pt modelId="{8F95F9F0-12DD-194E-AE39-B9FE7FB17261}" type="sibTrans" cxnId="{C369A686-DB99-144F-86B7-B839B88A98D5}">
      <dgm:prSet/>
      <dgm:spPr/>
      <dgm:t>
        <a:bodyPr/>
        <a:lstStyle/>
        <a:p>
          <a:endParaRPr lang="es-MX"/>
        </a:p>
      </dgm:t>
    </dgm:pt>
    <dgm:pt modelId="{5CCDB668-DE2D-8448-B5B5-AA9E307ADAE1}">
      <dgm:prSet/>
      <dgm:spPr/>
      <dgm:t>
        <a:bodyPr/>
        <a:lstStyle/>
        <a:p>
          <a:r>
            <a:rPr lang="es-ES_tradnl" noProof="1"/>
            <a:t>▪ Construcción de referencias en Word según normas APA. </a:t>
          </a:r>
        </a:p>
      </dgm:t>
    </dgm:pt>
    <dgm:pt modelId="{1AE20505-85B1-0C48-AB1C-0994FB3FBD2E}" type="parTrans" cxnId="{D28E26DA-731E-4F46-8595-06703C53B629}">
      <dgm:prSet/>
      <dgm:spPr/>
      <dgm:t>
        <a:bodyPr/>
        <a:lstStyle/>
        <a:p>
          <a:endParaRPr lang="es-MX"/>
        </a:p>
      </dgm:t>
    </dgm:pt>
    <dgm:pt modelId="{0B05ED02-A66F-5942-8FA0-F783F60FB3A9}" type="sibTrans" cxnId="{D28E26DA-731E-4F46-8595-06703C53B629}">
      <dgm:prSet/>
      <dgm:spPr/>
      <dgm:t>
        <a:bodyPr/>
        <a:lstStyle/>
        <a:p>
          <a:endParaRPr lang="es-MX"/>
        </a:p>
      </dgm:t>
    </dgm:pt>
    <dgm:pt modelId="{4E551956-3F68-F54F-BEFF-C6991701DA45}">
      <dgm:prSet/>
      <dgm:spPr/>
      <dgm:t>
        <a:bodyPr/>
        <a:lstStyle/>
        <a:p>
          <a:pPr>
            <a:buNone/>
          </a:pPr>
          <a:r>
            <a:rPr lang="es-ES_tradnl" noProof="1"/>
            <a:t>Bogotá. Ecuación de búsqueda: (deserción estudiantil AND machine learning AND educación</a:t>
          </a:r>
        </a:p>
      </dgm:t>
    </dgm:pt>
    <dgm:pt modelId="{0B15E627-8205-0744-A78F-350C38BF05F9}" type="parTrans" cxnId="{0F40C38A-CE29-AF4D-ADDF-01BFE84D8A98}">
      <dgm:prSet/>
      <dgm:spPr/>
      <dgm:t>
        <a:bodyPr/>
        <a:lstStyle/>
        <a:p>
          <a:endParaRPr lang="en-US"/>
        </a:p>
      </dgm:t>
    </dgm:pt>
    <dgm:pt modelId="{5C78B9DF-F245-2948-B596-102B0D7711F3}" type="sibTrans" cxnId="{0F40C38A-CE29-AF4D-ADDF-01BFE84D8A98}">
      <dgm:prSet/>
      <dgm:spPr/>
      <dgm:t>
        <a:bodyPr/>
        <a:lstStyle/>
        <a:p>
          <a:endParaRPr lang="en-US"/>
        </a:p>
      </dgm:t>
    </dgm:pt>
    <dgm:pt modelId="{C93623AE-894C-7843-8C40-616514674B1F}">
      <dgm:prSet/>
      <dgm:spPr/>
      <dgm:t>
        <a:bodyPr/>
        <a:lstStyle/>
        <a:p>
          <a:pPr>
            <a:buNone/>
          </a:pPr>
          <a:r>
            <a:rPr lang="es-ES_tradnl" noProof="1"/>
            <a:t>técnica y tecnológica AND Colombia).</a:t>
          </a:r>
        </a:p>
      </dgm:t>
    </dgm:pt>
    <dgm:pt modelId="{C9A451DD-B0C6-0D40-B629-55FCCF7B053F}" type="parTrans" cxnId="{4A720429-A7E9-BC4C-8384-076B212E6C74}">
      <dgm:prSet/>
      <dgm:spPr/>
      <dgm:t>
        <a:bodyPr/>
        <a:lstStyle/>
        <a:p>
          <a:endParaRPr lang="en-US"/>
        </a:p>
      </dgm:t>
    </dgm:pt>
    <dgm:pt modelId="{843C3DB8-47B3-A349-924F-94768056E9F6}" type="sibTrans" cxnId="{4A720429-A7E9-BC4C-8384-076B212E6C74}">
      <dgm:prSet/>
      <dgm:spPr/>
      <dgm:t>
        <a:bodyPr/>
        <a:lstStyle/>
        <a:p>
          <a:endParaRPr lang="en-US"/>
        </a:p>
      </dgm:t>
    </dgm:pt>
    <dgm:pt modelId="{A07DC9B7-8631-F34F-872A-1533B5ADF534}" type="pres">
      <dgm:prSet presAssocID="{40D9C8DE-F3F9-124E-9985-3EF20DC61E2B}" presName="Name0" presStyleCnt="0">
        <dgm:presLayoutVars>
          <dgm:dir/>
          <dgm:animLvl val="lvl"/>
          <dgm:resizeHandles val="exact"/>
        </dgm:presLayoutVars>
      </dgm:prSet>
      <dgm:spPr/>
    </dgm:pt>
    <dgm:pt modelId="{9273B3B6-5EF7-9A4D-9FF6-EBA65F35E413}" type="pres">
      <dgm:prSet presAssocID="{65F57CC6-C856-9049-9EF5-4E14F9E9B45A}" presName="linNode" presStyleCnt="0"/>
      <dgm:spPr/>
    </dgm:pt>
    <dgm:pt modelId="{A1AC2153-90BB-3D4F-864F-62E454198EF6}" type="pres">
      <dgm:prSet presAssocID="{65F57CC6-C856-9049-9EF5-4E14F9E9B45A}" presName="parentText" presStyleLbl="node1" presStyleIdx="0" presStyleCnt="5">
        <dgm:presLayoutVars>
          <dgm:chMax val="1"/>
          <dgm:bulletEnabled val="1"/>
        </dgm:presLayoutVars>
      </dgm:prSet>
      <dgm:spPr/>
    </dgm:pt>
    <dgm:pt modelId="{64A8FE6B-ABCF-6E4E-8806-F90732AC1948}" type="pres">
      <dgm:prSet presAssocID="{65F57CC6-C856-9049-9EF5-4E14F9E9B45A}" presName="descendantText" presStyleLbl="alignAccFollowNode1" presStyleIdx="0" presStyleCnt="5">
        <dgm:presLayoutVars>
          <dgm:bulletEnabled val="1"/>
        </dgm:presLayoutVars>
      </dgm:prSet>
      <dgm:spPr/>
    </dgm:pt>
    <dgm:pt modelId="{71238725-247F-CF43-9145-41F7562D02EE}" type="pres">
      <dgm:prSet presAssocID="{CD4EF99E-1D53-A646-BE5F-0B9E2B648D3F}" presName="sp" presStyleCnt="0"/>
      <dgm:spPr/>
    </dgm:pt>
    <dgm:pt modelId="{13DE4B5E-2E80-6D4D-A121-1860B2B5E92A}" type="pres">
      <dgm:prSet presAssocID="{F1A38DF3-F4E6-E143-9FF1-B7B5CDCC7D11}" presName="linNode" presStyleCnt="0"/>
      <dgm:spPr/>
    </dgm:pt>
    <dgm:pt modelId="{D280CB4D-E845-DA43-9892-1F52B9672522}" type="pres">
      <dgm:prSet presAssocID="{F1A38DF3-F4E6-E143-9FF1-B7B5CDCC7D11}" presName="parentText" presStyleLbl="node1" presStyleIdx="1" presStyleCnt="5">
        <dgm:presLayoutVars>
          <dgm:chMax val="1"/>
          <dgm:bulletEnabled val="1"/>
        </dgm:presLayoutVars>
      </dgm:prSet>
      <dgm:spPr/>
    </dgm:pt>
    <dgm:pt modelId="{C64D437A-7212-944B-94B7-BE13D294DF34}" type="pres">
      <dgm:prSet presAssocID="{F1A38DF3-F4E6-E143-9FF1-B7B5CDCC7D11}" presName="descendantText" presStyleLbl="alignAccFollowNode1" presStyleIdx="1" presStyleCnt="5">
        <dgm:presLayoutVars>
          <dgm:bulletEnabled val="1"/>
        </dgm:presLayoutVars>
      </dgm:prSet>
      <dgm:spPr/>
    </dgm:pt>
    <dgm:pt modelId="{3BD6A175-0BEF-9B4A-972E-3D3BFBEEE6D1}" type="pres">
      <dgm:prSet presAssocID="{5A55922C-BB65-CD42-BC34-477E1D4FC048}" presName="sp" presStyleCnt="0"/>
      <dgm:spPr/>
    </dgm:pt>
    <dgm:pt modelId="{5CFC8A57-01B3-DC46-BDD9-DF0E6BC2FAF2}" type="pres">
      <dgm:prSet presAssocID="{0FB90C8C-8776-2641-B85E-63F8397B666D}" presName="linNode" presStyleCnt="0"/>
      <dgm:spPr/>
    </dgm:pt>
    <dgm:pt modelId="{7EC1C38C-F52E-F241-8EBE-C36A20BA16E7}" type="pres">
      <dgm:prSet presAssocID="{0FB90C8C-8776-2641-B85E-63F8397B666D}" presName="parentText" presStyleLbl="node1" presStyleIdx="2" presStyleCnt="5">
        <dgm:presLayoutVars>
          <dgm:chMax val="1"/>
          <dgm:bulletEnabled val="1"/>
        </dgm:presLayoutVars>
      </dgm:prSet>
      <dgm:spPr/>
    </dgm:pt>
    <dgm:pt modelId="{60114CBD-1ED7-EE4A-8452-469C1541391B}" type="pres">
      <dgm:prSet presAssocID="{0FB90C8C-8776-2641-B85E-63F8397B666D}" presName="descendantText" presStyleLbl="alignAccFollowNode1" presStyleIdx="2" presStyleCnt="5">
        <dgm:presLayoutVars>
          <dgm:bulletEnabled val="1"/>
        </dgm:presLayoutVars>
      </dgm:prSet>
      <dgm:spPr/>
    </dgm:pt>
    <dgm:pt modelId="{FB98A990-041D-DC4E-B479-FC50C5EE691F}" type="pres">
      <dgm:prSet presAssocID="{9D53546A-6A37-BA46-BAB0-4DDB08863D15}" presName="sp" presStyleCnt="0"/>
      <dgm:spPr/>
    </dgm:pt>
    <dgm:pt modelId="{B2549005-AD2E-114B-92A4-C7ED267D801E}" type="pres">
      <dgm:prSet presAssocID="{DF1F59B6-DDFC-D44F-B1C9-343758A5C496}" presName="linNode" presStyleCnt="0"/>
      <dgm:spPr/>
    </dgm:pt>
    <dgm:pt modelId="{EE170F2D-7D98-684D-AFB2-C0D8F2556961}" type="pres">
      <dgm:prSet presAssocID="{DF1F59B6-DDFC-D44F-B1C9-343758A5C496}" presName="parentText" presStyleLbl="node1" presStyleIdx="3" presStyleCnt="5">
        <dgm:presLayoutVars>
          <dgm:chMax val="1"/>
          <dgm:bulletEnabled val="1"/>
        </dgm:presLayoutVars>
      </dgm:prSet>
      <dgm:spPr/>
    </dgm:pt>
    <dgm:pt modelId="{90376C01-9386-3749-981F-9801BB779D5C}" type="pres">
      <dgm:prSet presAssocID="{DF1F59B6-DDFC-D44F-B1C9-343758A5C496}" presName="descendantText" presStyleLbl="alignAccFollowNode1" presStyleIdx="3" presStyleCnt="5">
        <dgm:presLayoutVars>
          <dgm:bulletEnabled val="1"/>
        </dgm:presLayoutVars>
      </dgm:prSet>
      <dgm:spPr/>
    </dgm:pt>
    <dgm:pt modelId="{87CD608A-9BCE-AD4B-95D0-CAC316D75BB6}" type="pres">
      <dgm:prSet presAssocID="{D5AB1AD7-7F91-8E48-95A7-CDE4869B63CC}" presName="sp" presStyleCnt="0"/>
      <dgm:spPr/>
    </dgm:pt>
    <dgm:pt modelId="{8D3012A7-0816-BB4F-977A-78FF8E8B4E59}" type="pres">
      <dgm:prSet presAssocID="{F8310387-DBFB-7A4C-877A-69282677BBC5}" presName="linNode" presStyleCnt="0"/>
      <dgm:spPr/>
    </dgm:pt>
    <dgm:pt modelId="{ACF4C44E-539E-6349-9B0E-C37CB6599EEF}" type="pres">
      <dgm:prSet presAssocID="{F8310387-DBFB-7A4C-877A-69282677BBC5}" presName="parentText" presStyleLbl="node1" presStyleIdx="4" presStyleCnt="5">
        <dgm:presLayoutVars>
          <dgm:chMax val="1"/>
          <dgm:bulletEnabled val="1"/>
        </dgm:presLayoutVars>
      </dgm:prSet>
      <dgm:spPr/>
    </dgm:pt>
    <dgm:pt modelId="{8C8549A4-53CF-E74C-9D63-ADAB6FF1D784}" type="pres">
      <dgm:prSet presAssocID="{F8310387-DBFB-7A4C-877A-69282677BBC5}" presName="descendantText" presStyleLbl="alignAccFollowNode1" presStyleIdx="4" presStyleCnt="5">
        <dgm:presLayoutVars>
          <dgm:bulletEnabled val="1"/>
        </dgm:presLayoutVars>
      </dgm:prSet>
      <dgm:spPr/>
    </dgm:pt>
  </dgm:ptLst>
  <dgm:cxnLst>
    <dgm:cxn modelId="{88C32910-3F8C-BC47-9AC4-E730F34E0ECC}" type="presOf" srcId="{0FB90C8C-8776-2641-B85E-63F8397B666D}" destId="{7EC1C38C-F52E-F241-8EBE-C36A20BA16E7}" srcOrd="0" destOrd="0" presId="urn:microsoft.com/office/officeart/2005/8/layout/vList5"/>
    <dgm:cxn modelId="{D18B4E14-0982-2E4C-90D1-D064DE35B647}" srcId="{DF1F59B6-DDFC-D44F-B1C9-343758A5C496}" destId="{BC82F129-41CF-9149-9E07-7DA8C3DBD7BA}" srcOrd="0" destOrd="0" parTransId="{EEBBE0E6-7B14-D24E-AA44-2FCC84C1E827}" sibTransId="{735F6670-9ACD-BC4E-AD1E-AC0662E53059}"/>
    <dgm:cxn modelId="{C165D61C-2A31-9D40-A194-8E914432EF0C}" srcId="{0FB90C8C-8776-2641-B85E-63F8397B666D}" destId="{1DA9F07D-39CF-224F-A0C4-CD5FC254C593}" srcOrd="0" destOrd="0" parTransId="{02474C0D-5308-3749-9FBA-B8ADB3B55EF1}" sibTransId="{EBA80287-FFB7-1F41-B577-7B9C2A7B49DD}"/>
    <dgm:cxn modelId="{89896C24-FCCD-A14C-9EE9-00AFBBDE3C30}" type="presOf" srcId="{D802F324-98FE-074B-A223-FB34BDDADE3D}" destId="{64A8FE6B-ABCF-6E4E-8806-F90732AC1948}" srcOrd="0" destOrd="2" presId="urn:microsoft.com/office/officeart/2005/8/layout/vList5"/>
    <dgm:cxn modelId="{4A720429-A7E9-BC4C-8384-076B212E6C74}" srcId="{DF1F59B6-DDFC-D44F-B1C9-343758A5C496}" destId="{C93623AE-894C-7843-8C40-616514674B1F}" srcOrd="2" destOrd="0" parTransId="{C9A451DD-B0C6-0D40-B629-55FCCF7B053F}" sibTransId="{843C3DB8-47B3-A349-924F-94768056E9F6}"/>
    <dgm:cxn modelId="{8852FA36-7406-F944-AF0F-9B7E676612F8}" type="presOf" srcId="{A631DBE3-C93E-FA4E-8B0C-317644030556}" destId="{64A8FE6B-ABCF-6E4E-8806-F90732AC1948}" srcOrd="0" destOrd="0" presId="urn:microsoft.com/office/officeart/2005/8/layout/vList5"/>
    <dgm:cxn modelId="{7FF16E39-9C31-4441-9148-229E58D0D9E7}" type="presOf" srcId="{F8310387-DBFB-7A4C-877A-69282677BBC5}" destId="{ACF4C44E-539E-6349-9B0E-C37CB6599EEF}" srcOrd="0" destOrd="0" presId="urn:microsoft.com/office/officeart/2005/8/layout/vList5"/>
    <dgm:cxn modelId="{A9356F3A-4A4E-574D-A7A0-04675C0086F9}" srcId="{F1A38DF3-F4E6-E143-9FF1-B7B5CDCC7D11}" destId="{2FC96311-D035-254D-95F3-746D327AE332}" srcOrd="0" destOrd="0" parTransId="{9320CF6E-465A-B247-B4D4-56A269FAD646}" sibTransId="{F46A2C6B-8EF2-7241-A148-DB0894DEC1BA}"/>
    <dgm:cxn modelId="{D736B43D-2547-CD48-9E38-0C7F95078132}" srcId="{40D9C8DE-F3F9-124E-9985-3EF20DC61E2B}" destId="{F8310387-DBFB-7A4C-877A-69282677BBC5}" srcOrd="4" destOrd="0" parTransId="{65135D99-773A-154E-A581-7A778DF5377A}" sibTransId="{01DC7B33-D2BE-7C4D-A8F0-B4239766A4C8}"/>
    <dgm:cxn modelId="{B70E5546-86F1-D848-94DE-812F92106A0A}" srcId="{65F57CC6-C856-9049-9EF5-4E14F9E9B45A}" destId="{D802F324-98FE-074B-A223-FB34BDDADE3D}" srcOrd="2" destOrd="0" parTransId="{805CED63-446F-4B4E-859F-20A06C9B3D62}" sibTransId="{99D4C451-D22C-3644-89F8-0576B2DC8E17}"/>
    <dgm:cxn modelId="{C9615164-2D32-2141-BED1-F6B4823A5DA5}" srcId="{65F57CC6-C856-9049-9EF5-4E14F9E9B45A}" destId="{D160F8DB-BE85-BE4E-90FC-B71D6EC230D8}" srcOrd="1" destOrd="0" parTransId="{6D9ABEF3-8495-DD49-BD99-FA13E33E0452}" sibTransId="{6D6D9D3F-6BCD-914F-B46F-62D678777763}"/>
    <dgm:cxn modelId="{B8066C6B-3AE4-B048-80B0-C5ED035130F8}" type="presOf" srcId="{2FC96311-D035-254D-95F3-746D327AE332}" destId="{C64D437A-7212-944B-94B7-BE13D294DF34}" srcOrd="0" destOrd="0" presId="urn:microsoft.com/office/officeart/2005/8/layout/vList5"/>
    <dgm:cxn modelId="{AD5DE06F-6761-B94F-85AE-24108A07253B}" type="presOf" srcId="{C8B5A808-D478-BD42-97B5-89CBE5988197}" destId="{8C8549A4-53CF-E74C-9D63-ADAB6FF1D784}" srcOrd="0" destOrd="0" presId="urn:microsoft.com/office/officeart/2005/8/layout/vList5"/>
    <dgm:cxn modelId="{BBB35774-CD49-B44F-A4FF-4732D08FE685}" type="presOf" srcId="{BC82F129-41CF-9149-9E07-7DA8C3DBD7BA}" destId="{90376C01-9386-3749-981F-9801BB779D5C}" srcOrd="0" destOrd="0" presId="urn:microsoft.com/office/officeart/2005/8/layout/vList5"/>
    <dgm:cxn modelId="{2EDD9D75-21A5-944C-803B-923BCFE80680}" srcId="{40D9C8DE-F3F9-124E-9985-3EF20DC61E2B}" destId="{65F57CC6-C856-9049-9EF5-4E14F9E9B45A}" srcOrd="0" destOrd="0" parTransId="{4E5749CE-6A20-B64A-A08E-68DC6345F171}" sibTransId="{CD4EF99E-1D53-A646-BE5F-0B9E2B648D3F}"/>
    <dgm:cxn modelId="{DAD4C177-8AC3-D243-9E7E-2EE232F7C884}" type="presOf" srcId="{D160F8DB-BE85-BE4E-90FC-B71D6EC230D8}" destId="{64A8FE6B-ABCF-6E4E-8806-F90732AC1948}" srcOrd="0" destOrd="1" presId="urn:microsoft.com/office/officeart/2005/8/layout/vList5"/>
    <dgm:cxn modelId="{1DBEF682-C372-F44F-A0EF-AF4CDA12439F}" type="presOf" srcId="{65F57CC6-C856-9049-9EF5-4E14F9E9B45A}" destId="{A1AC2153-90BB-3D4F-864F-62E454198EF6}" srcOrd="0" destOrd="0" presId="urn:microsoft.com/office/officeart/2005/8/layout/vList5"/>
    <dgm:cxn modelId="{C369A686-DB99-144F-86B7-B839B88A98D5}" srcId="{F8310387-DBFB-7A4C-877A-69282677BBC5}" destId="{C8B5A808-D478-BD42-97B5-89CBE5988197}" srcOrd="0" destOrd="0" parTransId="{7EE3E0A8-B5D1-AE4A-BC78-EE8531D32135}" sibTransId="{8F95F9F0-12DD-194E-AE39-B9FE7FB17261}"/>
    <dgm:cxn modelId="{0F40C38A-CE29-AF4D-ADDF-01BFE84D8A98}" srcId="{DF1F59B6-DDFC-D44F-B1C9-343758A5C496}" destId="{4E551956-3F68-F54F-BEFF-C6991701DA45}" srcOrd="1" destOrd="0" parTransId="{0B15E627-8205-0744-A78F-350C38BF05F9}" sibTransId="{5C78B9DF-F245-2948-B596-102B0D7711F3}"/>
    <dgm:cxn modelId="{35D08791-4010-1D42-84D4-D2648A3EA0FB}" type="presOf" srcId="{1DA9F07D-39CF-224F-A0C4-CD5FC254C593}" destId="{60114CBD-1ED7-EE4A-8452-469C1541391B}" srcOrd="0" destOrd="0" presId="urn:microsoft.com/office/officeart/2005/8/layout/vList5"/>
    <dgm:cxn modelId="{CF77C792-BAE6-1141-A4B2-1ED318C61CCB}" type="presOf" srcId="{4E551956-3F68-F54F-BEFF-C6991701DA45}" destId="{90376C01-9386-3749-981F-9801BB779D5C}" srcOrd="0" destOrd="1" presId="urn:microsoft.com/office/officeart/2005/8/layout/vList5"/>
    <dgm:cxn modelId="{EC0F459D-09BB-4444-BF39-A53088BEC188}" type="presOf" srcId="{DF1F59B6-DDFC-D44F-B1C9-343758A5C496}" destId="{EE170F2D-7D98-684D-AFB2-C0D8F2556961}" srcOrd="0" destOrd="0" presId="urn:microsoft.com/office/officeart/2005/8/layout/vList5"/>
    <dgm:cxn modelId="{3C3BEFA7-5727-7145-95CC-EC823FEB8AE5}" type="presOf" srcId="{40D9C8DE-F3F9-124E-9985-3EF20DC61E2B}" destId="{A07DC9B7-8631-F34F-872A-1533B5ADF534}" srcOrd="0" destOrd="0" presId="urn:microsoft.com/office/officeart/2005/8/layout/vList5"/>
    <dgm:cxn modelId="{4C9B89B5-C2A7-B64C-BE24-FDD926C38B18}" srcId="{40D9C8DE-F3F9-124E-9985-3EF20DC61E2B}" destId="{0FB90C8C-8776-2641-B85E-63F8397B666D}" srcOrd="2" destOrd="0" parTransId="{89B1BA94-ACB6-2449-AFA7-E685700E2C3D}" sibTransId="{9D53546A-6A37-BA46-BAB0-4DDB08863D15}"/>
    <dgm:cxn modelId="{22FAE7C0-CAB0-1B46-8171-1994B69C56CD}" type="presOf" srcId="{5CCDB668-DE2D-8448-B5B5-AA9E307ADAE1}" destId="{8C8549A4-53CF-E74C-9D63-ADAB6FF1D784}" srcOrd="0" destOrd="1" presId="urn:microsoft.com/office/officeart/2005/8/layout/vList5"/>
    <dgm:cxn modelId="{AC859EC7-2690-5546-8F99-A5C783C32D33}" srcId="{40D9C8DE-F3F9-124E-9985-3EF20DC61E2B}" destId="{DF1F59B6-DDFC-D44F-B1C9-343758A5C496}" srcOrd="3" destOrd="0" parTransId="{02CBCAA0-6CD3-0D4B-AC6E-9992D399DEA3}" sibTransId="{D5AB1AD7-7F91-8E48-95A7-CDE4869B63CC}"/>
    <dgm:cxn modelId="{071FA8D1-2A9B-9640-AAB8-C6DBE869ABC8}" srcId="{65F57CC6-C856-9049-9EF5-4E14F9E9B45A}" destId="{A631DBE3-C93E-FA4E-8B0C-317644030556}" srcOrd="0" destOrd="0" parTransId="{A25F8E0D-9C89-234D-A862-F3FF5CE51EB1}" sibTransId="{40DCCDB9-84FF-814D-AFA5-90EDD6BF9AFD}"/>
    <dgm:cxn modelId="{B24354D8-D99F-9941-9735-FFCF60A13F76}" type="presOf" srcId="{C93623AE-894C-7843-8C40-616514674B1F}" destId="{90376C01-9386-3749-981F-9801BB779D5C}" srcOrd="0" destOrd="2" presId="urn:microsoft.com/office/officeart/2005/8/layout/vList5"/>
    <dgm:cxn modelId="{D28E26DA-731E-4F46-8595-06703C53B629}" srcId="{F8310387-DBFB-7A4C-877A-69282677BBC5}" destId="{5CCDB668-DE2D-8448-B5B5-AA9E307ADAE1}" srcOrd="1" destOrd="0" parTransId="{1AE20505-85B1-0C48-AB1C-0994FB3FBD2E}" sibTransId="{0B05ED02-A66F-5942-8FA0-F783F60FB3A9}"/>
    <dgm:cxn modelId="{0EFA5DF5-88C4-734B-B871-D8B4F76374DC}" srcId="{40D9C8DE-F3F9-124E-9985-3EF20DC61E2B}" destId="{F1A38DF3-F4E6-E143-9FF1-B7B5CDCC7D11}" srcOrd="1" destOrd="0" parTransId="{96F8235D-82DD-8D4A-BF17-994CBB1384A5}" sibTransId="{5A55922C-BB65-CD42-BC34-477E1D4FC048}"/>
    <dgm:cxn modelId="{7F2FBDFF-CD6F-5F4C-BBBC-97C36C7798BF}" type="presOf" srcId="{F1A38DF3-F4E6-E143-9FF1-B7B5CDCC7D11}" destId="{D280CB4D-E845-DA43-9892-1F52B9672522}" srcOrd="0" destOrd="0" presId="urn:microsoft.com/office/officeart/2005/8/layout/vList5"/>
    <dgm:cxn modelId="{A5D0E7BA-0578-BD40-8908-4E22F2CCB9D7}" type="presParOf" srcId="{A07DC9B7-8631-F34F-872A-1533B5ADF534}" destId="{9273B3B6-5EF7-9A4D-9FF6-EBA65F35E413}" srcOrd="0" destOrd="0" presId="urn:microsoft.com/office/officeart/2005/8/layout/vList5"/>
    <dgm:cxn modelId="{59A084A2-2901-484D-ADC9-B14B1E55AA85}" type="presParOf" srcId="{9273B3B6-5EF7-9A4D-9FF6-EBA65F35E413}" destId="{A1AC2153-90BB-3D4F-864F-62E454198EF6}" srcOrd="0" destOrd="0" presId="urn:microsoft.com/office/officeart/2005/8/layout/vList5"/>
    <dgm:cxn modelId="{5B9DAB9D-F6B1-DB42-9012-3395E692C2C4}" type="presParOf" srcId="{9273B3B6-5EF7-9A4D-9FF6-EBA65F35E413}" destId="{64A8FE6B-ABCF-6E4E-8806-F90732AC1948}" srcOrd="1" destOrd="0" presId="urn:microsoft.com/office/officeart/2005/8/layout/vList5"/>
    <dgm:cxn modelId="{9276B176-4CB4-5B47-AF64-223ED7CAA544}" type="presParOf" srcId="{A07DC9B7-8631-F34F-872A-1533B5ADF534}" destId="{71238725-247F-CF43-9145-41F7562D02EE}" srcOrd="1" destOrd="0" presId="urn:microsoft.com/office/officeart/2005/8/layout/vList5"/>
    <dgm:cxn modelId="{F3BB1CE4-2692-6D42-AB86-6037061ED470}" type="presParOf" srcId="{A07DC9B7-8631-F34F-872A-1533B5ADF534}" destId="{13DE4B5E-2E80-6D4D-A121-1860B2B5E92A}" srcOrd="2" destOrd="0" presId="urn:microsoft.com/office/officeart/2005/8/layout/vList5"/>
    <dgm:cxn modelId="{78CB6118-CD3F-D34B-88FE-C9696B843045}" type="presParOf" srcId="{13DE4B5E-2E80-6D4D-A121-1860B2B5E92A}" destId="{D280CB4D-E845-DA43-9892-1F52B9672522}" srcOrd="0" destOrd="0" presId="urn:microsoft.com/office/officeart/2005/8/layout/vList5"/>
    <dgm:cxn modelId="{230174F8-AF74-564E-BA0A-DEC6975E87F1}" type="presParOf" srcId="{13DE4B5E-2E80-6D4D-A121-1860B2B5E92A}" destId="{C64D437A-7212-944B-94B7-BE13D294DF34}" srcOrd="1" destOrd="0" presId="urn:microsoft.com/office/officeart/2005/8/layout/vList5"/>
    <dgm:cxn modelId="{C0A1EB33-A7BB-B146-B374-74BD6208E2D5}" type="presParOf" srcId="{A07DC9B7-8631-F34F-872A-1533B5ADF534}" destId="{3BD6A175-0BEF-9B4A-972E-3D3BFBEEE6D1}" srcOrd="3" destOrd="0" presId="urn:microsoft.com/office/officeart/2005/8/layout/vList5"/>
    <dgm:cxn modelId="{6B0AD564-51F3-F745-BFF9-9536FAC7CB6A}" type="presParOf" srcId="{A07DC9B7-8631-F34F-872A-1533B5ADF534}" destId="{5CFC8A57-01B3-DC46-BDD9-DF0E6BC2FAF2}" srcOrd="4" destOrd="0" presId="urn:microsoft.com/office/officeart/2005/8/layout/vList5"/>
    <dgm:cxn modelId="{67A001E3-C115-AE4E-9878-61D1A168E837}" type="presParOf" srcId="{5CFC8A57-01B3-DC46-BDD9-DF0E6BC2FAF2}" destId="{7EC1C38C-F52E-F241-8EBE-C36A20BA16E7}" srcOrd="0" destOrd="0" presId="urn:microsoft.com/office/officeart/2005/8/layout/vList5"/>
    <dgm:cxn modelId="{AA95184E-7888-E949-BF3F-885CB6C51216}" type="presParOf" srcId="{5CFC8A57-01B3-DC46-BDD9-DF0E6BC2FAF2}" destId="{60114CBD-1ED7-EE4A-8452-469C1541391B}" srcOrd="1" destOrd="0" presId="urn:microsoft.com/office/officeart/2005/8/layout/vList5"/>
    <dgm:cxn modelId="{A0E0AC9C-B6C3-8F40-9A01-6DC2E3F682F6}" type="presParOf" srcId="{A07DC9B7-8631-F34F-872A-1533B5ADF534}" destId="{FB98A990-041D-DC4E-B479-FC50C5EE691F}" srcOrd="5" destOrd="0" presId="urn:microsoft.com/office/officeart/2005/8/layout/vList5"/>
    <dgm:cxn modelId="{920F9265-96A5-5E40-AE1F-F3D3017B4BD8}" type="presParOf" srcId="{A07DC9B7-8631-F34F-872A-1533B5ADF534}" destId="{B2549005-AD2E-114B-92A4-C7ED267D801E}" srcOrd="6" destOrd="0" presId="urn:microsoft.com/office/officeart/2005/8/layout/vList5"/>
    <dgm:cxn modelId="{A9433E89-B677-C546-BD19-74E1AC800AB2}" type="presParOf" srcId="{B2549005-AD2E-114B-92A4-C7ED267D801E}" destId="{EE170F2D-7D98-684D-AFB2-C0D8F2556961}" srcOrd="0" destOrd="0" presId="urn:microsoft.com/office/officeart/2005/8/layout/vList5"/>
    <dgm:cxn modelId="{0A1FD484-66C1-3440-9C64-35C575F14733}" type="presParOf" srcId="{B2549005-AD2E-114B-92A4-C7ED267D801E}" destId="{90376C01-9386-3749-981F-9801BB779D5C}" srcOrd="1" destOrd="0" presId="urn:microsoft.com/office/officeart/2005/8/layout/vList5"/>
    <dgm:cxn modelId="{6B026679-CF47-1748-B7BB-744AA4D4AA41}" type="presParOf" srcId="{A07DC9B7-8631-F34F-872A-1533B5ADF534}" destId="{87CD608A-9BCE-AD4B-95D0-CAC316D75BB6}" srcOrd="7" destOrd="0" presId="urn:microsoft.com/office/officeart/2005/8/layout/vList5"/>
    <dgm:cxn modelId="{425E6DE5-8260-014E-B4F3-A4A2D9168362}" type="presParOf" srcId="{A07DC9B7-8631-F34F-872A-1533B5ADF534}" destId="{8D3012A7-0816-BB4F-977A-78FF8E8B4E59}" srcOrd="8" destOrd="0" presId="urn:microsoft.com/office/officeart/2005/8/layout/vList5"/>
    <dgm:cxn modelId="{FE6F0F65-E282-A648-916F-149B6226DE68}" type="presParOf" srcId="{8D3012A7-0816-BB4F-977A-78FF8E8B4E59}" destId="{ACF4C44E-539E-6349-9B0E-C37CB6599EEF}" srcOrd="0" destOrd="0" presId="urn:microsoft.com/office/officeart/2005/8/layout/vList5"/>
    <dgm:cxn modelId="{5C77CC85-9C66-744C-98B0-7CC2A89AC807}" type="presParOf" srcId="{8D3012A7-0816-BB4F-977A-78FF8E8B4E59}" destId="{8C8549A4-53CF-E74C-9D63-ADAB6FF1D78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D9C8DE-F3F9-124E-9985-3EF20DC61E2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s-MX"/>
        </a:p>
      </dgm:t>
    </dgm:pt>
    <dgm:pt modelId="{65F57CC6-C856-9049-9EF5-4E14F9E9B45A}">
      <dgm:prSet/>
      <dgm:spPr/>
      <dgm:t>
        <a:bodyPr/>
        <a:lstStyle/>
        <a:p>
          <a:r>
            <a:rPr lang="es-ES_tradnl" noProof="1"/>
            <a:t>JUSTIFICACION</a:t>
          </a:r>
        </a:p>
      </dgm:t>
    </dgm:pt>
    <dgm:pt modelId="{4E5749CE-6A20-B64A-A08E-68DC6345F171}" type="parTrans" cxnId="{2EDD9D75-21A5-944C-803B-923BCFE80680}">
      <dgm:prSet/>
      <dgm:spPr/>
      <dgm:t>
        <a:bodyPr/>
        <a:lstStyle/>
        <a:p>
          <a:endParaRPr lang="es-MX"/>
        </a:p>
      </dgm:t>
    </dgm:pt>
    <dgm:pt modelId="{CD4EF99E-1D53-A646-BE5F-0B9E2B648D3F}" type="sibTrans" cxnId="{2EDD9D75-21A5-944C-803B-923BCFE80680}">
      <dgm:prSet/>
      <dgm:spPr/>
      <dgm:t>
        <a:bodyPr/>
        <a:lstStyle/>
        <a:p>
          <a:endParaRPr lang="es-MX"/>
        </a:p>
      </dgm:t>
    </dgm:pt>
    <dgm:pt modelId="{A631DBE3-C93E-FA4E-8B0C-317644030556}">
      <dgm:prSet/>
      <dgm:spPr/>
      <dgm:t>
        <a:bodyPr/>
        <a:lstStyle/>
        <a:p>
          <a:pPr>
            <a:buFont typeface="Wingdings" pitchFamily="2" charset="2"/>
            <a:buNone/>
          </a:pPr>
          <a:r>
            <a:rPr lang="es-ES_tradnl" noProof="1"/>
            <a:t>✓Deserción, tiempo, huella digital en LMS, movilidad urbana.</a:t>
          </a:r>
        </a:p>
      </dgm:t>
    </dgm:pt>
    <dgm:pt modelId="{A25F8E0D-9C89-234D-A862-F3FF5CE51EB1}" type="parTrans" cxnId="{071FA8D1-2A9B-9640-AAB8-C6DBE869ABC8}">
      <dgm:prSet/>
      <dgm:spPr/>
      <dgm:t>
        <a:bodyPr/>
        <a:lstStyle/>
        <a:p>
          <a:endParaRPr lang="es-MX"/>
        </a:p>
      </dgm:t>
    </dgm:pt>
    <dgm:pt modelId="{40DCCDB9-84FF-814D-AFA5-90EDD6BF9AFD}" type="sibTrans" cxnId="{071FA8D1-2A9B-9640-AAB8-C6DBE869ABC8}">
      <dgm:prSet/>
      <dgm:spPr/>
      <dgm:t>
        <a:bodyPr/>
        <a:lstStyle/>
        <a:p>
          <a:endParaRPr lang="es-MX"/>
        </a:p>
      </dgm:t>
    </dgm:pt>
    <dgm:pt modelId="{F1A38DF3-F4E6-E143-9FF1-B7B5CDCC7D11}">
      <dgm:prSet/>
      <dgm:spPr/>
      <dgm:t>
        <a:bodyPr/>
        <a:lstStyle/>
        <a:p>
          <a:r>
            <a:rPr lang="es-ES_tradnl" noProof="1"/>
            <a:t>OBJETIVOS</a:t>
          </a:r>
        </a:p>
      </dgm:t>
    </dgm:pt>
    <dgm:pt modelId="{96F8235D-82DD-8D4A-BF17-994CBB1384A5}" type="parTrans" cxnId="{0EFA5DF5-88C4-734B-B871-D8B4F76374DC}">
      <dgm:prSet/>
      <dgm:spPr/>
      <dgm:t>
        <a:bodyPr/>
        <a:lstStyle/>
        <a:p>
          <a:endParaRPr lang="es-MX"/>
        </a:p>
      </dgm:t>
    </dgm:pt>
    <dgm:pt modelId="{5A55922C-BB65-CD42-BC34-477E1D4FC048}" type="sibTrans" cxnId="{0EFA5DF5-88C4-734B-B871-D8B4F76374DC}">
      <dgm:prSet/>
      <dgm:spPr/>
      <dgm:t>
        <a:bodyPr/>
        <a:lstStyle/>
        <a:p>
          <a:endParaRPr lang="es-MX"/>
        </a:p>
      </dgm:t>
    </dgm:pt>
    <dgm:pt modelId="{2FC96311-D035-254D-95F3-746D327AE332}">
      <dgm:prSet/>
      <dgm:spPr/>
      <dgm:t>
        <a:bodyPr/>
        <a:lstStyle/>
        <a:p>
          <a:r>
            <a:rPr lang="es-ES_tradnl" b="0" i="0" noProof="1"/>
            <a:t>Prototipar un modelo de analítica predictiva basado en Machine Learning que integre variables dinámicas para la detección temprana del riesgo de deserción en la jornada nocturna de la ETITC Sede Centro.</a:t>
          </a:r>
          <a:endParaRPr lang="es-ES_tradnl" noProof="1"/>
        </a:p>
      </dgm:t>
    </dgm:pt>
    <dgm:pt modelId="{9320CF6E-465A-B247-B4D4-56A269FAD646}" type="parTrans" cxnId="{A9356F3A-4A4E-574D-A7A0-04675C0086F9}">
      <dgm:prSet/>
      <dgm:spPr/>
      <dgm:t>
        <a:bodyPr/>
        <a:lstStyle/>
        <a:p>
          <a:endParaRPr lang="es-MX"/>
        </a:p>
      </dgm:t>
    </dgm:pt>
    <dgm:pt modelId="{F46A2C6B-8EF2-7241-A148-DB0894DEC1BA}" type="sibTrans" cxnId="{A9356F3A-4A4E-574D-A7A0-04675C0086F9}">
      <dgm:prSet/>
      <dgm:spPr/>
      <dgm:t>
        <a:bodyPr/>
        <a:lstStyle/>
        <a:p>
          <a:endParaRPr lang="es-MX"/>
        </a:p>
      </dgm:t>
    </dgm:pt>
    <dgm:pt modelId="{0FB90C8C-8776-2641-B85E-63F8397B666D}">
      <dgm:prSet/>
      <dgm:spPr/>
      <dgm:t>
        <a:bodyPr/>
        <a:lstStyle/>
        <a:p>
          <a:r>
            <a:rPr lang="es-ES_tradnl" noProof="1"/>
            <a:t>HIPOTESIS</a:t>
          </a:r>
        </a:p>
      </dgm:t>
    </dgm:pt>
    <dgm:pt modelId="{89B1BA94-ACB6-2449-AFA7-E685700E2C3D}" type="parTrans" cxnId="{4C9B89B5-C2A7-B64C-BE24-FDD926C38B18}">
      <dgm:prSet/>
      <dgm:spPr/>
      <dgm:t>
        <a:bodyPr/>
        <a:lstStyle/>
        <a:p>
          <a:endParaRPr lang="es-MX"/>
        </a:p>
      </dgm:t>
    </dgm:pt>
    <dgm:pt modelId="{9D53546A-6A37-BA46-BAB0-4DDB08863D15}" type="sibTrans" cxnId="{4C9B89B5-C2A7-B64C-BE24-FDD926C38B18}">
      <dgm:prSet/>
      <dgm:spPr/>
      <dgm:t>
        <a:bodyPr/>
        <a:lstStyle/>
        <a:p>
          <a:endParaRPr lang="es-MX"/>
        </a:p>
      </dgm:t>
    </dgm:pt>
    <dgm:pt modelId="{1DA9F07D-39CF-224F-A0C4-CD5FC254C593}">
      <dgm:prSet/>
      <dgm:spPr/>
      <dgm:t>
        <a:bodyPr/>
        <a:lstStyle/>
        <a:p>
          <a:r>
            <a:rPr lang="es-ES_tradnl" b="1" i="0" dirty="0"/>
            <a:t>RELACIÓN DE VARIABLES:</a:t>
          </a:r>
          <a:r>
            <a:rPr lang="es-ES_tradnl" b="0" i="0" dirty="0"/>
            <a:t> La integración de variables dinámicas (huella digital en LMS, movilidad urbana y elasticidad laboral) actúa como predictor del riesgo de deserción.</a:t>
          </a:r>
          <a:endParaRPr lang="es-ES_tradnl" noProof="1"/>
        </a:p>
      </dgm:t>
    </dgm:pt>
    <dgm:pt modelId="{02474C0D-5308-3749-9FBA-B8ADB3B55EF1}" type="parTrans" cxnId="{C165D61C-2A31-9D40-A194-8E914432EF0C}">
      <dgm:prSet/>
      <dgm:spPr/>
      <dgm:t>
        <a:bodyPr/>
        <a:lstStyle/>
        <a:p>
          <a:endParaRPr lang="es-MX"/>
        </a:p>
      </dgm:t>
    </dgm:pt>
    <dgm:pt modelId="{EBA80287-FFB7-1F41-B577-7B9C2A7B49DD}" type="sibTrans" cxnId="{C165D61C-2A31-9D40-A194-8E914432EF0C}">
      <dgm:prSet/>
      <dgm:spPr/>
      <dgm:t>
        <a:bodyPr/>
        <a:lstStyle/>
        <a:p>
          <a:endParaRPr lang="es-MX"/>
        </a:p>
      </dgm:t>
    </dgm:pt>
    <dgm:pt modelId="{DF1F59B6-DDFC-D44F-B1C9-343758A5C496}">
      <dgm:prSet/>
      <dgm:spPr/>
      <dgm:t>
        <a:bodyPr/>
        <a:lstStyle/>
        <a:p>
          <a:r>
            <a:rPr lang="es-ES_tradnl" noProof="1"/>
            <a:t>METODOLOGIA</a:t>
          </a:r>
        </a:p>
      </dgm:t>
    </dgm:pt>
    <dgm:pt modelId="{02CBCAA0-6CD3-0D4B-AC6E-9992D399DEA3}" type="parTrans" cxnId="{AC859EC7-2690-5546-8F99-A5C783C32D33}">
      <dgm:prSet/>
      <dgm:spPr/>
      <dgm:t>
        <a:bodyPr/>
        <a:lstStyle/>
        <a:p>
          <a:endParaRPr lang="es-MX"/>
        </a:p>
      </dgm:t>
    </dgm:pt>
    <dgm:pt modelId="{D5AB1AD7-7F91-8E48-95A7-CDE4869B63CC}" type="sibTrans" cxnId="{AC859EC7-2690-5546-8F99-A5C783C32D33}">
      <dgm:prSet/>
      <dgm:spPr/>
      <dgm:t>
        <a:bodyPr/>
        <a:lstStyle/>
        <a:p>
          <a:endParaRPr lang="es-MX"/>
        </a:p>
      </dgm:t>
    </dgm:pt>
    <dgm:pt modelId="{8569BDE7-0831-294B-983A-4BCE9ED251E4}">
      <dgm:prSet/>
      <dgm:spPr/>
      <dgm:t>
        <a:bodyPr/>
        <a:lstStyle/>
        <a:p>
          <a:r>
            <a:rPr lang="es-ES_tradnl" b="1" i="1" noProof="1"/>
            <a:t>Categorizar</a:t>
          </a:r>
          <a:r>
            <a:rPr lang="es-ES_tradnl" b="0" i="1" noProof="1"/>
            <a:t> las variables dinámicas (LMS, movilidad y carga laboral) de mayor impacto en la persistencia académica mediante informes institucionales.</a:t>
          </a:r>
          <a:endParaRPr lang="es-ES_tradnl" i="1" noProof="1"/>
        </a:p>
      </dgm:t>
    </dgm:pt>
    <dgm:pt modelId="{984DFA43-F21B-5943-8276-B4570DA72EB0}" type="parTrans" cxnId="{6E3A348D-081A-D747-8E6D-1A739619F007}">
      <dgm:prSet/>
      <dgm:spPr/>
      <dgm:t>
        <a:bodyPr/>
        <a:lstStyle/>
        <a:p>
          <a:endParaRPr lang="es-MX"/>
        </a:p>
      </dgm:t>
    </dgm:pt>
    <dgm:pt modelId="{BB8A1477-D244-A04C-8137-32AEE7E3C976}" type="sibTrans" cxnId="{6E3A348D-081A-D747-8E6D-1A739619F007}">
      <dgm:prSet/>
      <dgm:spPr/>
      <dgm:t>
        <a:bodyPr/>
        <a:lstStyle/>
        <a:p>
          <a:endParaRPr lang="es-MX"/>
        </a:p>
      </dgm:t>
    </dgm:pt>
    <dgm:pt modelId="{FCF87154-49A2-C44D-8E80-43E6D4A0A341}">
      <dgm:prSet/>
      <dgm:spPr/>
      <dgm:t>
        <a:bodyPr/>
        <a:lstStyle/>
        <a:p>
          <a:r>
            <a:rPr lang="es-ES_tradnl" b="1" i="0" dirty="0"/>
            <a:t>ENFOQUE:</a:t>
          </a:r>
          <a:r>
            <a:rPr lang="es-ES_tradnl" b="0" i="0" dirty="0"/>
            <a:t> Cuantitativo.</a:t>
          </a:r>
          <a:endParaRPr lang="es-ES_tradnl" noProof="1"/>
        </a:p>
      </dgm:t>
    </dgm:pt>
    <dgm:pt modelId="{E3C1E32F-8FF3-6D4E-8A92-8CDB4BED9783}" type="parTrans" cxnId="{D8F6D1A5-EF88-164A-B58D-7A8AE2D2840A}">
      <dgm:prSet/>
      <dgm:spPr/>
      <dgm:t>
        <a:bodyPr/>
        <a:lstStyle/>
        <a:p>
          <a:endParaRPr lang="es-MX"/>
        </a:p>
      </dgm:t>
    </dgm:pt>
    <dgm:pt modelId="{C6936B85-1596-3A4A-BB46-6CF83F10F25F}" type="sibTrans" cxnId="{D8F6D1A5-EF88-164A-B58D-7A8AE2D2840A}">
      <dgm:prSet/>
      <dgm:spPr/>
      <dgm:t>
        <a:bodyPr/>
        <a:lstStyle/>
        <a:p>
          <a:endParaRPr lang="es-MX"/>
        </a:p>
      </dgm:t>
    </dgm:pt>
    <dgm:pt modelId="{52173AB9-75C9-F041-A5BB-8A5D8CDFD4B3}">
      <dgm:prSet/>
      <dgm:spPr/>
      <dgm:t>
        <a:bodyPr/>
        <a:lstStyle/>
        <a:p>
          <a:r>
            <a:rPr lang="es-ES_tradnl" noProof="1"/>
            <a:t>MARCOS</a:t>
          </a:r>
        </a:p>
      </dgm:t>
    </dgm:pt>
    <dgm:pt modelId="{ABBA6523-FA50-4C4B-B9FC-55DF3ED93BD5}" type="parTrans" cxnId="{D938DBC0-20BA-2D49-BE6E-7603C67D70A3}">
      <dgm:prSet/>
      <dgm:spPr/>
      <dgm:t>
        <a:bodyPr/>
        <a:lstStyle/>
        <a:p>
          <a:endParaRPr lang="en-US"/>
        </a:p>
      </dgm:t>
    </dgm:pt>
    <dgm:pt modelId="{CAB59B3C-D8A5-FA46-8F1E-10557F4C1357}" type="sibTrans" cxnId="{D938DBC0-20BA-2D49-BE6E-7603C67D70A3}">
      <dgm:prSet/>
      <dgm:spPr/>
      <dgm:t>
        <a:bodyPr/>
        <a:lstStyle/>
        <a:p>
          <a:endParaRPr lang="en-US"/>
        </a:p>
      </dgm:t>
    </dgm:pt>
    <dgm:pt modelId="{2D973B45-6689-0F4E-A32A-EED785B32BFD}">
      <dgm:prSet/>
      <dgm:spPr/>
      <dgm:t>
        <a:bodyPr/>
        <a:lstStyle/>
        <a:p>
          <a:r>
            <a:rPr lang="es-ES_tradnl" b="1" i="0" dirty="0"/>
            <a:t>NORMATIVO:</a:t>
          </a:r>
          <a:r>
            <a:rPr lang="es-ES_tradnl" b="0" i="0" dirty="0"/>
            <a:t> Ley 1581 de 2012 (Protección de datos personales en Colombia) y Plan de Desarrollo Institucional ETITC 2025-2032.</a:t>
          </a:r>
          <a:endParaRPr lang="es-ES_tradnl" noProof="1"/>
        </a:p>
      </dgm:t>
    </dgm:pt>
    <dgm:pt modelId="{9582C2FE-0744-7F4E-9442-019B5AA9C6D5}" type="parTrans" cxnId="{CF6575F2-E89D-DC4F-8F47-A023659B2641}">
      <dgm:prSet/>
      <dgm:spPr/>
      <dgm:t>
        <a:bodyPr/>
        <a:lstStyle/>
        <a:p>
          <a:endParaRPr lang="en-US"/>
        </a:p>
      </dgm:t>
    </dgm:pt>
    <dgm:pt modelId="{8305A729-1414-4D44-A20C-37D5DFDB836E}" type="sibTrans" cxnId="{CF6575F2-E89D-DC4F-8F47-A023659B2641}">
      <dgm:prSet/>
      <dgm:spPr/>
      <dgm:t>
        <a:bodyPr/>
        <a:lstStyle/>
        <a:p>
          <a:endParaRPr lang="en-US"/>
        </a:p>
      </dgm:t>
    </dgm:pt>
    <dgm:pt modelId="{E234DC2A-EC6A-CB44-B0F6-46C06D51FE41}">
      <dgm:prSet/>
      <dgm:spPr/>
      <dgm:t>
        <a:bodyPr/>
        <a:lstStyle/>
        <a:p>
          <a:pPr>
            <a:buNone/>
          </a:pPr>
          <a:r>
            <a:rPr lang="es-ES_tradnl" noProof="1"/>
            <a:t>✓ Los sistemas actuales (Adviser V.11 y RUSIA) dependen de datos estáticos y no monitorean variables de flujo semanal.</a:t>
          </a:r>
        </a:p>
      </dgm:t>
    </dgm:pt>
    <dgm:pt modelId="{958FC489-F27A-E949-A11F-C9E161722223}" type="parTrans" cxnId="{DCE1D188-730A-D148-96D0-CA02414E97B4}">
      <dgm:prSet/>
      <dgm:spPr/>
      <dgm:t>
        <a:bodyPr/>
        <a:lstStyle/>
        <a:p>
          <a:endParaRPr lang="en-US"/>
        </a:p>
      </dgm:t>
    </dgm:pt>
    <dgm:pt modelId="{A8A82963-E581-2248-910E-B20F555E82A8}" type="sibTrans" cxnId="{DCE1D188-730A-D148-96D0-CA02414E97B4}">
      <dgm:prSet/>
      <dgm:spPr/>
      <dgm:t>
        <a:bodyPr/>
        <a:lstStyle/>
        <a:p>
          <a:endParaRPr lang="en-US"/>
        </a:p>
      </dgm:t>
    </dgm:pt>
    <dgm:pt modelId="{282442E3-D51B-E644-BAFC-B0DE1538E556}">
      <dgm:prSet/>
      <dgm:spPr/>
      <dgm:t>
        <a:bodyPr/>
        <a:lstStyle/>
        <a:p>
          <a:pPr>
            <a:buNone/>
          </a:pPr>
          <a:r>
            <a:rPr lang="es-ES_tradnl" noProof="1"/>
            <a:t>✓ El proyecto propone una gestión de retención prospectiva y automatizada en lugar de una respuesta institucional reactiva.</a:t>
          </a:r>
        </a:p>
      </dgm:t>
    </dgm:pt>
    <dgm:pt modelId="{1E6E3CE9-580C-534E-BFEA-A778DB1CCAF3}" type="parTrans" cxnId="{AA52C92D-6F7D-D444-B8C8-9101059441FE}">
      <dgm:prSet/>
      <dgm:spPr/>
      <dgm:t>
        <a:bodyPr/>
        <a:lstStyle/>
        <a:p>
          <a:endParaRPr lang="en-US"/>
        </a:p>
      </dgm:t>
    </dgm:pt>
    <dgm:pt modelId="{9D615F13-23DF-8D48-A64B-91CCEFA0F342}" type="sibTrans" cxnId="{AA52C92D-6F7D-D444-B8C8-9101059441FE}">
      <dgm:prSet/>
      <dgm:spPr/>
      <dgm:t>
        <a:bodyPr/>
        <a:lstStyle/>
        <a:p>
          <a:endParaRPr lang="en-US"/>
        </a:p>
      </dgm:t>
    </dgm:pt>
    <dgm:pt modelId="{331C0DF3-B7EB-604B-A4B7-17E430C68A6B}">
      <dgm:prSet/>
      <dgm:spPr/>
      <dgm:t>
        <a:bodyPr/>
        <a:lstStyle/>
        <a:p>
          <a:r>
            <a:rPr lang="es-ES_tradnl" b="1" i="1" noProof="1"/>
            <a:t>Diseñar</a:t>
          </a:r>
          <a:r>
            <a:rPr lang="es-ES_tradnl" b="0" i="1" noProof="1"/>
            <a:t> la arquitectura técnica de un modelo predictivo capaz de procesar flujo de datos semanal.</a:t>
          </a:r>
          <a:endParaRPr lang="es-ES_tradnl" i="1" noProof="1"/>
        </a:p>
      </dgm:t>
    </dgm:pt>
    <dgm:pt modelId="{A0C91D7C-4726-AE46-8A0F-E779E7102302}" type="parTrans" cxnId="{9A81F3F8-A913-924A-A38C-9251A2047F08}">
      <dgm:prSet/>
      <dgm:spPr/>
      <dgm:t>
        <a:bodyPr/>
        <a:lstStyle/>
        <a:p>
          <a:endParaRPr lang="en-US"/>
        </a:p>
      </dgm:t>
    </dgm:pt>
    <dgm:pt modelId="{4A0C6E88-2CC5-7441-9242-D8FE7D6D4E85}" type="sibTrans" cxnId="{9A81F3F8-A913-924A-A38C-9251A2047F08}">
      <dgm:prSet/>
      <dgm:spPr/>
      <dgm:t>
        <a:bodyPr/>
        <a:lstStyle/>
        <a:p>
          <a:endParaRPr lang="en-US"/>
        </a:p>
      </dgm:t>
    </dgm:pt>
    <dgm:pt modelId="{7A598DFC-F35F-1F40-8D69-78DA7036A1B5}">
      <dgm:prSet/>
      <dgm:spPr/>
      <dgm:t>
        <a:bodyPr/>
        <a:lstStyle/>
        <a:p>
          <a:r>
            <a:rPr lang="es-ES_tradnl" b="1" i="1" noProof="1"/>
            <a:t>Validar</a:t>
          </a:r>
          <a:r>
            <a:rPr lang="es-ES_tradnl" b="0" i="1" noProof="1"/>
            <a:t> la precisión del modelo mediante pruebas de rendimiento para asegurar alertas tempranas oportunas.</a:t>
          </a:r>
          <a:endParaRPr lang="es-ES_tradnl" i="1" noProof="1"/>
        </a:p>
      </dgm:t>
    </dgm:pt>
    <dgm:pt modelId="{AB68C015-1D36-5C45-8ED2-CB6E469B7CB3}" type="parTrans" cxnId="{58B7E148-7237-4246-B76C-C835CFA6DEE6}">
      <dgm:prSet/>
      <dgm:spPr/>
      <dgm:t>
        <a:bodyPr/>
        <a:lstStyle/>
        <a:p>
          <a:endParaRPr lang="en-US"/>
        </a:p>
      </dgm:t>
    </dgm:pt>
    <dgm:pt modelId="{47512416-27DE-4C4E-BA4B-75F013E0E83E}" type="sibTrans" cxnId="{58B7E148-7237-4246-B76C-C835CFA6DEE6}">
      <dgm:prSet/>
      <dgm:spPr/>
      <dgm:t>
        <a:bodyPr/>
        <a:lstStyle/>
        <a:p>
          <a:endParaRPr lang="en-US"/>
        </a:p>
      </dgm:t>
    </dgm:pt>
    <dgm:pt modelId="{27857D61-6E5A-134B-B6F3-1DA1619ABB83}">
      <dgm:prSet/>
      <dgm:spPr/>
      <dgm:t>
        <a:bodyPr/>
        <a:lstStyle/>
        <a:p>
          <a:pPr>
            <a:buNone/>
          </a:pPr>
          <a:r>
            <a:rPr lang="es-ES_tradnl" b="0" i="0" dirty="0"/>
            <a:t>El proyecto se alinea con el Plan de Desarrollo Institucional 2025-2032 que exige reducir la deserción en </a:t>
          </a:r>
          <a:r>
            <a:rPr lang="es-ES_tradnl" b="1" i="0" dirty="0"/>
            <a:t>2.5 puntos porcentuales</a:t>
          </a:r>
          <a:r>
            <a:rPr lang="es-ES_tradnl" b="0" i="0" dirty="0"/>
            <a:t>. El modelo no solo detecta el riesgo, sino que permitirá proponer </a:t>
          </a:r>
          <a:r>
            <a:rPr lang="es-ES_tradnl" b="1" i="0" dirty="0"/>
            <a:t>remediaciones (soluciones)</a:t>
          </a:r>
          <a:r>
            <a:rPr lang="es-ES_tradnl" b="0" i="0" dirty="0"/>
            <a:t> automáticas, impactando directamente en la </a:t>
          </a:r>
          <a:r>
            <a:rPr lang="es-ES_tradnl" b="1" i="0" dirty="0"/>
            <a:t>equidad</a:t>
          </a:r>
          <a:r>
            <a:rPr lang="es-ES_tradnl" b="0" i="0" dirty="0"/>
            <a:t> y permanencia de la población trabajadora nocturna.</a:t>
          </a:r>
          <a:endParaRPr lang="es-ES_tradnl" noProof="1"/>
        </a:p>
      </dgm:t>
    </dgm:pt>
    <dgm:pt modelId="{145EE6C5-77A3-7643-BF51-34A0A56A6627}" type="parTrans" cxnId="{554DA4A5-BDC6-034F-B7A0-B452C819B1C6}">
      <dgm:prSet/>
      <dgm:spPr/>
      <dgm:t>
        <a:bodyPr/>
        <a:lstStyle/>
        <a:p>
          <a:endParaRPr lang="en-US"/>
        </a:p>
      </dgm:t>
    </dgm:pt>
    <dgm:pt modelId="{CFB21878-56C6-9A48-A8E6-E2F277355FA1}" type="sibTrans" cxnId="{554DA4A5-BDC6-034F-B7A0-B452C819B1C6}">
      <dgm:prSet/>
      <dgm:spPr/>
      <dgm:t>
        <a:bodyPr/>
        <a:lstStyle/>
        <a:p>
          <a:endParaRPr lang="en-US"/>
        </a:p>
      </dgm:t>
    </dgm:pt>
    <dgm:pt modelId="{5D1CA7F3-A75C-6448-A523-5FABE807F5A9}">
      <dgm:prSet/>
      <dgm:spPr/>
      <dgm:t>
        <a:bodyPr/>
        <a:lstStyle/>
        <a:p>
          <a:r>
            <a:rPr lang="es-ES_tradnl" b="1" i="0" dirty="0"/>
            <a:t>AFIRMACIÓN:</a:t>
          </a:r>
          <a:r>
            <a:rPr lang="es-ES_tradnl" b="0" i="0" dirty="0"/>
            <a:t> El uso de un modelo predictivo basado en estas variables aumentará significativamente la precisión de la detección temprana en comparación con los sistemas estáticos actuales (</a:t>
          </a:r>
          <a:r>
            <a:rPr lang="es-ES_tradnl" b="0" i="0" dirty="0" err="1"/>
            <a:t>Adviser</a:t>
          </a:r>
          <a:r>
            <a:rPr lang="es-ES_tradnl" b="0" i="0" dirty="0"/>
            <a:t> V.11 y RUSIA).</a:t>
          </a:r>
          <a:endParaRPr lang="es-ES_tradnl" noProof="1"/>
        </a:p>
      </dgm:t>
    </dgm:pt>
    <dgm:pt modelId="{0042799B-345A-6F45-9481-B5AEE4A516B3}" type="parTrans" cxnId="{95266D08-2B65-D843-87CB-E74F057D6E05}">
      <dgm:prSet/>
      <dgm:spPr/>
      <dgm:t>
        <a:bodyPr/>
        <a:lstStyle/>
        <a:p>
          <a:endParaRPr lang="en-US"/>
        </a:p>
      </dgm:t>
    </dgm:pt>
    <dgm:pt modelId="{8EDC2F85-D2CC-0744-9705-35DA034CF857}" type="sibTrans" cxnId="{95266D08-2B65-D843-87CB-E74F057D6E05}">
      <dgm:prSet/>
      <dgm:spPr/>
      <dgm:t>
        <a:bodyPr/>
        <a:lstStyle/>
        <a:p>
          <a:endParaRPr lang="en-US"/>
        </a:p>
      </dgm:t>
    </dgm:pt>
    <dgm:pt modelId="{3583B54B-7705-C843-B292-301F5FC23CFA}">
      <dgm:prSet/>
      <dgm:spPr/>
      <dgm:t>
        <a:bodyPr/>
        <a:lstStyle/>
        <a:p>
          <a:pPr>
            <a:buFont typeface="Arial" panose="020B0604020202020204" pitchFamily="34" charset="0"/>
            <a:buChar char="•"/>
          </a:pPr>
          <a:r>
            <a:rPr lang="es-ES_tradnl" b="1" i="0" dirty="0"/>
            <a:t>TIPO:</a:t>
          </a:r>
          <a:r>
            <a:rPr lang="es-ES_tradnl" b="0" i="0" dirty="0"/>
            <a:t> Investigación aplicada, descriptiva y predictiva.</a:t>
          </a:r>
        </a:p>
      </dgm:t>
    </dgm:pt>
    <dgm:pt modelId="{B013F403-DCAE-744B-B34F-D5AEDFD609C1}" type="parTrans" cxnId="{C8A4803E-A97F-374D-A8C7-BFB071C6496E}">
      <dgm:prSet/>
      <dgm:spPr/>
      <dgm:t>
        <a:bodyPr/>
        <a:lstStyle/>
        <a:p>
          <a:endParaRPr lang="en-US"/>
        </a:p>
      </dgm:t>
    </dgm:pt>
    <dgm:pt modelId="{B8764203-D6A0-F248-A7ED-D28CB268CB91}" type="sibTrans" cxnId="{C8A4803E-A97F-374D-A8C7-BFB071C6496E}">
      <dgm:prSet/>
      <dgm:spPr/>
      <dgm:t>
        <a:bodyPr/>
        <a:lstStyle/>
        <a:p>
          <a:endParaRPr lang="en-US"/>
        </a:p>
      </dgm:t>
    </dgm:pt>
    <dgm:pt modelId="{899929C8-7745-514B-9C47-35B484AFF7A5}">
      <dgm:prSet/>
      <dgm:spPr/>
      <dgm:t>
        <a:bodyPr/>
        <a:lstStyle/>
        <a:p>
          <a:pPr>
            <a:buFont typeface="Arial" panose="020B0604020202020204" pitchFamily="34" charset="0"/>
            <a:buChar char="•"/>
          </a:pPr>
          <a:r>
            <a:rPr lang="es-ES_tradnl" b="1" i="0" dirty="0"/>
            <a:t>PROCESO:</a:t>
          </a:r>
          <a:r>
            <a:rPr lang="es-ES_tradnl" b="0" i="0" dirty="0"/>
            <a:t> Ciclo de vida de 5 fases: 1. Gestión Institucional, 2. Ingesta de Datos, 3. Ingeniería de Características, 4. Modelado (</a:t>
          </a:r>
          <a:r>
            <a:rPr lang="es-ES_tradnl" b="0" i="0" dirty="0" err="1"/>
            <a:t>XGBoost</a:t>
          </a:r>
          <a:r>
            <a:rPr lang="es-ES_tradnl" b="0" i="0" dirty="0"/>
            <a:t>/</a:t>
          </a:r>
          <a:r>
            <a:rPr lang="es-ES_tradnl" b="0" i="0" dirty="0" err="1"/>
            <a:t>Random</a:t>
          </a:r>
          <a:r>
            <a:rPr lang="es-ES_tradnl" b="0" i="0" dirty="0"/>
            <a:t> Forest), 5. Validación (Matriz de Confusión).</a:t>
          </a:r>
        </a:p>
      </dgm:t>
    </dgm:pt>
    <dgm:pt modelId="{CDA62281-9558-B646-8F03-A857332A9CC0}" type="parTrans" cxnId="{A592ED51-D693-B44D-84CD-B8188CFB4F63}">
      <dgm:prSet/>
      <dgm:spPr/>
      <dgm:t>
        <a:bodyPr/>
        <a:lstStyle/>
        <a:p>
          <a:endParaRPr lang="en-US"/>
        </a:p>
      </dgm:t>
    </dgm:pt>
    <dgm:pt modelId="{D030CB3C-00E0-874A-A95D-2310ADFA70DD}" type="sibTrans" cxnId="{A592ED51-D693-B44D-84CD-B8188CFB4F63}">
      <dgm:prSet/>
      <dgm:spPr/>
      <dgm:t>
        <a:bodyPr/>
        <a:lstStyle/>
        <a:p>
          <a:endParaRPr lang="en-US"/>
        </a:p>
      </dgm:t>
    </dgm:pt>
    <dgm:pt modelId="{AD2624B8-3300-0C4F-A3D2-4740B85074F0}">
      <dgm:prSet/>
      <dgm:spPr/>
      <dgm:t>
        <a:bodyPr/>
        <a:lstStyle/>
        <a:p>
          <a:pPr>
            <a:buFont typeface="Arial" panose="020B0604020202020204" pitchFamily="34" charset="0"/>
            <a:buChar char="•"/>
          </a:pPr>
          <a:r>
            <a:rPr lang="es-ES_tradnl" b="1" i="0" dirty="0"/>
            <a:t>CONCEPTUAL:</a:t>
          </a:r>
          <a:r>
            <a:rPr lang="es-ES_tradnl" b="0" i="0" dirty="0"/>
            <a:t> Deserción estudiantil, elasticidad laboral, "pobreza de tiempo" y fatiga por movilidad urbana.</a:t>
          </a:r>
        </a:p>
      </dgm:t>
    </dgm:pt>
    <dgm:pt modelId="{2C3EB18E-FEB2-014C-A231-5A21D5A3301B}" type="parTrans" cxnId="{BC074BA5-BD57-0D44-B39A-62BC570D7CE6}">
      <dgm:prSet/>
      <dgm:spPr/>
      <dgm:t>
        <a:bodyPr/>
        <a:lstStyle/>
        <a:p>
          <a:endParaRPr lang="en-US"/>
        </a:p>
      </dgm:t>
    </dgm:pt>
    <dgm:pt modelId="{6C06C706-919E-A942-9ECF-585E9EFCBBAA}" type="sibTrans" cxnId="{BC074BA5-BD57-0D44-B39A-62BC570D7CE6}">
      <dgm:prSet/>
      <dgm:spPr/>
      <dgm:t>
        <a:bodyPr/>
        <a:lstStyle/>
        <a:p>
          <a:endParaRPr lang="en-US"/>
        </a:p>
      </dgm:t>
    </dgm:pt>
    <dgm:pt modelId="{F63324D9-962C-F143-93B6-3B70261AD445}">
      <dgm:prSet/>
      <dgm:spPr/>
      <dgm:t>
        <a:bodyPr/>
        <a:lstStyle/>
        <a:p>
          <a:pPr>
            <a:buFont typeface="Arial" panose="020B0604020202020204" pitchFamily="34" charset="0"/>
            <a:buChar char="•"/>
          </a:pPr>
          <a:r>
            <a:rPr lang="es-ES_tradnl" b="1" i="0" dirty="0"/>
            <a:t>TEÓRICO:</a:t>
          </a:r>
          <a:r>
            <a:rPr lang="es-ES_tradnl" b="0" i="0" dirty="0"/>
            <a:t> Machine </a:t>
          </a:r>
          <a:r>
            <a:rPr lang="es-ES_tradnl" b="0" i="0" dirty="0" err="1"/>
            <a:t>Learning</a:t>
          </a:r>
          <a:r>
            <a:rPr lang="es-ES_tradnl" b="0" i="0" dirty="0"/>
            <a:t> aplicado a la retención educativa y modelos de análisis de supervivencia académica.</a:t>
          </a:r>
        </a:p>
      </dgm:t>
    </dgm:pt>
    <dgm:pt modelId="{1235B3EB-10B6-C34F-9DE1-81C89EFA9EF0}" type="parTrans" cxnId="{BB047795-F12F-434C-8A79-CED369912865}">
      <dgm:prSet/>
      <dgm:spPr/>
      <dgm:t>
        <a:bodyPr/>
        <a:lstStyle/>
        <a:p>
          <a:endParaRPr lang="en-US"/>
        </a:p>
      </dgm:t>
    </dgm:pt>
    <dgm:pt modelId="{6BB3D41A-EC75-CD46-B785-D3EE26DBAE90}" type="sibTrans" cxnId="{BB047795-F12F-434C-8A79-CED369912865}">
      <dgm:prSet/>
      <dgm:spPr/>
      <dgm:t>
        <a:bodyPr/>
        <a:lstStyle/>
        <a:p>
          <a:endParaRPr lang="en-US"/>
        </a:p>
      </dgm:t>
    </dgm:pt>
    <dgm:pt modelId="{B566E051-ABCE-CB40-80F5-9862FD9829B6}">
      <dgm:prSet/>
      <dgm:spPr/>
      <dgm:t>
        <a:bodyPr/>
        <a:lstStyle/>
        <a:p>
          <a:pPr>
            <a:buFont typeface="Arial" panose="020B0604020202020204" pitchFamily="34" charset="0"/>
            <a:buChar char="•"/>
          </a:pPr>
          <a:r>
            <a:rPr lang="es-ES_tradnl" b="1" i="0" dirty="0"/>
            <a:t>AMBIENTAL:</a:t>
          </a:r>
          <a:r>
            <a:rPr lang="es-ES_tradnl" b="0" i="0" dirty="0"/>
            <a:t> Contexto socio-laboral del estudiante de jornada nocturna y el impacto del entorno urbano de Bogotá (movilidad sistémica) en la permanencia.</a:t>
          </a:r>
        </a:p>
      </dgm:t>
    </dgm:pt>
    <dgm:pt modelId="{C4FB9112-17C2-7643-B137-09DACC670A79}" type="parTrans" cxnId="{938F3EB4-F45B-E74C-ACDA-EA26910AA997}">
      <dgm:prSet/>
      <dgm:spPr/>
      <dgm:t>
        <a:bodyPr/>
        <a:lstStyle/>
        <a:p>
          <a:endParaRPr lang="en-US"/>
        </a:p>
      </dgm:t>
    </dgm:pt>
    <dgm:pt modelId="{48C625F6-D523-9140-A37D-0FBFD5A65875}" type="sibTrans" cxnId="{938F3EB4-F45B-E74C-ACDA-EA26910AA997}">
      <dgm:prSet/>
      <dgm:spPr/>
      <dgm:t>
        <a:bodyPr/>
        <a:lstStyle/>
        <a:p>
          <a:endParaRPr lang="en-US"/>
        </a:p>
      </dgm:t>
    </dgm:pt>
    <dgm:pt modelId="{2E64113D-93C8-D04B-8821-7CA4C63371A3}">
      <dgm:prSet/>
      <dgm:spPr/>
      <dgm:t>
        <a:bodyPr/>
        <a:lstStyle/>
        <a:p>
          <a:pPr>
            <a:buFont typeface="Arial" panose="020B0604020202020204" pitchFamily="34" charset="0"/>
            <a:buChar char="•"/>
          </a:pPr>
          <a:r>
            <a:rPr lang="es-ES_tradnl" b="1" i="0" dirty="0"/>
            <a:t>TECNOLÓGICO:</a:t>
          </a:r>
          <a:r>
            <a:rPr lang="es-ES_tradnl" b="0" i="0" dirty="0"/>
            <a:t> Python (Pandas, </a:t>
          </a:r>
          <a:r>
            <a:rPr lang="es-ES_tradnl" b="0" i="0" dirty="0" err="1"/>
            <a:t>Scikit-learn</a:t>
          </a:r>
          <a:r>
            <a:rPr lang="es-ES_tradnl" b="0" i="0" dirty="0"/>
            <a:t>), SQL, </a:t>
          </a:r>
          <a:r>
            <a:rPr lang="es-ES_tradnl" b="0" i="0" dirty="0" err="1"/>
            <a:t>APIs</a:t>
          </a:r>
          <a:r>
            <a:rPr lang="es-ES_tradnl" b="0" i="0" dirty="0"/>
            <a:t> de movilidad (Google/</a:t>
          </a:r>
          <a:r>
            <a:rPr lang="es-ES_tradnl" b="0" i="0" dirty="0" err="1"/>
            <a:t>Waze</a:t>
          </a:r>
          <a:r>
            <a:rPr lang="es-ES_tradnl" b="0" i="0" dirty="0"/>
            <a:t>) y registros (logs) de plataforma Moodle (LMS).</a:t>
          </a:r>
        </a:p>
      </dgm:t>
    </dgm:pt>
    <dgm:pt modelId="{A2F0C95E-9606-684B-9483-10BEE047AEAD}" type="parTrans" cxnId="{674AD7D6-C371-DF40-9942-BFB4C492B13E}">
      <dgm:prSet/>
      <dgm:spPr/>
      <dgm:t>
        <a:bodyPr/>
        <a:lstStyle/>
        <a:p>
          <a:endParaRPr lang="en-US"/>
        </a:p>
      </dgm:t>
    </dgm:pt>
    <dgm:pt modelId="{C35FD601-861C-E342-9424-EBD9D64060FB}" type="sibTrans" cxnId="{674AD7D6-C371-DF40-9942-BFB4C492B13E}">
      <dgm:prSet/>
      <dgm:spPr/>
      <dgm:t>
        <a:bodyPr/>
        <a:lstStyle/>
        <a:p>
          <a:endParaRPr lang="en-US"/>
        </a:p>
      </dgm:t>
    </dgm:pt>
    <dgm:pt modelId="{D9E9EA2F-0A8C-5547-8238-C8C036133772}" type="pres">
      <dgm:prSet presAssocID="{40D9C8DE-F3F9-124E-9985-3EF20DC61E2B}" presName="linear" presStyleCnt="0">
        <dgm:presLayoutVars>
          <dgm:animLvl val="lvl"/>
          <dgm:resizeHandles val="exact"/>
        </dgm:presLayoutVars>
      </dgm:prSet>
      <dgm:spPr/>
    </dgm:pt>
    <dgm:pt modelId="{F38AC8A6-0497-384E-AC34-83B281126C41}" type="pres">
      <dgm:prSet presAssocID="{65F57CC6-C856-9049-9EF5-4E14F9E9B45A}" presName="parentText" presStyleLbl="node1" presStyleIdx="0" presStyleCnt="5">
        <dgm:presLayoutVars>
          <dgm:chMax val="0"/>
          <dgm:bulletEnabled val="1"/>
        </dgm:presLayoutVars>
      </dgm:prSet>
      <dgm:spPr/>
    </dgm:pt>
    <dgm:pt modelId="{B01EEC1D-575A-5F43-B5EE-EBEC78B21E27}" type="pres">
      <dgm:prSet presAssocID="{65F57CC6-C856-9049-9EF5-4E14F9E9B45A}" presName="childText" presStyleLbl="revTx" presStyleIdx="0" presStyleCnt="5">
        <dgm:presLayoutVars>
          <dgm:bulletEnabled val="1"/>
        </dgm:presLayoutVars>
      </dgm:prSet>
      <dgm:spPr/>
    </dgm:pt>
    <dgm:pt modelId="{0C88123E-99EF-B34F-82E6-F15FBDB3C271}" type="pres">
      <dgm:prSet presAssocID="{F1A38DF3-F4E6-E143-9FF1-B7B5CDCC7D11}" presName="parentText" presStyleLbl="node1" presStyleIdx="1" presStyleCnt="5">
        <dgm:presLayoutVars>
          <dgm:chMax val="0"/>
          <dgm:bulletEnabled val="1"/>
        </dgm:presLayoutVars>
      </dgm:prSet>
      <dgm:spPr/>
    </dgm:pt>
    <dgm:pt modelId="{35C1CF65-FE39-BF4D-894A-CB981DAE4F87}" type="pres">
      <dgm:prSet presAssocID="{F1A38DF3-F4E6-E143-9FF1-B7B5CDCC7D11}" presName="childText" presStyleLbl="revTx" presStyleIdx="1" presStyleCnt="5">
        <dgm:presLayoutVars>
          <dgm:bulletEnabled val="1"/>
        </dgm:presLayoutVars>
      </dgm:prSet>
      <dgm:spPr/>
    </dgm:pt>
    <dgm:pt modelId="{642CC5E8-3DBD-CB4C-8E50-A7E91B4984DB}" type="pres">
      <dgm:prSet presAssocID="{0FB90C8C-8776-2641-B85E-63F8397B666D}" presName="parentText" presStyleLbl="node1" presStyleIdx="2" presStyleCnt="5">
        <dgm:presLayoutVars>
          <dgm:chMax val="0"/>
          <dgm:bulletEnabled val="1"/>
        </dgm:presLayoutVars>
      </dgm:prSet>
      <dgm:spPr/>
    </dgm:pt>
    <dgm:pt modelId="{D17F29BC-E230-1844-A6A1-8F4F6F68C49F}" type="pres">
      <dgm:prSet presAssocID="{0FB90C8C-8776-2641-B85E-63F8397B666D}" presName="childText" presStyleLbl="revTx" presStyleIdx="2" presStyleCnt="5">
        <dgm:presLayoutVars>
          <dgm:bulletEnabled val="1"/>
        </dgm:presLayoutVars>
      </dgm:prSet>
      <dgm:spPr/>
    </dgm:pt>
    <dgm:pt modelId="{F95724C9-3DAF-A64F-B0B5-CA002983EBD2}" type="pres">
      <dgm:prSet presAssocID="{DF1F59B6-DDFC-D44F-B1C9-343758A5C496}" presName="parentText" presStyleLbl="node1" presStyleIdx="3" presStyleCnt="5">
        <dgm:presLayoutVars>
          <dgm:chMax val="0"/>
          <dgm:bulletEnabled val="1"/>
        </dgm:presLayoutVars>
      </dgm:prSet>
      <dgm:spPr/>
    </dgm:pt>
    <dgm:pt modelId="{6D8E8BF7-74FF-454A-94EC-E5FF359C2BBA}" type="pres">
      <dgm:prSet presAssocID="{DF1F59B6-DDFC-D44F-B1C9-343758A5C496}" presName="childText" presStyleLbl="revTx" presStyleIdx="3" presStyleCnt="5">
        <dgm:presLayoutVars>
          <dgm:bulletEnabled val="1"/>
        </dgm:presLayoutVars>
      </dgm:prSet>
      <dgm:spPr/>
    </dgm:pt>
    <dgm:pt modelId="{F7C98FC9-AB5C-374D-AF12-657E309ADCB3}" type="pres">
      <dgm:prSet presAssocID="{52173AB9-75C9-F041-A5BB-8A5D8CDFD4B3}" presName="parentText" presStyleLbl="node1" presStyleIdx="4" presStyleCnt="5">
        <dgm:presLayoutVars>
          <dgm:chMax val="0"/>
          <dgm:bulletEnabled val="1"/>
        </dgm:presLayoutVars>
      </dgm:prSet>
      <dgm:spPr/>
    </dgm:pt>
    <dgm:pt modelId="{91E01AC6-A8B3-924E-A851-7C3953B9C5AB}" type="pres">
      <dgm:prSet presAssocID="{52173AB9-75C9-F041-A5BB-8A5D8CDFD4B3}" presName="childText" presStyleLbl="revTx" presStyleIdx="4" presStyleCnt="5">
        <dgm:presLayoutVars>
          <dgm:bulletEnabled val="1"/>
        </dgm:presLayoutVars>
      </dgm:prSet>
      <dgm:spPr/>
    </dgm:pt>
  </dgm:ptLst>
  <dgm:cxnLst>
    <dgm:cxn modelId="{DB53D803-D59B-4742-82EE-A889BC86173F}" type="presOf" srcId="{E234DC2A-EC6A-CB44-B0F6-46C06D51FE41}" destId="{B01EEC1D-575A-5F43-B5EE-EBEC78B21E27}" srcOrd="0" destOrd="2" presId="urn:microsoft.com/office/officeart/2005/8/layout/vList2"/>
    <dgm:cxn modelId="{95266D08-2B65-D843-87CB-E74F057D6E05}" srcId="{0FB90C8C-8776-2641-B85E-63F8397B666D}" destId="{5D1CA7F3-A75C-6448-A523-5FABE807F5A9}" srcOrd="1" destOrd="0" parTransId="{0042799B-345A-6F45-9481-B5AEE4A516B3}" sibTransId="{8EDC2F85-D2CC-0744-9705-35DA034CF857}"/>
    <dgm:cxn modelId="{3E7D550B-10B0-D946-B7DB-AC170C8E5D3D}" type="presOf" srcId="{F1A38DF3-F4E6-E143-9FF1-B7B5CDCC7D11}" destId="{0C88123E-99EF-B34F-82E6-F15FBDB3C271}" srcOrd="0" destOrd="0" presId="urn:microsoft.com/office/officeart/2005/8/layout/vList2"/>
    <dgm:cxn modelId="{B02CAF10-6ED2-5740-B755-D7224505EF62}" type="presOf" srcId="{3583B54B-7705-C843-B292-301F5FC23CFA}" destId="{6D8E8BF7-74FF-454A-94EC-E5FF359C2BBA}" srcOrd="0" destOrd="1" presId="urn:microsoft.com/office/officeart/2005/8/layout/vList2"/>
    <dgm:cxn modelId="{C165D61C-2A31-9D40-A194-8E914432EF0C}" srcId="{0FB90C8C-8776-2641-B85E-63F8397B666D}" destId="{1DA9F07D-39CF-224F-A0C4-CD5FC254C593}" srcOrd="0" destOrd="0" parTransId="{02474C0D-5308-3749-9FBA-B8ADB3B55EF1}" sibTransId="{EBA80287-FFB7-1F41-B577-7B9C2A7B49DD}"/>
    <dgm:cxn modelId="{AA52C92D-6F7D-D444-B8C8-9101059441FE}" srcId="{65F57CC6-C856-9049-9EF5-4E14F9E9B45A}" destId="{282442E3-D51B-E644-BAFC-B0DE1538E556}" srcOrd="3" destOrd="0" parTransId="{1E6E3CE9-580C-534E-BFEA-A778DB1CCAF3}" sibTransId="{9D615F13-23DF-8D48-A64B-91CCEFA0F342}"/>
    <dgm:cxn modelId="{E24DD42D-7148-0644-8E25-01807B061BE7}" type="presOf" srcId="{A631DBE3-C93E-FA4E-8B0C-317644030556}" destId="{B01EEC1D-575A-5F43-B5EE-EBEC78B21E27}" srcOrd="0" destOrd="1" presId="urn:microsoft.com/office/officeart/2005/8/layout/vList2"/>
    <dgm:cxn modelId="{EC93FB2F-DBE4-6E4B-B250-14C4785D8302}" type="presOf" srcId="{7A598DFC-F35F-1F40-8D69-78DA7036A1B5}" destId="{35C1CF65-FE39-BF4D-894A-CB981DAE4F87}" srcOrd="0" destOrd="3" presId="urn:microsoft.com/office/officeart/2005/8/layout/vList2"/>
    <dgm:cxn modelId="{A9356F3A-4A4E-574D-A7A0-04675C0086F9}" srcId="{F1A38DF3-F4E6-E143-9FF1-B7B5CDCC7D11}" destId="{2FC96311-D035-254D-95F3-746D327AE332}" srcOrd="0" destOrd="0" parTransId="{9320CF6E-465A-B247-B4D4-56A269FAD646}" sibTransId="{F46A2C6B-8EF2-7241-A148-DB0894DEC1BA}"/>
    <dgm:cxn modelId="{C8A4803E-A97F-374D-A8C7-BFB071C6496E}" srcId="{DF1F59B6-DDFC-D44F-B1C9-343758A5C496}" destId="{3583B54B-7705-C843-B292-301F5FC23CFA}" srcOrd="1" destOrd="0" parTransId="{B013F403-DCAE-744B-B34F-D5AEDFD609C1}" sibTransId="{B8764203-D6A0-F248-A7ED-D28CB268CB91}"/>
    <dgm:cxn modelId="{58B7E148-7237-4246-B76C-C835CFA6DEE6}" srcId="{F1A38DF3-F4E6-E143-9FF1-B7B5CDCC7D11}" destId="{7A598DFC-F35F-1F40-8D69-78DA7036A1B5}" srcOrd="3" destOrd="0" parTransId="{AB68C015-1D36-5C45-8ED2-CB6E469B7CB3}" sibTransId="{47512416-27DE-4C4E-BA4B-75F013E0E83E}"/>
    <dgm:cxn modelId="{31394249-81E1-2946-A1C2-60437654EDD7}" type="presOf" srcId="{1DA9F07D-39CF-224F-A0C4-CD5FC254C593}" destId="{D17F29BC-E230-1844-A6A1-8F4F6F68C49F}" srcOrd="0" destOrd="0" presId="urn:microsoft.com/office/officeart/2005/8/layout/vList2"/>
    <dgm:cxn modelId="{0A7FC851-4A61-EA48-A8AF-49FA343F5450}" type="presOf" srcId="{F63324D9-962C-F143-93B6-3B70261AD445}" destId="{91E01AC6-A8B3-924E-A851-7C3953B9C5AB}" srcOrd="0" destOrd="2" presId="urn:microsoft.com/office/officeart/2005/8/layout/vList2"/>
    <dgm:cxn modelId="{A592ED51-D693-B44D-84CD-B8188CFB4F63}" srcId="{DF1F59B6-DDFC-D44F-B1C9-343758A5C496}" destId="{899929C8-7745-514B-9C47-35B484AFF7A5}" srcOrd="2" destOrd="0" parTransId="{CDA62281-9558-B646-8F03-A857332A9CC0}" sibTransId="{D030CB3C-00E0-874A-A95D-2310ADFA70DD}"/>
    <dgm:cxn modelId="{D71A955D-BDAF-7848-A99E-5CD3EE11B868}" type="presOf" srcId="{282442E3-D51B-E644-BAFC-B0DE1538E556}" destId="{B01EEC1D-575A-5F43-B5EE-EBEC78B21E27}" srcOrd="0" destOrd="3" presId="urn:microsoft.com/office/officeart/2005/8/layout/vList2"/>
    <dgm:cxn modelId="{D32B3767-B6AB-EE48-AB06-0ADFBF7217B2}" type="presOf" srcId="{40D9C8DE-F3F9-124E-9985-3EF20DC61E2B}" destId="{D9E9EA2F-0A8C-5547-8238-C8C036133772}" srcOrd="0" destOrd="0" presId="urn:microsoft.com/office/officeart/2005/8/layout/vList2"/>
    <dgm:cxn modelId="{5715166E-01F8-3C48-8359-08D9D5348889}" type="presOf" srcId="{DF1F59B6-DDFC-D44F-B1C9-343758A5C496}" destId="{F95724C9-3DAF-A64F-B0B5-CA002983EBD2}" srcOrd="0" destOrd="0" presId="urn:microsoft.com/office/officeart/2005/8/layout/vList2"/>
    <dgm:cxn modelId="{9D6F2670-C9F8-414E-90FB-E03CCF0BF486}" type="presOf" srcId="{8569BDE7-0831-294B-983A-4BCE9ED251E4}" destId="{35C1CF65-FE39-BF4D-894A-CB981DAE4F87}" srcOrd="0" destOrd="1" presId="urn:microsoft.com/office/officeart/2005/8/layout/vList2"/>
    <dgm:cxn modelId="{2EDD9D75-21A5-944C-803B-923BCFE80680}" srcId="{40D9C8DE-F3F9-124E-9985-3EF20DC61E2B}" destId="{65F57CC6-C856-9049-9EF5-4E14F9E9B45A}" srcOrd="0" destOrd="0" parTransId="{4E5749CE-6A20-B64A-A08E-68DC6345F171}" sibTransId="{CD4EF99E-1D53-A646-BE5F-0B9E2B648D3F}"/>
    <dgm:cxn modelId="{6B04C879-7080-AA45-A58F-5E0CFC68DE3D}" type="presOf" srcId="{2FC96311-D035-254D-95F3-746D327AE332}" destId="{35C1CF65-FE39-BF4D-894A-CB981DAE4F87}" srcOrd="0" destOrd="0" presId="urn:microsoft.com/office/officeart/2005/8/layout/vList2"/>
    <dgm:cxn modelId="{35A14080-0E65-D04F-8485-C55324CFC0FB}" type="presOf" srcId="{2E64113D-93C8-D04B-8821-7CA4C63371A3}" destId="{91E01AC6-A8B3-924E-A851-7C3953B9C5AB}" srcOrd="0" destOrd="4" presId="urn:microsoft.com/office/officeart/2005/8/layout/vList2"/>
    <dgm:cxn modelId="{DCE1D188-730A-D148-96D0-CA02414E97B4}" srcId="{65F57CC6-C856-9049-9EF5-4E14F9E9B45A}" destId="{E234DC2A-EC6A-CB44-B0F6-46C06D51FE41}" srcOrd="2" destOrd="0" parTransId="{958FC489-F27A-E949-A11F-C9E161722223}" sibTransId="{A8A82963-E581-2248-910E-B20F555E82A8}"/>
    <dgm:cxn modelId="{6E3A348D-081A-D747-8E6D-1A739619F007}" srcId="{F1A38DF3-F4E6-E143-9FF1-B7B5CDCC7D11}" destId="{8569BDE7-0831-294B-983A-4BCE9ED251E4}" srcOrd="1" destOrd="0" parTransId="{984DFA43-F21B-5943-8276-B4570DA72EB0}" sibTransId="{BB8A1477-D244-A04C-8137-32AEE7E3C976}"/>
    <dgm:cxn modelId="{BB047795-F12F-434C-8A79-CED369912865}" srcId="{52173AB9-75C9-F041-A5BB-8A5D8CDFD4B3}" destId="{F63324D9-962C-F143-93B6-3B70261AD445}" srcOrd="2" destOrd="0" parTransId="{1235B3EB-10B6-C34F-9DE1-81C89EFA9EF0}" sibTransId="{6BB3D41A-EC75-CD46-B785-D3EE26DBAE90}"/>
    <dgm:cxn modelId="{91CAAB95-3361-834F-9B49-8EEC8E1BF9F9}" type="presOf" srcId="{65F57CC6-C856-9049-9EF5-4E14F9E9B45A}" destId="{F38AC8A6-0497-384E-AC34-83B281126C41}" srcOrd="0" destOrd="0" presId="urn:microsoft.com/office/officeart/2005/8/layout/vList2"/>
    <dgm:cxn modelId="{DC66B296-F7EE-EA49-B668-DCB9110EDA53}" type="presOf" srcId="{FCF87154-49A2-C44D-8E80-43E6D4A0A341}" destId="{6D8E8BF7-74FF-454A-94EC-E5FF359C2BBA}" srcOrd="0" destOrd="0" presId="urn:microsoft.com/office/officeart/2005/8/layout/vList2"/>
    <dgm:cxn modelId="{8D487B9C-6539-3D47-9758-176483EA7184}" type="presOf" srcId="{0FB90C8C-8776-2641-B85E-63F8397B666D}" destId="{642CC5E8-3DBD-CB4C-8E50-A7E91B4984DB}" srcOrd="0" destOrd="0" presId="urn:microsoft.com/office/officeart/2005/8/layout/vList2"/>
    <dgm:cxn modelId="{9B3588A3-E7E2-BB41-AEE6-7FC30CFE577D}" type="presOf" srcId="{899929C8-7745-514B-9C47-35B484AFF7A5}" destId="{6D8E8BF7-74FF-454A-94EC-E5FF359C2BBA}" srcOrd="0" destOrd="2" presId="urn:microsoft.com/office/officeart/2005/8/layout/vList2"/>
    <dgm:cxn modelId="{BC074BA5-BD57-0D44-B39A-62BC570D7CE6}" srcId="{52173AB9-75C9-F041-A5BB-8A5D8CDFD4B3}" destId="{AD2624B8-3300-0C4F-A3D2-4740B85074F0}" srcOrd="1" destOrd="0" parTransId="{2C3EB18E-FEB2-014C-A231-5A21D5A3301B}" sibTransId="{6C06C706-919E-A942-9ECF-585E9EFCBBAA}"/>
    <dgm:cxn modelId="{554DA4A5-BDC6-034F-B7A0-B452C819B1C6}" srcId="{65F57CC6-C856-9049-9EF5-4E14F9E9B45A}" destId="{27857D61-6E5A-134B-B6F3-1DA1619ABB83}" srcOrd="0" destOrd="0" parTransId="{145EE6C5-77A3-7643-BF51-34A0A56A6627}" sibTransId="{CFB21878-56C6-9A48-A8E6-E2F277355FA1}"/>
    <dgm:cxn modelId="{D8F6D1A5-EF88-164A-B58D-7A8AE2D2840A}" srcId="{DF1F59B6-DDFC-D44F-B1C9-343758A5C496}" destId="{FCF87154-49A2-C44D-8E80-43E6D4A0A341}" srcOrd="0" destOrd="0" parTransId="{E3C1E32F-8FF3-6D4E-8A92-8CDB4BED9783}" sibTransId="{C6936B85-1596-3A4A-BB46-6CF83F10F25F}"/>
    <dgm:cxn modelId="{938F3EB4-F45B-E74C-ACDA-EA26910AA997}" srcId="{52173AB9-75C9-F041-A5BB-8A5D8CDFD4B3}" destId="{B566E051-ABCE-CB40-80F5-9862FD9829B6}" srcOrd="3" destOrd="0" parTransId="{C4FB9112-17C2-7643-B137-09DACC670A79}" sibTransId="{48C625F6-D523-9140-A37D-0FBFD5A65875}"/>
    <dgm:cxn modelId="{4C9B89B5-C2A7-B64C-BE24-FDD926C38B18}" srcId="{40D9C8DE-F3F9-124E-9985-3EF20DC61E2B}" destId="{0FB90C8C-8776-2641-B85E-63F8397B666D}" srcOrd="2" destOrd="0" parTransId="{89B1BA94-ACB6-2449-AFA7-E685700E2C3D}" sibTransId="{9D53546A-6A37-BA46-BAB0-4DDB08863D15}"/>
    <dgm:cxn modelId="{31EACDB6-EE1C-0846-8C4D-C673B917934A}" type="presOf" srcId="{5D1CA7F3-A75C-6448-A523-5FABE807F5A9}" destId="{D17F29BC-E230-1844-A6A1-8F4F6F68C49F}" srcOrd="0" destOrd="1" presId="urn:microsoft.com/office/officeart/2005/8/layout/vList2"/>
    <dgm:cxn modelId="{156F19BF-EC88-A740-8E1F-B8C2CE01BFC5}" type="presOf" srcId="{B566E051-ABCE-CB40-80F5-9862FD9829B6}" destId="{91E01AC6-A8B3-924E-A851-7C3953B9C5AB}" srcOrd="0" destOrd="3" presId="urn:microsoft.com/office/officeart/2005/8/layout/vList2"/>
    <dgm:cxn modelId="{D938DBC0-20BA-2D49-BE6E-7603C67D70A3}" srcId="{40D9C8DE-F3F9-124E-9985-3EF20DC61E2B}" destId="{52173AB9-75C9-F041-A5BB-8A5D8CDFD4B3}" srcOrd="4" destOrd="0" parTransId="{ABBA6523-FA50-4C4B-B9FC-55DF3ED93BD5}" sibTransId="{CAB59B3C-D8A5-FA46-8F1E-10557F4C1357}"/>
    <dgm:cxn modelId="{062A34C3-7E73-B448-BD28-E63D2D810CF8}" type="presOf" srcId="{27857D61-6E5A-134B-B6F3-1DA1619ABB83}" destId="{B01EEC1D-575A-5F43-B5EE-EBEC78B21E27}" srcOrd="0" destOrd="0" presId="urn:microsoft.com/office/officeart/2005/8/layout/vList2"/>
    <dgm:cxn modelId="{BF77C9C5-005E-E941-AFF2-0697B9566008}" type="presOf" srcId="{2D973B45-6689-0F4E-A32A-EED785B32BFD}" destId="{91E01AC6-A8B3-924E-A851-7C3953B9C5AB}" srcOrd="0" destOrd="0" presId="urn:microsoft.com/office/officeart/2005/8/layout/vList2"/>
    <dgm:cxn modelId="{AC859EC7-2690-5546-8F99-A5C783C32D33}" srcId="{40D9C8DE-F3F9-124E-9985-3EF20DC61E2B}" destId="{DF1F59B6-DDFC-D44F-B1C9-343758A5C496}" srcOrd="3" destOrd="0" parTransId="{02CBCAA0-6CD3-0D4B-AC6E-9992D399DEA3}" sibTransId="{D5AB1AD7-7F91-8E48-95A7-CDE4869B63CC}"/>
    <dgm:cxn modelId="{71957ECC-378D-8041-8E7E-71714AF49061}" type="presOf" srcId="{52173AB9-75C9-F041-A5BB-8A5D8CDFD4B3}" destId="{F7C98FC9-AB5C-374D-AF12-657E309ADCB3}" srcOrd="0" destOrd="0" presId="urn:microsoft.com/office/officeart/2005/8/layout/vList2"/>
    <dgm:cxn modelId="{071FA8D1-2A9B-9640-AAB8-C6DBE869ABC8}" srcId="{65F57CC6-C856-9049-9EF5-4E14F9E9B45A}" destId="{A631DBE3-C93E-FA4E-8B0C-317644030556}" srcOrd="1" destOrd="0" parTransId="{A25F8E0D-9C89-234D-A862-F3FF5CE51EB1}" sibTransId="{40DCCDB9-84FF-814D-AFA5-90EDD6BF9AFD}"/>
    <dgm:cxn modelId="{674AD7D6-C371-DF40-9942-BFB4C492B13E}" srcId="{52173AB9-75C9-F041-A5BB-8A5D8CDFD4B3}" destId="{2E64113D-93C8-D04B-8821-7CA4C63371A3}" srcOrd="4" destOrd="0" parTransId="{A2F0C95E-9606-684B-9483-10BEE047AEAD}" sibTransId="{C35FD601-861C-E342-9424-EBD9D64060FB}"/>
    <dgm:cxn modelId="{5F89C3DB-670F-434B-AF8C-2FCB51839E02}" type="presOf" srcId="{331C0DF3-B7EB-604B-A4B7-17E430C68A6B}" destId="{35C1CF65-FE39-BF4D-894A-CB981DAE4F87}" srcOrd="0" destOrd="2" presId="urn:microsoft.com/office/officeart/2005/8/layout/vList2"/>
    <dgm:cxn modelId="{341132E0-B9D5-FD42-AA0D-E545D65C3D23}" type="presOf" srcId="{AD2624B8-3300-0C4F-A3D2-4740B85074F0}" destId="{91E01AC6-A8B3-924E-A851-7C3953B9C5AB}" srcOrd="0" destOrd="1" presId="urn:microsoft.com/office/officeart/2005/8/layout/vList2"/>
    <dgm:cxn modelId="{CF6575F2-E89D-DC4F-8F47-A023659B2641}" srcId="{52173AB9-75C9-F041-A5BB-8A5D8CDFD4B3}" destId="{2D973B45-6689-0F4E-A32A-EED785B32BFD}" srcOrd="0" destOrd="0" parTransId="{9582C2FE-0744-7F4E-9442-019B5AA9C6D5}" sibTransId="{8305A729-1414-4D44-A20C-37D5DFDB836E}"/>
    <dgm:cxn modelId="{0EFA5DF5-88C4-734B-B871-D8B4F76374DC}" srcId="{40D9C8DE-F3F9-124E-9985-3EF20DC61E2B}" destId="{F1A38DF3-F4E6-E143-9FF1-B7B5CDCC7D11}" srcOrd="1" destOrd="0" parTransId="{96F8235D-82DD-8D4A-BF17-994CBB1384A5}" sibTransId="{5A55922C-BB65-CD42-BC34-477E1D4FC048}"/>
    <dgm:cxn modelId="{9A81F3F8-A913-924A-A38C-9251A2047F08}" srcId="{F1A38DF3-F4E6-E143-9FF1-B7B5CDCC7D11}" destId="{331C0DF3-B7EB-604B-A4B7-17E430C68A6B}" srcOrd="2" destOrd="0" parTransId="{A0C91D7C-4726-AE46-8A0F-E779E7102302}" sibTransId="{4A0C6E88-2CC5-7441-9242-D8FE7D6D4E85}"/>
    <dgm:cxn modelId="{A378CB80-B5E7-C143-9F35-AE83E63899AE}" type="presParOf" srcId="{D9E9EA2F-0A8C-5547-8238-C8C036133772}" destId="{F38AC8A6-0497-384E-AC34-83B281126C41}" srcOrd="0" destOrd="0" presId="urn:microsoft.com/office/officeart/2005/8/layout/vList2"/>
    <dgm:cxn modelId="{9DF449D6-8DC7-1B4E-8F38-B5462DBF28F6}" type="presParOf" srcId="{D9E9EA2F-0A8C-5547-8238-C8C036133772}" destId="{B01EEC1D-575A-5F43-B5EE-EBEC78B21E27}" srcOrd="1" destOrd="0" presId="urn:microsoft.com/office/officeart/2005/8/layout/vList2"/>
    <dgm:cxn modelId="{EE9741E7-D94C-2D4C-962A-ADE6C62008EF}" type="presParOf" srcId="{D9E9EA2F-0A8C-5547-8238-C8C036133772}" destId="{0C88123E-99EF-B34F-82E6-F15FBDB3C271}" srcOrd="2" destOrd="0" presId="urn:microsoft.com/office/officeart/2005/8/layout/vList2"/>
    <dgm:cxn modelId="{805FD11E-551C-DB49-8870-53AC5AFEEA4C}" type="presParOf" srcId="{D9E9EA2F-0A8C-5547-8238-C8C036133772}" destId="{35C1CF65-FE39-BF4D-894A-CB981DAE4F87}" srcOrd="3" destOrd="0" presId="urn:microsoft.com/office/officeart/2005/8/layout/vList2"/>
    <dgm:cxn modelId="{8786C9AA-4048-7747-BBB0-3E41AB4B78B0}" type="presParOf" srcId="{D9E9EA2F-0A8C-5547-8238-C8C036133772}" destId="{642CC5E8-3DBD-CB4C-8E50-A7E91B4984DB}" srcOrd="4" destOrd="0" presId="urn:microsoft.com/office/officeart/2005/8/layout/vList2"/>
    <dgm:cxn modelId="{E97A03F5-C1D9-C740-A5C9-5F6BD982DEC2}" type="presParOf" srcId="{D9E9EA2F-0A8C-5547-8238-C8C036133772}" destId="{D17F29BC-E230-1844-A6A1-8F4F6F68C49F}" srcOrd="5" destOrd="0" presId="urn:microsoft.com/office/officeart/2005/8/layout/vList2"/>
    <dgm:cxn modelId="{7A17ABF2-7D8D-D444-8DBB-3CD426F22DE0}" type="presParOf" srcId="{D9E9EA2F-0A8C-5547-8238-C8C036133772}" destId="{F95724C9-3DAF-A64F-B0B5-CA002983EBD2}" srcOrd="6" destOrd="0" presId="urn:microsoft.com/office/officeart/2005/8/layout/vList2"/>
    <dgm:cxn modelId="{0C6FA29C-95FD-3E41-B7F3-0D4FBA771983}" type="presParOf" srcId="{D9E9EA2F-0A8C-5547-8238-C8C036133772}" destId="{6D8E8BF7-74FF-454A-94EC-E5FF359C2BBA}" srcOrd="7" destOrd="0" presId="urn:microsoft.com/office/officeart/2005/8/layout/vList2"/>
    <dgm:cxn modelId="{CB02D95C-6057-1F41-A217-193C1B83C34C}" type="presParOf" srcId="{D9E9EA2F-0A8C-5547-8238-C8C036133772}" destId="{F7C98FC9-AB5C-374D-AF12-657E309ADCB3}" srcOrd="8" destOrd="0" presId="urn:microsoft.com/office/officeart/2005/8/layout/vList2"/>
    <dgm:cxn modelId="{F712D0DA-BE36-AC47-A5C9-FC2E8C54063E}" type="presParOf" srcId="{D9E9EA2F-0A8C-5547-8238-C8C036133772}" destId="{91E01AC6-A8B3-924E-A851-7C3953B9C5AB}"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8FE6B-ABCF-6E4E-8806-F90732AC1948}">
      <dsp:nvSpPr>
        <dsp:cNvPr id="0" name=""/>
        <dsp:cNvSpPr/>
      </dsp:nvSpPr>
      <dsp:spPr>
        <a:xfrm rot="5400000">
          <a:off x="7088145" y="-3030618"/>
          <a:ext cx="776888" cy="7036790"/>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Font typeface="Wingdings" pitchFamily="2" charset="2"/>
            <a:buChar char="ü"/>
          </a:pPr>
          <a:r>
            <a:rPr lang="es-ES_tradnl" sz="1200" kern="1200" noProof="1">
              <a:solidFill>
                <a:schemeClr val="accent6"/>
              </a:solidFill>
            </a:rPr>
            <a:t>Presentación del Microcurrículo.  </a:t>
          </a:r>
        </a:p>
        <a:p>
          <a:pPr marL="114300" lvl="1" indent="-114300" algn="l" defTabSz="533400">
            <a:lnSpc>
              <a:spcPct val="90000"/>
            </a:lnSpc>
            <a:spcBef>
              <a:spcPct val="0"/>
            </a:spcBef>
            <a:spcAft>
              <a:spcPct val="15000"/>
            </a:spcAft>
            <a:buFont typeface="Wingdings" pitchFamily="2" charset="2"/>
            <a:buChar char="ü"/>
          </a:pPr>
          <a:r>
            <a:rPr lang="es-ES_tradnl" sz="1200" kern="1200" noProof="1">
              <a:solidFill>
                <a:schemeClr val="accent6"/>
              </a:solidFill>
            </a:rPr>
            <a:t> Concertación sobre la metodología y las formas de evaluación. </a:t>
          </a:r>
        </a:p>
        <a:p>
          <a:pPr marL="114300" lvl="1" indent="-114300" algn="l" defTabSz="533400">
            <a:lnSpc>
              <a:spcPct val="90000"/>
            </a:lnSpc>
            <a:spcBef>
              <a:spcPct val="0"/>
            </a:spcBef>
            <a:spcAft>
              <a:spcPct val="15000"/>
            </a:spcAft>
            <a:buFont typeface="Wingdings" pitchFamily="2" charset="2"/>
            <a:buChar char="ü"/>
          </a:pPr>
          <a:r>
            <a:rPr lang="es-ES_tradnl" sz="1200" kern="1200" noProof="1">
              <a:solidFill>
                <a:schemeClr val="accent6"/>
              </a:solidFill>
            </a:rPr>
            <a:t> Conceptos teóricos sobre conocimiento, epistemología y gnoseología. </a:t>
          </a:r>
        </a:p>
      </dsp:txBody>
      <dsp:txXfrm rot="-5400000">
        <a:off x="3958195" y="137257"/>
        <a:ext cx="6998865" cy="701038"/>
      </dsp:txXfrm>
    </dsp:sp>
    <dsp:sp modelId="{A1AC2153-90BB-3D4F-864F-62E454198EF6}">
      <dsp:nvSpPr>
        <dsp:cNvPr id="0" name=""/>
        <dsp:cNvSpPr/>
      </dsp:nvSpPr>
      <dsp:spPr>
        <a:xfrm>
          <a:off x="0" y="2221"/>
          <a:ext cx="3958194" cy="9711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s-ES_tradnl" sz="2700" kern="1200" noProof="1"/>
            <a:t>I PRESENTACIÓN DEL CURSO </a:t>
          </a:r>
        </a:p>
      </dsp:txBody>
      <dsp:txXfrm>
        <a:off x="47406" y="49627"/>
        <a:ext cx="3863382" cy="876298"/>
      </dsp:txXfrm>
    </dsp:sp>
    <dsp:sp modelId="{C64D437A-7212-944B-94B7-BE13D294DF34}">
      <dsp:nvSpPr>
        <dsp:cNvPr id="0" name=""/>
        <dsp:cNvSpPr/>
      </dsp:nvSpPr>
      <dsp:spPr>
        <a:xfrm rot="5400000">
          <a:off x="7088145" y="-2010952"/>
          <a:ext cx="776888" cy="7036790"/>
        </a:xfrm>
        <a:prstGeom prst="round2Same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s-ES_tradnl" sz="1200" kern="1200" noProof="1"/>
            <a:t>▪ Conocimiento científico y tecnológico, Invención, Innovación y tipos de innovación, desarrollo tecnológico, impacto social del conocimiento. </a:t>
          </a:r>
        </a:p>
      </dsp:txBody>
      <dsp:txXfrm rot="-5400000">
        <a:off x="3958195" y="1156923"/>
        <a:ext cx="6998865" cy="701038"/>
      </dsp:txXfrm>
    </dsp:sp>
    <dsp:sp modelId="{D280CB4D-E845-DA43-9892-1F52B9672522}">
      <dsp:nvSpPr>
        <dsp:cNvPr id="0" name=""/>
        <dsp:cNvSpPr/>
      </dsp:nvSpPr>
      <dsp:spPr>
        <a:xfrm>
          <a:off x="0" y="1021887"/>
          <a:ext cx="3958194" cy="97111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s-ES_tradnl" sz="2700" kern="1200" noProof="1"/>
            <a:t>II. Conceptualización básica </a:t>
          </a:r>
        </a:p>
      </dsp:txBody>
      <dsp:txXfrm>
        <a:off x="47406" y="1069293"/>
        <a:ext cx="3863382" cy="876298"/>
      </dsp:txXfrm>
    </dsp:sp>
    <dsp:sp modelId="{60114CBD-1ED7-EE4A-8452-469C1541391B}">
      <dsp:nvSpPr>
        <dsp:cNvPr id="0" name=""/>
        <dsp:cNvSpPr/>
      </dsp:nvSpPr>
      <dsp:spPr>
        <a:xfrm rot="5400000">
          <a:off x="7088145" y="-991285"/>
          <a:ext cx="776888" cy="7036790"/>
        </a:xfrm>
        <a:prstGeom prst="round2Same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s-ES_tradnl" sz="1200" b="0" i="0" kern="1200" noProof="1"/>
            <a:t>¿De qué manera la </a:t>
          </a:r>
          <a:r>
            <a:rPr lang="es-ES_tradnl" sz="1200" b="1" i="0" kern="1200" noProof="1"/>
            <a:t>integración</a:t>
          </a:r>
          <a:r>
            <a:rPr lang="es-ES_tradnl" sz="1200" b="0" i="0" kern="1200" noProof="1"/>
            <a:t> de variables dinámicas de entorno (huella digital en el LMS, elasticidad laboral y movilidad urbana) en un modelo de analítica predictiva, permite optimizar la detección temprana del riesgo de deserción en los estudiantes de la jornada nocturna de la ETITC Sede Centro?</a:t>
          </a:r>
          <a:endParaRPr lang="es-ES_tradnl" sz="1200" kern="1200" noProof="1"/>
        </a:p>
      </dsp:txBody>
      <dsp:txXfrm rot="-5400000">
        <a:off x="3958195" y="2176590"/>
        <a:ext cx="6998865" cy="701038"/>
      </dsp:txXfrm>
    </dsp:sp>
    <dsp:sp modelId="{7EC1C38C-F52E-F241-8EBE-C36A20BA16E7}">
      <dsp:nvSpPr>
        <dsp:cNvPr id="0" name=""/>
        <dsp:cNvSpPr/>
      </dsp:nvSpPr>
      <dsp:spPr>
        <a:xfrm>
          <a:off x="0" y="2041554"/>
          <a:ext cx="3958194" cy="9711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s-ES_tradnl" sz="2700" kern="1200" noProof="1"/>
            <a:t>III. Origen de una investigación. </a:t>
          </a:r>
        </a:p>
      </dsp:txBody>
      <dsp:txXfrm>
        <a:off x="47406" y="2088960"/>
        <a:ext cx="3863382" cy="876298"/>
      </dsp:txXfrm>
    </dsp:sp>
    <dsp:sp modelId="{90376C01-9386-3749-981F-9801BB779D5C}">
      <dsp:nvSpPr>
        <dsp:cNvPr id="0" name=""/>
        <dsp:cNvSpPr/>
      </dsp:nvSpPr>
      <dsp:spPr>
        <a:xfrm rot="5400000">
          <a:off x="7088145" y="28380"/>
          <a:ext cx="776888" cy="7036790"/>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s-ES_tradnl" sz="1200" kern="1200" noProof="1"/>
            <a:t>Uso de bases de datos como SPADIES 3.0, Moodle y el Observatorio de Movilidad de</a:t>
          </a:r>
        </a:p>
        <a:p>
          <a:pPr marL="114300" lvl="1" indent="-114300" algn="l" defTabSz="533400">
            <a:lnSpc>
              <a:spcPct val="90000"/>
            </a:lnSpc>
            <a:spcBef>
              <a:spcPct val="0"/>
            </a:spcBef>
            <a:spcAft>
              <a:spcPct val="15000"/>
            </a:spcAft>
            <a:buNone/>
          </a:pPr>
          <a:r>
            <a:rPr lang="es-ES_tradnl" sz="1200" kern="1200" noProof="1"/>
            <a:t>Bogotá. Ecuación de búsqueda: (deserción estudiantil AND machine learning AND educación</a:t>
          </a:r>
        </a:p>
        <a:p>
          <a:pPr marL="114300" lvl="1" indent="-114300" algn="l" defTabSz="533400">
            <a:lnSpc>
              <a:spcPct val="90000"/>
            </a:lnSpc>
            <a:spcBef>
              <a:spcPct val="0"/>
            </a:spcBef>
            <a:spcAft>
              <a:spcPct val="15000"/>
            </a:spcAft>
            <a:buNone/>
          </a:pPr>
          <a:r>
            <a:rPr lang="es-ES_tradnl" sz="1200" kern="1200" noProof="1"/>
            <a:t>técnica y tecnológica AND Colombia).</a:t>
          </a:r>
        </a:p>
      </dsp:txBody>
      <dsp:txXfrm rot="-5400000">
        <a:off x="3958195" y="3196256"/>
        <a:ext cx="6998865" cy="701038"/>
      </dsp:txXfrm>
    </dsp:sp>
    <dsp:sp modelId="{EE170F2D-7D98-684D-AFB2-C0D8F2556961}">
      <dsp:nvSpPr>
        <dsp:cNvPr id="0" name=""/>
        <dsp:cNvSpPr/>
      </dsp:nvSpPr>
      <dsp:spPr>
        <a:xfrm>
          <a:off x="0" y="3061220"/>
          <a:ext cx="3958194" cy="97111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s-ES_tradnl" sz="2700" kern="1200" noProof="1"/>
            <a:t>IV. Búsqueda de la información. </a:t>
          </a:r>
        </a:p>
      </dsp:txBody>
      <dsp:txXfrm>
        <a:off x="47406" y="3108626"/>
        <a:ext cx="3863382" cy="876298"/>
      </dsp:txXfrm>
    </dsp:sp>
    <dsp:sp modelId="{8C8549A4-53CF-E74C-9D63-ADAB6FF1D784}">
      <dsp:nvSpPr>
        <dsp:cNvPr id="0" name=""/>
        <dsp:cNvSpPr/>
      </dsp:nvSpPr>
      <dsp:spPr>
        <a:xfrm rot="5400000">
          <a:off x="7088145" y="1048047"/>
          <a:ext cx="776888" cy="7036790"/>
        </a:xfrm>
        <a:prstGeom prst="round2Same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s-ES_tradnl" sz="1200" kern="1200" noProof="1"/>
            <a:t>▪Gestores bibliográficos. </a:t>
          </a:r>
        </a:p>
        <a:p>
          <a:pPr marL="114300" lvl="1" indent="-114300" algn="l" defTabSz="533400">
            <a:lnSpc>
              <a:spcPct val="90000"/>
            </a:lnSpc>
            <a:spcBef>
              <a:spcPct val="0"/>
            </a:spcBef>
            <a:spcAft>
              <a:spcPct val="15000"/>
            </a:spcAft>
            <a:buChar char="•"/>
          </a:pPr>
          <a:r>
            <a:rPr lang="es-ES_tradnl" sz="1200" kern="1200" noProof="1"/>
            <a:t>▪ Construcción de referencias en Word según normas APA. </a:t>
          </a:r>
        </a:p>
      </dsp:txBody>
      <dsp:txXfrm rot="-5400000">
        <a:off x="3958195" y="4215923"/>
        <a:ext cx="6998865" cy="701038"/>
      </dsp:txXfrm>
    </dsp:sp>
    <dsp:sp modelId="{ACF4C44E-539E-6349-9B0E-C37CB6599EEF}">
      <dsp:nvSpPr>
        <dsp:cNvPr id="0" name=""/>
        <dsp:cNvSpPr/>
      </dsp:nvSpPr>
      <dsp:spPr>
        <a:xfrm>
          <a:off x="0" y="4080886"/>
          <a:ext cx="3958194" cy="97111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s-ES_tradnl" sz="2700" kern="1200" noProof="1"/>
            <a:t>V. Manejo de la información. </a:t>
          </a:r>
        </a:p>
      </dsp:txBody>
      <dsp:txXfrm>
        <a:off x="47406" y="4128292"/>
        <a:ext cx="3863382" cy="876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AC8A6-0497-384E-AC34-83B281126C41}">
      <dsp:nvSpPr>
        <dsp:cNvPr id="0" name=""/>
        <dsp:cNvSpPr/>
      </dsp:nvSpPr>
      <dsp:spPr>
        <a:xfrm>
          <a:off x="0" y="8320"/>
          <a:ext cx="6735443" cy="29483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_tradnl" sz="1200" kern="1200" noProof="1"/>
            <a:t>JUSTIFICACION</a:t>
          </a:r>
        </a:p>
      </dsp:txBody>
      <dsp:txXfrm>
        <a:off x="14393" y="22713"/>
        <a:ext cx="6706657" cy="266053"/>
      </dsp:txXfrm>
    </dsp:sp>
    <dsp:sp modelId="{B01EEC1D-575A-5F43-B5EE-EBEC78B21E27}">
      <dsp:nvSpPr>
        <dsp:cNvPr id="0" name=""/>
        <dsp:cNvSpPr/>
      </dsp:nvSpPr>
      <dsp:spPr>
        <a:xfrm>
          <a:off x="0" y="303160"/>
          <a:ext cx="6735443"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850" tIns="15240" rIns="85344" bIns="15240" numCol="1" spcCol="1270" anchor="t" anchorCtr="0">
          <a:noAutofit/>
        </a:bodyPr>
        <a:lstStyle/>
        <a:p>
          <a:pPr marL="57150" lvl="1" indent="-57150" algn="l" defTabSz="400050">
            <a:lnSpc>
              <a:spcPct val="90000"/>
            </a:lnSpc>
            <a:spcBef>
              <a:spcPct val="0"/>
            </a:spcBef>
            <a:spcAft>
              <a:spcPct val="20000"/>
            </a:spcAft>
            <a:buNone/>
          </a:pPr>
          <a:r>
            <a:rPr lang="es-ES_tradnl" sz="900" b="0" i="0" kern="1200" dirty="0"/>
            <a:t>El proyecto se alinea con el Plan de Desarrollo Institucional 2025-2032 que exige reducir la deserción en </a:t>
          </a:r>
          <a:r>
            <a:rPr lang="es-ES_tradnl" sz="900" b="1" i="0" kern="1200" dirty="0"/>
            <a:t>2.5 puntos porcentuales</a:t>
          </a:r>
          <a:r>
            <a:rPr lang="es-ES_tradnl" sz="900" b="0" i="0" kern="1200" dirty="0"/>
            <a:t>. El modelo no solo detecta el riesgo, sino que permitirá proponer </a:t>
          </a:r>
          <a:r>
            <a:rPr lang="es-ES_tradnl" sz="900" b="1" i="0" kern="1200" dirty="0"/>
            <a:t>remediaciones (soluciones)</a:t>
          </a:r>
          <a:r>
            <a:rPr lang="es-ES_tradnl" sz="900" b="0" i="0" kern="1200" dirty="0"/>
            <a:t> automáticas, impactando directamente en la </a:t>
          </a:r>
          <a:r>
            <a:rPr lang="es-ES_tradnl" sz="900" b="1" i="0" kern="1200" dirty="0"/>
            <a:t>equidad</a:t>
          </a:r>
          <a:r>
            <a:rPr lang="es-ES_tradnl" sz="900" b="0" i="0" kern="1200" dirty="0"/>
            <a:t> y permanencia de la población trabajadora nocturna.</a:t>
          </a:r>
          <a:endParaRPr lang="es-ES_tradnl" sz="900" kern="1200" noProof="1"/>
        </a:p>
        <a:p>
          <a:pPr marL="57150" lvl="1" indent="-57150" algn="l" defTabSz="400050">
            <a:lnSpc>
              <a:spcPct val="90000"/>
            </a:lnSpc>
            <a:spcBef>
              <a:spcPct val="0"/>
            </a:spcBef>
            <a:spcAft>
              <a:spcPct val="20000"/>
            </a:spcAft>
            <a:buFont typeface="Wingdings" pitchFamily="2" charset="2"/>
            <a:buNone/>
          </a:pPr>
          <a:r>
            <a:rPr lang="es-ES_tradnl" sz="900" kern="1200" noProof="1"/>
            <a:t>✓Deserción, tiempo, huella digital en LMS, movilidad urbana.</a:t>
          </a:r>
        </a:p>
        <a:p>
          <a:pPr marL="57150" lvl="1" indent="-57150" algn="l" defTabSz="400050">
            <a:lnSpc>
              <a:spcPct val="90000"/>
            </a:lnSpc>
            <a:spcBef>
              <a:spcPct val="0"/>
            </a:spcBef>
            <a:spcAft>
              <a:spcPct val="20000"/>
            </a:spcAft>
            <a:buNone/>
          </a:pPr>
          <a:r>
            <a:rPr lang="es-ES_tradnl" sz="900" kern="1200" noProof="1"/>
            <a:t>✓ Los sistemas actuales (Adviser V.11 y RUSIA) dependen de datos estáticos y no monitorean variables de flujo semanal.</a:t>
          </a:r>
        </a:p>
        <a:p>
          <a:pPr marL="57150" lvl="1" indent="-57150" algn="l" defTabSz="400050">
            <a:lnSpc>
              <a:spcPct val="90000"/>
            </a:lnSpc>
            <a:spcBef>
              <a:spcPct val="0"/>
            </a:spcBef>
            <a:spcAft>
              <a:spcPct val="20000"/>
            </a:spcAft>
            <a:buNone/>
          </a:pPr>
          <a:r>
            <a:rPr lang="es-ES_tradnl" sz="900" kern="1200" noProof="1"/>
            <a:t>✓ El proyecto propone una gestión de retención prospectiva y automatizada en lugar de una respuesta institucional reactiva.</a:t>
          </a:r>
        </a:p>
      </dsp:txBody>
      <dsp:txXfrm>
        <a:off x="0" y="303160"/>
        <a:ext cx="6735443" cy="869400"/>
      </dsp:txXfrm>
    </dsp:sp>
    <dsp:sp modelId="{0C88123E-99EF-B34F-82E6-F15FBDB3C271}">
      <dsp:nvSpPr>
        <dsp:cNvPr id="0" name=""/>
        <dsp:cNvSpPr/>
      </dsp:nvSpPr>
      <dsp:spPr>
        <a:xfrm>
          <a:off x="0" y="1172560"/>
          <a:ext cx="6735443" cy="294839"/>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_tradnl" sz="1200" kern="1200" noProof="1"/>
            <a:t>OBJETIVOS</a:t>
          </a:r>
        </a:p>
      </dsp:txBody>
      <dsp:txXfrm>
        <a:off x="14393" y="1186953"/>
        <a:ext cx="6706657" cy="266053"/>
      </dsp:txXfrm>
    </dsp:sp>
    <dsp:sp modelId="{35C1CF65-FE39-BF4D-894A-CB981DAE4F87}">
      <dsp:nvSpPr>
        <dsp:cNvPr id="0" name=""/>
        <dsp:cNvSpPr/>
      </dsp:nvSpPr>
      <dsp:spPr>
        <a:xfrm>
          <a:off x="0" y="1467400"/>
          <a:ext cx="6735443"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850" tIns="15240" rIns="85344" bIns="15240" numCol="1" spcCol="1270" anchor="t" anchorCtr="0">
          <a:noAutofit/>
        </a:bodyPr>
        <a:lstStyle/>
        <a:p>
          <a:pPr marL="57150" lvl="1" indent="-57150" algn="l" defTabSz="400050">
            <a:lnSpc>
              <a:spcPct val="90000"/>
            </a:lnSpc>
            <a:spcBef>
              <a:spcPct val="0"/>
            </a:spcBef>
            <a:spcAft>
              <a:spcPct val="20000"/>
            </a:spcAft>
            <a:buChar char="•"/>
          </a:pPr>
          <a:r>
            <a:rPr lang="es-ES_tradnl" sz="900" b="0" i="0" kern="1200" noProof="1"/>
            <a:t>Prototipar un modelo de analítica predictiva basado en Machine Learning que integre variables dinámicas para la detección temprana del riesgo de deserción en la jornada nocturna de la ETITC Sede Centro.</a:t>
          </a:r>
          <a:endParaRPr lang="es-ES_tradnl" sz="900" kern="1200" noProof="1"/>
        </a:p>
        <a:p>
          <a:pPr marL="57150" lvl="1" indent="-57150" algn="l" defTabSz="400050">
            <a:lnSpc>
              <a:spcPct val="90000"/>
            </a:lnSpc>
            <a:spcBef>
              <a:spcPct val="0"/>
            </a:spcBef>
            <a:spcAft>
              <a:spcPct val="20000"/>
            </a:spcAft>
            <a:buChar char="•"/>
          </a:pPr>
          <a:r>
            <a:rPr lang="es-ES_tradnl" sz="900" b="1" i="1" kern="1200" noProof="1"/>
            <a:t>Categorizar</a:t>
          </a:r>
          <a:r>
            <a:rPr lang="es-ES_tradnl" sz="900" b="0" i="1" kern="1200" noProof="1"/>
            <a:t> las variables dinámicas (LMS, movilidad y carga laboral) de mayor impacto en la persistencia académica mediante informes institucionales.</a:t>
          </a:r>
          <a:endParaRPr lang="es-ES_tradnl" sz="900" i="1" kern="1200" noProof="1"/>
        </a:p>
        <a:p>
          <a:pPr marL="57150" lvl="1" indent="-57150" algn="l" defTabSz="400050">
            <a:lnSpc>
              <a:spcPct val="90000"/>
            </a:lnSpc>
            <a:spcBef>
              <a:spcPct val="0"/>
            </a:spcBef>
            <a:spcAft>
              <a:spcPct val="20000"/>
            </a:spcAft>
            <a:buChar char="•"/>
          </a:pPr>
          <a:r>
            <a:rPr lang="es-ES_tradnl" sz="900" b="1" i="1" kern="1200" noProof="1"/>
            <a:t>Diseñar</a:t>
          </a:r>
          <a:r>
            <a:rPr lang="es-ES_tradnl" sz="900" b="0" i="1" kern="1200" noProof="1"/>
            <a:t> la arquitectura técnica de un modelo predictivo capaz de procesar flujo de datos semanal.</a:t>
          </a:r>
          <a:endParaRPr lang="es-ES_tradnl" sz="900" i="1" kern="1200" noProof="1"/>
        </a:p>
        <a:p>
          <a:pPr marL="57150" lvl="1" indent="-57150" algn="l" defTabSz="400050">
            <a:lnSpc>
              <a:spcPct val="90000"/>
            </a:lnSpc>
            <a:spcBef>
              <a:spcPct val="0"/>
            </a:spcBef>
            <a:spcAft>
              <a:spcPct val="20000"/>
            </a:spcAft>
            <a:buChar char="•"/>
          </a:pPr>
          <a:r>
            <a:rPr lang="es-ES_tradnl" sz="900" b="1" i="1" kern="1200" noProof="1"/>
            <a:t>Validar</a:t>
          </a:r>
          <a:r>
            <a:rPr lang="es-ES_tradnl" sz="900" b="0" i="1" kern="1200" noProof="1"/>
            <a:t> la precisión del modelo mediante pruebas de rendimiento para asegurar alertas tempranas oportunas.</a:t>
          </a:r>
          <a:endParaRPr lang="es-ES_tradnl" sz="900" i="1" kern="1200" noProof="1"/>
        </a:p>
      </dsp:txBody>
      <dsp:txXfrm>
        <a:off x="0" y="1467400"/>
        <a:ext cx="6735443" cy="869400"/>
      </dsp:txXfrm>
    </dsp:sp>
    <dsp:sp modelId="{642CC5E8-3DBD-CB4C-8E50-A7E91B4984DB}">
      <dsp:nvSpPr>
        <dsp:cNvPr id="0" name=""/>
        <dsp:cNvSpPr/>
      </dsp:nvSpPr>
      <dsp:spPr>
        <a:xfrm>
          <a:off x="0" y="2336801"/>
          <a:ext cx="6735443" cy="294839"/>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_tradnl" sz="1200" kern="1200" noProof="1"/>
            <a:t>HIPOTESIS</a:t>
          </a:r>
        </a:p>
      </dsp:txBody>
      <dsp:txXfrm>
        <a:off x="14393" y="2351194"/>
        <a:ext cx="6706657" cy="266053"/>
      </dsp:txXfrm>
    </dsp:sp>
    <dsp:sp modelId="{D17F29BC-E230-1844-A6A1-8F4F6F68C49F}">
      <dsp:nvSpPr>
        <dsp:cNvPr id="0" name=""/>
        <dsp:cNvSpPr/>
      </dsp:nvSpPr>
      <dsp:spPr>
        <a:xfrm>
          <a:off x="0" y="2631640"/>
          <a:ext cx="6735443"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850" tIns="15240" rIns="85344" bIns="15240" numCol="1" spcCol="1270" anchor="t" anchorCtr="0">
          <a:noAutofit/>
        </a:bodyPr>
        <a:lstStyle/>
        <a:p>
          <a:pPr marL="57150" lvl="1" indent="-57150" algn="l" defTabSz="400050">
            <a:lnSpc>
              <a:spcPct val="90000"/>
            </a:lnSpc>
            <a:spcBef>
              <a:spcPct val="0"/>
            </a:spcBef>
            <a:spcAft>
              <a:spcPct val="20000"/>
            </a:spcAft>
            <a:buChar char="•"/>
          </a:pPr>
          <a:r>
            <a:rPr lang="es-ES_tradnl" sz="900" b="1" i="0" kern="1200" dirty="0"/>
            <a:t>RELACIÓN DE VARIABLES:</a:t>
          </a:r>
          <a:r>
            <a:rPr lang="es-ES_tradnl" sz="900" b="0" i="0" kern="1200" dirty="0"/>
            <a:t> La integración de variables dinámicas (huella digital en LMS, movilidad urbana y elasticidad laboral) actúa como predictor del riesgo de deserción.</a:t>
          </a:r>
          <a:endParaRPr lang="es-ES_tradnl" sz="900" kern="1200" noProof="1"/>
        </a:p>
        <a:p>
          <a:pPr marL="57150" lvl="1" indent="-57150" algn="l" defTabSz="400050">
            <a:lnSpc>
              <a:spcPct val="90000"/>
            </a:lnSpc>
            <a:spcBef>
              <a:spcPct val="0"/>
            </a:spcBef>
            <a:spcAft>
              <a:spcPct val="20000"/>
            </a:spcAft>
            <a:buChar char="•"/>
          </a:pPr>
          <a:r>
            <a:rPr lang="es-ES_tradnl" sz="900" b="1" i="0" kern="1200" dirty="0"/>
            <a:t>AFIRMACIÓN:</a:t>
          </a:r>
          <a:r>
            <a:rPr lang="es-ES_tradnl" sz="900" b="0" i="0" kern="1200" dirty="0"/>
            <a:t> El uso de un modelo predictivo basado en estas variables aumentará significativamente la precisión de la detección temprana en comparación con los sistemas estáticos actuales (</a:t>
          </a:r>
          <a:r>
            <a:rPr lang="es-ES_tradnl" sz="900" b="0" i="0" kern="1200" dirty="0" err="1"/>
            <a:t>Adviser</a:t>
          </a:r>
          <a:r>
            <a:rPr lang="es-ES_tradnl" sz="900" b="0" i="0" kern="1200" dirty="0"/>
            <a:t> V.11 y RUSIA).</a:t>
          </a:r>
          <a:endParaRPr lang="es-ES_tradnl" sz="900" kern="1200" noProof="1"/>
        </a:p>
      </dsp:txBody>
      <dsp:txXfrm>
        <a:off x="0" y="2631640"/>
        <a:ext cx="6735443" cy="571320"/>
      </dsp:txXfrm>
    </dsp:sp>
    <dsp:sp modelId="{F95724C9-3DAF-A64F-B0B5-CA002983EBD2}">
      <dsp:nvSpPr>
        <dsp:cNvPr id="0" name=""/>
        <dsp:cNvSpPr/>
      </dsp:nvSpPr>
      <dsp:spPr>
        <a:xfrm>
          <a:off x="0" y="3202961"/>
          <a:ext cx="6735443" cy="294839"/>
        </a:xfrm>
        <a:prstGeom prst="roundRect">
          <a:avLst/>
        </a:prstGeom>
        <a:solidFill>
          <a:schemeClr val="accent2">
            <a:hueOff val="4832709"/>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_tradnl" sz="1200" kern="1200" noProof="1"/>
            <a:t>METODOLOGIA</a:t>
          </a:r>
        </a:p>
      </dsp:txBody>
      <dsp:txXfrm>
        <a:off x="14393" y="3217354"/>
        <a:ext cx="6706657" cy="266053"/>
      </dsp:txXfrm>
    </dsp:sp>
    <dsp:sp modelId="{6D8E8BF7-74FF-454A-94EC-E5FF359C2BBA}">
      <dsp:nvSpPr>
        <dsp:cNvPr id="0" name=""/>
        <dsp:cNvSpPr/>
      </dsp:nvSpPr>
      <dsp:spPr>
        <a:xfrm>
          <a:off x="0" y="3497801"/>
          <a:ext cx="6735443"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850" tIns="15240" rIns="85344" bIns="15240" numCol="1" spcCol="1270" anchor="t" anchorCtr="0">
          <a:noAutofit/>
        </a:bodyPr>
        <a:lstStyle/>
        <a:p>
          <a:pPr marL="57150" lvl="1" indent="-57150" algn="l" defTabSz="400050">
            <a:lnSpc>
              <a:spcPct val="90000"/>
            </a:lnSpc>
            <a:spcBef>
              <a:spcPct val="0"/>
            </a:spcBef>
            <a:spcAft>
              <a:spcPct val="20000"/>
            </a:spcAft>
            <a:buChar char="•"/>
          </a:pPr>
          <a:r>
            <a:rPr lang="es-ES_tradnl" sz="900" b="1" i="0" kern="1200" dirty="0"/>
            <a:t>ENFOQUE:</a:t>
          </a:r>
          <a:r>
            <a:rPr lang="es-ES_tradnl" sz="900" b="0" i="0" kern="1200" dirty="0"/>
            <a:t> Cuantitativo.</a:t>
          </a:r>
          <a:endParaRPr lang="es-ES_tradnl" sz="900" kern="1200" noProof="1"/>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TIPO:</a:t>
          </a:r>
          <a:r>
            <a:rPr lang="es-ES_tradnl" sz="900" b="0" i="0" kern="1200" dirty="0"/>
            <a:t> Investigación aplicada, descriptiva y predictiva.</a:t>
          </a:r>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PROCESO:</a:t>
          </a:r>
          <a:r>
            <a:rPr lang="es-ES_tradnl" sz="900" b="0" i="0" kern="1200" dirty="0"/>
            <a:t> Ciclo de vida de 5 fases: 1. Gestión Institucional, 2. Ingesta de Datos, 3. Ingeniería de Características, 4. Modelado (</a:t>
          </a:r>
          <a:r>
            <a:rPr lang="es-ES_tradnl" sz="900" b="0" i="0" kern="1200" dirty="0" err="1"/>
            <a:t>XGBoost</a:t>
          </a:r>
          <a:r>
            <a:rPr lang="es-ES_tradnl" sz="900" b="0" i="0" kern="1200" dirty="0"/>
            <a:t>/</a:t>
          </a:r>
          <a:r>
            <a:rPr lang="es-ES_tradnl" sz="900" b="0" i="0" kern="1200" dirty="0" err="1"/>
            <a:t>Random</a:t>
          </a:r>
          <a:r>
            <a:rPr lang="es-ES_tradnl" sz="900" b="0" i="0" kern="1200" dirty="0"/>
            <a:t> Forest), 5. Validación (Matriz de Confusión).</a:t>
          </a:r>
        </a:p>
      </dsp:txBody>
      <dsp:txXfrm>
        <a:off x="0" y="3497801"/>
        <a:ext cx="6735443" cy="596160"/>
      </dsp:txXfrm>
    </dsp:sp>
    <dsp:sp modelId="{F7C98FC9-AB5C-374D-AF12-657E309ADCB3}">
      <dsp:nvSpPr>
        <dsp:cNvPr id="0" name=""/>
        <dsp:cNvSpPr/>
      </dsp:nvSpPr>
      <dsp:spPr>
        <a:xfrm>
          <a:off x="0" y="4093961"/>
          <a:ext cx="6735443" cy="294839"/>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_tradnl" sz="1200" kern="1200" noProof="1"/>
            <a:t>MARCOS</a:t>
          </a:r>
        </a:p>
      </dsp:txBody>
      <dsp:txXfrm>
        <a:off x="14393" y="4108354"/>
        <a:ext cx="6706657" cy="266053"/>
      </dsp:txXfrm>
    </dsp:sp>
    <dsp:sp modelId="{91E01AC6-A8B3-924E-A851-7C3953B9C5AB}">
      <dsp:nvSpPr>
        <dsp:cNvPr id="0" name=""/>
        <dsp:cNvSpPr/>
      </dsp:nvSpPr>
      <dsp:spPr>
        <a:xfrm>
          <a:off x="0" y="4388801"/>
          <a:ext cx="6735443" cy="1167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850" tIns="15240" rIns="85344" bIns="15240" numCol="1" spcCol="1270" anchor="t" anchorCtr="0">
          <a:noAutofit/>
        </a:bodyPr>
        <a:lstStyle/>
        <a:p>
          <a:pPr marL="57150" lvl="1" indent="-57150" algn="l" defTabSz="400050">
            <a:lnSpc>
              <a:spcPct val="90000"/>
            </a:lnSpc>
            <a:spcBef>
              <a:spcPct val="0"/>
            </a:spcBef>
            <a:spcAft>
              <a:spcPct val="20000"/>
            </a:spcAft>
            <a:buChar char="•"/>
          </a:pPr>
          <a:r>
            <a:rPr lang="es-ES_tradnl" sz="900" b="1" i="0" kern="1200" dirty="0"/>
            <a:t>NORMATIVO:</a:t>
          </a:r>
          <a:r>
            <a:rPr lang="es-ES_tradnl" sz="900" b="0" i="0" kern="1200" dirty="0"/>
            <a:t> Ley 1581 de 2012 (Protección de datos personales en Colombia) y Plan de Desarrollo Institucional ETITC 2025-2032.</a:t>
          </a:r>
          <a:endParaRPr lang="es-ES_tradnl" sz="900" kern="1200" noProof="1"/>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CONCEPTUAL:</a:t>
          </a:r>
          <a:r>
            <a:rPr lang="es-ES_tradnl" sz="900" b="0" i="0" kern="1200" dirty="0"/>
            <a:t> Deserción estudiantil, elasticidad laboral, "pobreza de tiempo" y fatiga por movilidad urbana.</a:t>
          </a:r>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TEÓRICO:</a:t>
          </a:r>
          <a:r>
            <a:rPr lang="es-ES_tradnl" sz="900" b="0" i="0" kern="1200" dirty="0"/>
            <a:t> Machine </a:t>
          </a:r>
          <a:r>
            <a:rPr lang="es-ES_tradnl" sz="900" b="0" i="0" kern="1200" dirty="0" err="1"/>
            <a:t>Learning</a:t>
          </a:r>
          <a:r>
            <a:rPr lang="es-ES_tradnl" sz="900" b="0" i="0" kern="1200" dirty="0"/>
            <a:t> aplicado a la retención educativa y modelos de análisis de supervivencia académica.</a:t>
          </a:r>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AMBIENTAL:</a:t>
          </a:r>
          <a:r>
            <a:rPr lang="es-ES_tradnl" sz="900" b="0" i="0" kern="1200" dirty="0"/>
            <a:t> Contexto socio-laboral del estudiante de jornada nocturna y el impacto del entorno urbano de Bogotá (movilidad sistémica) en la permanencia.</a:t>
          </a:r>
        </a:p>
        <a:p>
          <a:pPr marL="57150" lvl="1" indent="-57150" algn="l" defTabSz="400050">
            <a:lnSpc>
              <a:spcPct val="90000"/>
            </a:lnSpc>
            <a:spcBef>
              <a:spcPct val="0"/>
            </a:spcBef>
            <a:spcAft>
              <a:spcPct val="20000"/>
            </a:spcAft>
            <a:buFont typeface="Arial" panose="020B0604020202020204" pitchFamily="34" charset="0"/>
            <a:buChar char="•"/>
          </a:pPr>
          <a:r>
            <a:rPr lang="es-ES_tradnl" sz="900" b="1" i="0" kern="1200" dirty="0"/>
            <a:t>TECNOLÓGICO:</a:t>
          </a:r>
          <a:r>
            <a:rPr lang="es-ES_tradnl" sz="900" b="0" i="0" kern="1200" dirty="0"/>
            <a:t> Python (Pandas, </a:t>
          </a:r>
          <a:r>
            <a:rPr lang="es-ES_tradnl" sz="900" b="0" i="0" kern="1200" dirty="0" err="1"/>
            <a:t>Scikit-learn</a:t>
          </a:r>
          <a:r>
            <a:rPr lang="es-ES_tradnl" sz="900" b="0" i="0" kern="1200" dirty="0"/>
            <a:t>), SQL, </a:t>
          </a:r>
          <a:r>
            <a:rPr lang="es-ES_tradnl" sz="900" b="0" i="0" kern="1200" dirty="0" err="1"/>
            <a:t>APIs</a:t>
          </a:r>
          <a:r>
            <a:rPr lang="es-ES_tradnl" sz="900" b="0" i="0" kern="1200" dirty="0"/>
            <a:t> de movilidad (Google/</a:t>
          </a:r>
          <a:r>
            <a:rPr lang="es-ES_tradnl" sz="900" b="0" i="0" kern="1200" dirty="0" err="1"/>
            <a:t>Waze</a:t>
          </a:r>
          <a:r>
            <a:rPr lang="es-ES_tradnl" sz="900" b="0" i="0" kern="1200" dirty="0"/>
            <a:t>) y registros (logs) de plataforma Moodle (LMS).</a:t>
          </a:r>
        </a:p>
      </dsp:txBody>
      <dsp:txXfrm>
        <a:off x="0" y="4388801"/>
        <a:ext cx="6735443" cy="116748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0E6F89-569D-A606-6F19-038BA615996D}"/>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4B9C66CB-83A0-6636-A842-6DE8C7AC58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8C2B15F4-689D-6E3F-6AC8-B54D78773BFA}"/>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29273B62-C216-BB39-BAE4-02EB9D5ECC8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CD86636-47D2-F172-DBD1-002E3AA52C51}"/>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242201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4C235-79CA-7B1A-D04E-7772696B9683}"/>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E9EE6826-EB44-B264-95EC-F8A2027AAEAC}"/>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81A0036-5C85-4CE2-7254-C0801082F456}"/>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76C157C0-A8BC-72CD-3C30-1712D288F30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113D9F1-CFCB-48C8-0787-747BD475014B}"/>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650531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DAA885-B473-1FFD-30F9-D793333ED36F}"/>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2A2A865-FEE7-5C13-0743-69151D4DF6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A0DCB3B-1B4D-2050-4BC4-26074B705548}"/>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E3F552C4-5767-F070-2C01-7D760620A0B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A3C0E33-F003-A1CC-8ACC-AE6EDFBD4F84}"/>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87534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D53BB4-7E39-878E-E009-BA91E3C65E8C}"/>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107AFC3B-9BBA-7027-1D3A-C053E0EE83C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E9AD3B7A-9E1E-F831-8325-B961B6F7D69A}"/>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56DC1F93-6FCE-2EAB-C35D-00129E633875}"/>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6" name="Marcador de pie de página 5">
            <a:extLst>
              <a:ext uri="{FF2B5EF4-FFF2-40B4-BE49-F238E27FC236}">
                <a16:creationId xmlns:a16="http://schemas.microsoft.com/office/drawing/2014/main" id="{A023FD61-C7B0-7FE4-8C06-4CFEFE1AA71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661EBAC-DF23-6072-F818-A6EFE7556A50}"/>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2917456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6903FF-8D21-1E0C-8EBA-C34C9649DD3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C1D6281-6A49-6E3E-4CAD-8612E2669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1E0A3DCB-0F4A-860C-B58E-651B9997BA70}"/>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DECC2006-233C-8C7D-68AD-564D5BFA7A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28570A2-6592-B060-6DF1-746A808CA28F}"/>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1C202149-ADA2-2FC7-C49B-E00004DD724F}"/>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8" name="Marcador de pie de página 7">
            <a:extLst>
              <a:ext uri="{FF2B5EF4-FFF2-40B4-BE49-F238E27FC236}">
                <a16:creationId xmlns:a16="http://schemas.microsoft.com/office/drawing/2014/main" id="{74C34EDA-5EC7-67F7-2E3F-F546B6930AB9}"/>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0756109-AF51-B012-67FD-B14601E809DB}"/>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2567462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A45145-0907-DD7A-4A5C-578F77053A95}"/>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AB849C27-0A68-DE51-7152-2023A1A0F79E}"/>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4" name="Marcador de pie de página 3">
            <a:extLst>
              <a:ext uri="{FF2B5EF4-FFF2-40B4-BE49-F238E27FC236}">
                <a16:creationId xmlns:a16="http://schemas.microsoft.com/office/drawing/2014/main" id="{2AE55F55-0AE2-1C36-2503-8D7DEA5B66F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2E575916-00B8-4018-7C6D-39660174E8EB}"/>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3703277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03F5F0B-AD52-3E85-524A-DEA339190FDE}"/>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3" name="Marcador de pie de página 2">
            <a:extLst>
              <a:ext uri="{FF2B5EF4-FFF2-40B4-BE49-F238E27FC236}">
                <a16:creationId xmlns:a16="http://schemas.microsoft.com/office/drawing/2014/main" id="{E8773726-7077-BFA5-DF40-3E4A23EAD590}"/>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520EBE-FB5D-8DF7-20E2-C41427B9E58F}"/>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3029092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50711-2D57-BF38-BE96-77666B9685A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8CF051C0-0220-6427-99D9-EA102FEBA0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1DB9706F-68A4-EC4D-26A7-B03FD606E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6596AD4-321B-320F-D93D-851844DE8EBC}"/>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6" name="Marcador de pie de página 5">
            <a:extLst>
              <a:ext uri="{FF2B5EF4-FFF2-40B4-BE49-F238E27FC236}">
                <a16:creationId xmlns:a16="http://schemas.microsoft.com/office/drawing/2014/main" id="{87FBB8EB-8CED-FD23-7F2F-35A6CA444A2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9A02A88-CE71-6C17-55DA-C0811AE9B29F}"/>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1594822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E827BC-4B1F-E8C3-CA65-A8A51B0A572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3034CC8D-639A-A6AF-68A7-85702AADAC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DA2C530-5776-C06A-7D11-C955DA8CF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16CCA07-2249-34C1-8336-0B6A6176FEED}"/>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6" name="Marcador de pie de página 5">
            <a:extLst>
              <a:ext uri="{FF2B5EF4-FFF2-40B4-BE49-F238E27FC236}">
                <a16:creationId xmlns:a16="http://schemas.microsoft.com/office/drawing/2014/main" id="{E1D65B43-0984-8FD9-4424-EAB00C6445D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3D89098-34EE-8F61-B76E-8FD3DE430F97}"/>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214314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084BE-5065-F349-E057-BA8033B1D8E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EC6CBE56-2F36-43B5-18A8-3D9A5707BA4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8C879CA6-C8A9-1DAC-FD42-13A9DB5DED8D}"/>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3BBE585C-7DA7-09A2-8B66-07DF46ED7D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B06DA3-C9D4-F05A-74CB-D8BCFE180034}"/>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941846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54202E-F88B-7669-7B3C-1E58EA7CD53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33F2673-51B5-D5CC-22FF-382D29D24C6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D2A9DA1-63ED-5B12-EB60-9144F3BA302B}"/>
              </a:ext>
            </a:extLst>
          </p:cNvPr>
          <p:cNvSpPr>
            <a:spLocks noGrp="1"/>
          </p:cNvSpPr>
          <p:nvPr>
            <p:ph type="dt" sz="half" idx="10"/>
          </p:nvPr>
        </p:nvSpPr>
        <p:spPr/>
        <p:txBody>
          <a:body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A205D8EA-2BB8-9877-A475-687ED6C1C44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F95438-7BCB-B043-1C92-CB1333A408A3}"/>
              </a:ext>
            </a:extLst>
          </p:cNvPr>
          <p:cNvSpPr>
            <a:spLocks noGrp="1"/>
          </p:cNvSpPr>
          <p:nvPr>
            <p:ph type="sldNum" sz="quarter" idx="12"/>
          </p:nvPr>
        </p:nvSpPr>
        <p:spPr/>
        <p:txBody>
          <a:bodyPr/>
          <a:lstStyle/>
          <a:p>
            <a:fld id="{AF42E6C0-AF78-9F42-9366-96F8C162E138}" type="slidenum">
              <a:rPr lang="es-CO" smtClean="0"/>
              <a:t>‹#›</a:t>
            </a:fld>
            <a:endParaRPr lang="es-CO"/>
          </a:p>
        </p:txBody>
      </p:sp>
    </p:spTree>
    <p:extLst>
      <p:ext uri="{BB962C8B-B14F-4D97-AF65-F5344CB8AC3E}">
        <p14:creationId xmlns:p14="http://schemas.microsoft.com/office/powerpoint/2010/main" val="129716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469083-10DA-F95D-CE79-47F075DEDD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B2F90D37-44E0-BFC4-C47B-3C720044A9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0CA427D3-9D53-C6DE-3DDA-239BC82516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44F8A8-A267-B942-B7E8-332CEB7B1ECE}" type="datetimeFigureOut">
              <a:rPr lang="es-CO" smtClean="0"/>
              <a:t>27/05/26</a:t>
            </a:fld>
            <a:endParaRPr lang="es-CO"/>
          </a:p>
        </p:txBody>
      </p:sp>
      <p:sp>
        <p:nvSpPr>
          <p:cNvPr id="5" name="Marcador de pie de página 4">
            <a:extLst>
              <a:ext uri="{FF2B5EF4-FFF2-40B4-BE49-F238E27FC236}">
                <a16:creationId xmlns:a16="http://schemas.microsoft.com/office/drawing/2014/main" id="{20E26FE1-48F5-4A54-817E-C0675DF126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79DF59AA-7A09-5861-CAF9-72E572CE8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42E6C0-AF78-9F42-9366-96F8C162E138}" type="slidenum">
              <a:rPr lang="es-CO" smtClean="0"/>
              <a:t>‹#›</a:t>
            </a:fld>
            <a:endParaRPr lang="es-CO"/>
          </a:p>
        </p:txBody>
      </p:sp>
    </p:spTree>
    <p:extLst>
      <p:ext uri="{BB962C8B-B14F-4D97-AF65-F5344CB8AC3E}">
        <p14:creationId xmlns:p14="http://schemas.microsoft.com/office/powerpoint/2010/main" val="727221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BC92D-E098-323F-BA7A-DF1C18E8F5AA}"/>
              </a:ext>
            </a:extLst>
          </p:cNvPr>
          <p:cNvSpPr>
            <a:spLocks noGrp="1"/>
          </p:cNvSpPr>
          <p:nvPr>
            <p:ph type="ctrTitle"/>
          </p:nvPr>
        </p:nvSpPr>
        <p:spPr/>
        <p:txBody>
          <a:bodyPr/>
          <a:lstStyle/>
          <a:p>
            <a:r>
              <a:rPr lang="es-ES_tradnl" noProof="1">
                <a:solidFill>
                  <a:schemeClr val="accent5">
                    <a:lumMod val="75000"/>
                  </a:schemeClr>
                </a:solidFill>
              </a:rPr>
              <a:t>Ejercicio 2 hacia aplicación vigilancia tecnológica</a:t>
            </a:r>
          </a:p>
        </p:txBody>
      </p:sp>
      <p:sp>
        <p:nvSpPr>
          <p:cNvPr id="3" name="Subtítulo 2">
            <a:extLst>
              <a:ext uri="{FF2B5EF4-FFF2-40B4-BE49-F238E27FC236}">
                <a16:creationId xmlns:a16="http://schemas.microsoft.com/office/drawing/2014/main" id="{3AA5B847-C46F-64C3-0B5E-A2CF3932EC6F}"/>
              </a:ext>
            </a:extLst>
          </p:cNvPr>
          <p:cNvSpPr>
            <a:spLocks noGrp="1"/>
          </p:cNvSpPr>
          <p:nvPr>
            <p:ph type="subTitle" idx="1"/>
          </p:nvPr>
        </p:nvSpPr>
        <p:spPr/>
        <p:txBody>
          <a:bodyPr/>
          <a:lstStyle/>
          <a:p>
            <a:r>
              <a:rPr lang="es-ES_tradnl" noProof="1"/>
              <a:t>BY Constanza Alvarado M.</a:t>
            </a:r>
          </a:p>
        </p:txBody>
      </p:sp>
      <p:sp>
        <p:nvSpPr>
          <p:cNvPr id="4" name="Subtítulo 2">
            <a:extLst>
              <a:ext uri="{FF2B5EF4-FFF2-40B4-BE49-F238E27FC236}">
                <a16:creationId xmlns:a16="http://schemas.microsoft.com/office/drawing/2014/main" id="{93A496BD-00B9-CA45-4DAE-8B70DF5FDEAF}"/>
              </a:ext>
            </a:extLst>
          </p:cNvPr>
          <p:cNvSpPr txBox="1">
            <a:spLocks/>
          </p:cNvSpPr>
          <p:nvPr/>
        </p:nvSpPr>
        <p:spPr>
          <a:xfrm>
            <a:off x="518537" y="6010494"/>
            <a:ext cx="9014930" cy="43694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_tradnl" noProof="1"/>
              <a:t>ESCUELA TECNOLOGICA INSTITUTO TECNICO CENTRAL - ETITC</a:t>
            </a:r>
          </a:p>
        </p:txBody>
      </p:sp>
      <p:pic>
        <p:nvPicPr>
          <p:cNvPr id="5" name="Imagen 4">
            <a:extLst>
              <a:ext uri="{FF2B5EF4-FFF2-40B4-BE49-F238E27FC236}">
                <a16:creationId xmlns:a16="http://schemas.microsoft.com/office/drawing/2014/main" id="{654847CC-054B-B700-733C-5E992178236D}"/>
              </a:ext>
            </a:extLst>
          </p:cNvPr>
          <p:cNvPicPr>
            <a:picLocks noChangeAspect="1"/>
          </p:cNvPicPr>
          <p:nvPr/>
        </p:nvPicPr>
        <p:blipFill>
          <a:blip r:embed="rId2"/>
          <a:stretch>
            <a:fillRect/>
          </a:stretch>
        </p:blipFill>
        <p:spPr>
          <a:xfrm>
            <a:off x="9222363" y="4573205"/>
            <a:ext cx="2451100" cy="1968500"/>
          </a:xfrm>
          <a:prstGeom prst="rect">
            <a:avLst/>
          </a:prstGeom>
        </p:spPr>
      </p:pic>
    </p:spTree>
    <p:extLst>
      <p:ext uri="{BB962C8B-B14F-4D97-AF65-F5344CB8AC3E}">
        <p14:creationId xmlns:p14="http://schemas.microsoft.com/office/powerpoint/2010/main" val="1917390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8D06049-A2F5-0F39-0208-FE085AE7AF2C}"/>
              </a:ext>
            </a:extLst>
          </p:cNvPr>
          <p:cNvPicPr>
            <a:picLocks noChangeAspect="1"/>
          </p:cNvPicPr>
          <p:nvPr/>
        </p:nvPicPr>
        <p:blipFill>
          <a:blip r:embed="rId2"/>
          <a:stretch>
            <a:fillRect/>
          </a:stretch>
        </p:blipFill>
        <p:spPr>
          <a:xfrm>
            <a:off x="9446649" y="4706920"/>
            <a:ext cx="2451100" cy="1968500"/>
          </a:xfrm>
          <a:prstGeom prst="rect">
            <a:avLst/>
          </a:prstGeom>
        </p:spPr>
      </p:pic>
      <p:sp>
        <p:nvSpPr>
          <p:cNvPr id="2" name="Título 1">
            <a:extLst>
              <a:ext uri="{FF2B5EF4-FFF2-40B4-BE49-F238E27FC236}">
                <a16:creationId xmlns:a16="http://schemas.microsoft.com/office/drawing/2014/main" id="{DB84951C-1291-9AA7-29B5-47DE35DDE0DC}"/>
              </a:ext>
            </a:extLst>
          </p:cNvPr>
          <p:cNvSpPr>
            <a:spLocks noGrp="1"/>
          </p:cNvSpPr>
          <p:nvPr>
            <p:ph type="title"/>
          </p:nvPr>
        </p:nvSpPr>
        <p:spPr>
          <a:xfrm>
            <a:off x="838200" y="205919"/>
            <a:ext cx="10515600" cy="1325563"/>
          </a:xfrm>
        </p:spPr>
        <p:txBody>
          <a:bodyPr/>
          <a:lstStyle/>
          <a:p>
            <a:r>
              <a:rPr lang="es-ES_tradnl" noProof="1"/>
              <a:t>Ficha resumen de Avances</a:t>
            </a:r>
          </a:p>
        </p:txBody>
      </p:sp>
      <p:sp>
        <p:nvSpPr>
          <p:cNvPr id="3" name="Marcador de contenido 2">
            <a:extLst>
              <a:ext uri="{FF2B5EF4-FFF2-40B4-BE49-F238E27FC236}">
                <a16:creationId xmlns:a16="http://schemas.microsoft.com/office/drawing/2014/main" id="{149C471A-2816-51C5-77D4-7DB944B6B676}"/>
              </a:ext>
            </a:extLst>
          </p:cNvPr>
          <p:cNvSpPr>
            <a:spLocks noGrp="1"/>
          </p:cNvSpPr>
          <p:nvPr>
            <p:ph idx="1"/>
          </p:nvPr>
        </p:nvSpPr>
        <p:spPr>
          <a:xfrm>
            <a:off x="838200" y="1531482"/>
            <a:ext cx="10515600" cy="4351338"/>
          </a:xfrm>
        </p:spPr>
        <p:txBody>
          <a:bodyPr>
            <a:normAutofit/>
          </a:bodyPr>
          <a:lstStyle/>
          <a:p>
            <a:r>
              <a:rPr lang="es-ES_tradnl" b="1" noProof="1"/>
              <a:t>Equipo No:  </a:t>
            </a:r>
            <a:r>
              <a:rPr lang="es-ES_tradnl" i="1" noProof="1"/>
              <a:t>04</a:t>
            </a:r>
          </a:p>
          <a:p>
            <a:r>
              <a:rPr lang="es-ES_tradnl" b="1" noProof="1"/>
              <a:t>Fecha: 27 de mayo de 2026</a:t>
            </a:r>
          </a:p>
          <a:p>
            <a:r>
              <a:rPr lang="es-ES_tradnl" b="1" noProof="1"/>
              <a:t>Entregable Descripción: </a:t>
            </a:r>
            <a:r>
              <a:rPr lang="es-ES_tradnl" sz="2000" noProof="1"/>
              <a:t>Se presenta el avance del proyecto en TRL-3 (demostración experimental). Incluye: generación del conjunto de datos sintéticos (n = 1 000 registros, tasa de deserción 17,6 %), entrenamiento y comparación de Random Forest y XGBoost, y análisis de importancia de variables. Random Forest alcanzó exactitud del 95,0 % y AUC = 0,976; XGBoost alcanzó sensibilidad del 85,7 % y F1 = 87,0 %. Próximo paso: validación con datos reales anonimizados de la ETITC (TRL-4).</a:t>
            </a:r>
          </a:p>
          <a:p>
            <a:r>
              <a:rPr lang="es-ES_tradnl" b="1" noProof="1"/>
              <a:t>Integrantes: </a:t>
            </a:r>
            <a:r>
              <a:rPr lang="es-ES_tradnl" i="1" noProof="1"/>
              <a:t>Rafael Guzmán, Jhon Correal</a:t>
            </a:r>
          </a:p>
          <a:p>
            <a:r>
              <a:rPr lang="es-ES_tradnl" b="1" noProof="1"/>
              <a:t>Curso: </a:t>
            </a:r>
            <a:r>
              <a:rPr lang="es-ES_tradnl" i="1" noProof="1"/>
              <a:t>S7D</a:t>
            </a:r>
          </a:p>
        </p:txBody>
      </p:sp>
      <p:sp>
        <p:nvSpPr>
          <p:cNvPr id="4" name="Subtítulo 2">
            <a:extLst>
              <a:ext uri="{FF2B5EF4-FFF2-40B4-BE49-F238E27FC236}">
                <a16:creationId xmlns:a16="http://schemas.microsoft.com/office/drawing/2014/main" id="{E7B2446B-0C05-1240-0729-5ADF2DC994C3}"/>
              </a:ext>
            </a:extLst>
          </p:cNvPr>
          <p:cNvSpPr txBox="1">
            <a:spLocks/>
          </p:cNvSpPr>
          <p:nvPr/>
        </p:nvSpPr>
        <p:spPr>
          <a:xfrm>
            <a:off x="838200" y="6096576"/>
            <a:ext cx="8802687" cy="4227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_tradnl" noProof="1"/>
              <a:t>ESCUELA TECNOLOGICA INSTITUTO TECNICO CENTRAL  - ETITC</a:t>
            </a:r>
          </a:p>
        </p:txBody>
      </p:sp>
    </p:spTree>
    <p:extLst>
      <p:ext uri="{BB962C8B-B14F-4D97-AF65-F5344CB8AC3E}">
        <p14:creationId xmlns:p14="http://schemas.microsoft.com/office/powerpoint/2010/main" val="413980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A3D9A-F26C-5832-535C-DBE9C67FE69C}"/>
              </a:ext>
            </a:extLst>
          </p:cNvPr>
          <p:cNvSpPr>
            <a:spLocks noGrp="1"/>
          </p:cNvSpPr>
          <p:nvPr>
            <p:ph type="title"/>
          </p:nvPr>
        </p:nvSpPr>
        <p:spPr>
          <a:xfrm>
            <a:off x="358815" y="185195"/>
            <a:ext cx="10994985" cy="1505493"/>
          </a:xfrm>
        </p:spPr>
        <p:txBody>
          <a:bodyPr/>
          <a:lstStyle/>
          <a:p>
            <a:r>
              <a:rPr lang="es-ES_tradnl" noProof="1">
                <a:solidFill>
                  <a:srgbClr val="0070C0"/>
                </a:solidFill>
              </a:rPr>
              <a:t>DILIGENCIE ESTOS RESULTADOS. DESCRIBA RESUMIDAMENTE</a:t>
            </a:r>
          </a:p>
        </p:txBody>
      </p:sp>
      <p:graphicFrame>
        <p:nvGraphicFramePr>
          <p:cNvPr id="4" name="Marcador de contenido 3">
            <a:extLst>
              <a:ext uri="{FF2B5EF4-FFF2-40B4-BE49-F238E27FC236}">
                <a16:creationId xmlns:a16="http://schemas.microsoft.com/office/drawing/2014/main" id="{FCC5FDB0-D304-B9E0-544D-45F1BAEA1062}"/>
              </a:ext>
            </a:extLst>
          </p:cNvPr>
          <p:cNvGraphicFramePr>
            <a:graphicFrameLocks noGrp="1"/>
          </p:cNvGraphicFramePr>
          <p:nvPr>
            <p:ph idx="1"/>
            <p:extLst>
              <p:ext uri="{D42A27DB-BD31-4B8C-83A1-F6EECF244321}">
                <p14:modId xmlns:p14="http://schemas.microsoft.com/office/powerpoint/2010/main" val="3705904786"/>
              </p:ext>
            </p:extLst>
          </p:nvPr>
        </p:nvGraphicFramePr>
        <p:xfrm>
          <a:off x="433156" y="1466534"/>
          <a:ext cx="10994985" cy="5054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5FCA7FE5-E593-2AC7-FBA2-E1E3443E970D}"/>
              </a:ext>
            </a:extLst>
          </p:cNvPr>
          <p:cNvPicPr>
            <a:picLocks noChangeAspect="1"/>
          </p:cNvPicPr>
          <p:nvPr/>
        </p:nvPicPr>
        <p:blipFill>
          <a:blip r:embed="rId7"/>
          <a:stretch>
            <a:fillRect/>
          </a:stretch>
        </p:blipFill>
        <p:spPr>
          <a:xfrm>
            <a:off x="10881289" y="5620161"/>
            <a:ext cx="1310711" cy="1052644"/>
          </a:xfrm>
          <a:prstGeom prst="rect">
            <a:avLst/>
          </a:prstGeom>
        </p:spPr>
      </p:pic>
    </p:spTree>
    <p:extLst>
      <p:ext uri="{BB962C8B-B14F-4D97-AF65-F5344CB8AC3E}">
        <p14:creationId xmlns:p14="http://schemas.microsoft.com/office/powerpoint/2010/main" val="2699889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1">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5FD3DCF-668C-F879-E0BB-D41E78710332}"/>
              </a:ext>
            </a:extLst>
          </p:cNvPr>
          <p:cNvSpPr>
            <a:spLocks noGrp="1"/>
          </p:cNvSpPr>
          <p:nvPr>
            <p:ph type="title"/>
          </p:nvPr>
        </p:nvSpPr>
        <p:spPr>
          <a:xfrm>
            <a:off x="838200" y="643467"/>
            <a:ext cx="3333750" cy="5571066"/>
          </a:xfrm>
        </p:spPr>
        <p:txBody>
          <a:bodyPr>
            <a:normAutofit/>
          </a:bodyPr>
          <a:lstStyle/>
          <a:p>
            <a:r>
              <a:rPr lang="es-ES_tradnl" sz="3200" noProof="1">
                <a:solidFill>
                  <a:srgbClr val="FFFFFF"/>
                </a:solidFill>
              </a:rPr>
              <a:t>UTILICE ESTE DIAGRAMA PARA RESUMIR CADA UNO DE LOS PASOS . </a:t>
            </a:r>
            <a:br>
              <a:rPr lang="es-ES_tradnl" sz="3200" noProof="1">
                <a:solidFill>
                  <a:srgbClr val="FFFFFF"/>
                </a:solidFill>
              </a:rPr>
            </a:br>
            <a:r>
              <a:rPr lang="es-ES_tradnl" sz="3200" noProof="1">
                <a:solidFill>
                  <a:srgbClr val="FFFFFF"/>
                </a:solidFill>
              </a:rPr>
              <a:t>RESULTADOS:</a:t>
            </a:r>
            <a:br>
              <a:rPr lang="es-ES_tradnl" sz="3200" noProof="1">
                <a:solidFill>
                  <a:srgbClr val="FFFFFF"/>
                </a:solidFill>
              </a:rPr>
            </a:br>
            <a:r>
              <a:rPr lang="es-ES_tradnl" sz="3200" noProof="1">
                <a:solidFill>
                  <a:srgbClr val="FFFFFF"/>
                </a:solidFill>
              </a:rPr>
              <a:t>ENTRADAS Y SALIDAS</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aphicFrame>
        <p:nvGraphicFramePr>
          <p:cNvPr id="4" name="Marcador de contenido 3">
            <a:extLst>
              <a:ext uri="{FF2B5EF4-FFF2-40B4-BE49-F238E27FC236}">
                <a16:creationId xmlns:a16="http://schemas.microsoft.com/office/drawing/2014/main" id="{716D2D4A-46D7-6ACA-D2F1-AC13535994BB}"/>
              </a:ext>
            </a:extLst>
          </p:cNvPr>
          <p:cNvGraphicFramePr>
            <a:graphicFrameLocks noGrp="1"/>
          </p:cNvGraphicFramePr>
          <p:nvPr>
            <p:ph idx="1"/>
            <p:extLst>
              <p:ext uri="{D42A27DB-BD31-4B8C-83A1-F6EECF244321}">
                <p14:modId xmlns:p14="http://schemas.microsoft.com/office/powerpoint/2010/main" val="3912091476"/>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AF2E2D8D-7117-7C6C-BDB3-6531F115AD93}"/>
              </a:ext>
            </a:extLst>
          </p:cNvPr>
          <p:cNvPicPr>
            <a:picLocks noChangeAspect="1"/>
          </p:cNvPicPr>
          <p:nvPr/>
        </p:nvPicPr>
        <p:blipFill>
          <a:blip r:embed="rId7"/>
          <a:stretch>
            <a:fillRect/>
          </a:stretch>
        </p:blipFill>
        <p:spPr>
          <a:xfrm>
            <a:off x="1343855" y="5647880"/>
            <a:ext cx="1310711" cy="1052644"/>
          </a:xfrm>
          <a:prstGeom prst="rect">
            <a:avLst/>
          </a:prstGeom>
        </p:spPr>
      </p:pic>
    </p:spTree>
    <p:extLst>
      <p:ext uri="{BB962C8B-B14F-4D97-AF65-F5344CB8AC3E}">
        <p14:creationId xmlns:p14="http://schemas.microsoft.com/office/powerpoint/2010/main" val="42567952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93CE827C8C9F4D8EAD4B239E1CEE09" ma:contentTypeVersion="11" ma:contentTypeDescription="Create a new document." ma:contentTypeScope="" ma:versionID="5486cecc5217b2bc395194abbd20fb2f">
  <xsd:schema xmlns:xsd="http://www.w3.org/2001/XMLSchema" xmlns:xs="http://www.w3.org/2001/XMLSchema" xmlns:p="http://schemas.microsoft.com/office/2006/metadata/properties" xmlns:ns2="79c476a6-c5b9-4cfe-a7aa-2ad5e94369df" xmlns:ns3="42a3b858-a068-4efd-92d5-337c04f112a9" targetNamespace="http://schemas.microsoft.com/office/2006/metadata/properties" ma:root="true" ma:fieldsID="cce21f25107eb973eb59d7f7f405b024" ns2:_="" ns3:_="">
    <xsd:import namespace="79c476a6-c5b9-4cfe-a7aa-2ad5e94369df"/>
    <xsd:import namespace="42a3b858-a068-4efd-92d5-337c04f112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c476a6-c5b9-4cfe-a7aa-2ad5e94369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f894c4a9-f306-4282-b84a-f13750ff572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a3b858-a068-4efd-92d5-337c04f112a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506f8b7-95bb-482a-b057-b6978f02c346}" ma:internalName="TaxCatchAll" ma:showField="CatchAllData" ma:web="42a3b858-a068-4efd-92d5-337c04f112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9c476a6-c5b9-4cfe-a7aa-2ad5e94369df">
      <Terms xmlns="http://schemas.microsoft.com/office/infopath/2007/PartnerControls"/>
    </lcf76f155ced4ddcb4097134ff3c332f>
    <TaxCatchAll xmlns="42a3b858-a068-4efd-92d5-337c04f112a9" xsi:nil="true"/>
  </documentManagement>
</p:properties>
</file>

<file path=customXml/itemProps1.xml><?xml version="1.0" encoding="utf-8"?>
<ds:datastoreItem xmlns:ds="http://schemas.openxmlformats.org/officeDocument/2006/customXml" ds:itemID="{F47943B9-E884-482C-B936-2727510977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c476a6-c5b9-4cfe-a7aa-2ad5e94369df"/>
    <ds:schemaRef ds:uri="42a3b858-a068-4efd-92d5-337c04f112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E74CF2-5442-44BC-9E24-582282DD1644}">
  <ds:schemaRefs>
    <ds:schemaRef ds:uri="http://schemas.microsoft.com/sharepoint/v3/contenttype/forms"/>
  </ds:schemaRefs>
</ds:datastoreItem>
</file>

<file path=customXml/itemProps3.xml><?xml version="1.0" encoding="utf-8"?>
<ds:datastoreItem xmlns:ds="http://schemas.openxmlformats.org/officeDocument/2006/customXml" ds:itemID="{A4822237-EE0A-4103-8712-3B7AB6E390E2}">
  <ds:schemaRefs>
    <ds:schemaRef ds:uri="42a3b858-a068-4efd-92d5-337c04f112a9"/>
    <ds:schemaRef ds:uri="79c476a6-c5b9-4cfe-a7aa-2ad5e94369df"/>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TotalTime>
  <Words>771</Words>
  <Application>Microsoft Macintosh PowerPoint</Application>
  <PresentationFormat>Widescreen</PresentationFormat>
  <Paragraphs>50</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Calibri</vt:lpstr>
      <vt:lpstr>Wingdings</vt:lpstr>
      <vt:lpstr>Tema de Office</vt:lpstr>
      <vt:lpstr>Ejercicio 2 hacia aplicación vigilancia tecnológica</vt:lpstr>
      <vt:lpstr>Ficha resumen de Avances</vt:lpstr>
      <vt:lpstr>DILIGENCIE ESTOS RESULTADOS. DESCRIBA RESUMIDAMENTE</vt:lpstr>
      <vt:lpstr>UTILICE ESTE DIAGRAMA PARA RESUMIR CADA UNO DE LOS PASOS .  RESULTADOS: ENTRADAS Y SALIDAS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Constanza Alvarado Mariño</dc:creator>
  <cp:lastModifiedBy>JHON ALEJANDRO CORREAL MARTINEZ</cp:lastModifiedBy>
  <cp:revision>5</cp:revision>
  <dcterms:created xsi:type="dcterms:W3CDTF">2026-03-19T01:08:48Z</dcterms:created>
  <dcterms:modified xsi:type="dcterms:W3CDTF">2026-05-27T23:24:31Z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0x0101000193CE827C8C9F4D8EAD4B239E1CEE09</vt:lpwstr>
  </property>
  <property fmtid="{D5CDD505-2E9C-101B-9397-08002B2CF9AE}" pid="3" name="MediaServiceImageTags">
    <vt:lpwstr/>
  </property>
</Properties>
</file>