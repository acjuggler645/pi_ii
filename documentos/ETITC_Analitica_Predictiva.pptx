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65" r:id="rId5"/>
    <p:sldId id="259" r:id="rId6"/>
    <p:sldId id="260" r:id="rId7"/>
    <p:sldId id="261" r:id="rId8"/>
    <p:sldId id="262" r:id="rId9"/>
    <p:sldId id="263" r:id="rId10"/>
    <p:sldId id="264"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003"/>
    <p:restoredTop sz="94610"/>
  </p:normalViewPr>
  <p:slideViewPr>
    <p:cSldViewPr snapToGrid="0" snapToObjects="1">
      <p:cViewPr varScale="1">
        <p:scale>
          <a:sx n="212" d="100"/>
          <a:sy n="212" d="100"/>
        </p:scale>
        <p:origin x="584" y="8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51778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C860A5-F1F7-CE5C-337D-32A93F5F04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88FCF3-43F4-107F-D2EA-E3D67BEE40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AEBEEF-DB6F-AA9F-CF79-39C0CD5C84F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B2565A7-E725-A535-F229-C19D545442DB}"/>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6399689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B55"/>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838F"/>
          </a:solidFill>
          <a:ln w="12700">
            <a:solidFill>
              <a:srgbClr val="00838F"/>
            </a:solidFill>
            <a:prstDash val="solid"/>
          </a:ln>
        </p:spPr>
        <p:txBody>
          <a:bodyPr/>
          <a:lstStyle/>
          <a:p>
            <a:endParaRPr lang="es-ES_tradnl" noProof="1"/>
          </a:p>
        </p:txBody>
      </p:sp>
      <p:sp>
        <p:nvSpPr>
          <p:cNvPr id="3" name="Shape 1"/>
          <p:cNvSpPr/>
          <p:nvPr/>
        </p:nvSpPr>
        <p:spPr>
          <a:xfrm>
            <a:off x="7132320" y="-548640"/>
            <a:ext cx="2560320" cy="2560320"/>
          </a:xfrm>
          <a:prstGeom prst="ellipse">
            <a:avLst/>
          </a:prstGeom>
          <a:solidFill>
            <a:srgbClr val="1A3A6B">
              <a:alpha val="70000"/>
            </a:srgbClr>
          </a:solidFill>
          <a:ln w="12700">
            <a:solidFill>
              <a:srgbClr val="1A3A6B">
                <a:alpha val="70000"/>
              </a:srgbClr>
            </a:solidFill>
            <a:prstDash val="solid"/>
          </a:ln>
        </p:spPr>
        <p:txBody>
          <a:bodyPr/>
          <a:lstStyle/>
          <a:p>
            <a:endParaRPr lang="es-ES_tradnl" noProof="1"/>
          </a:p>
        </p:txBody>
      </p:sp>
      <p:sp>
        <p:nvSpPr>
          <p:cNvPr id="4" name="Shape 2"/>
          <p:cNvSpPr/>
          <p:nvPr/>
        </p:nvSpPr>
        <p:spPr>
          <a:xfrm>
            <a:off x="7772400" y="182880"/>
            <a:ext cx="1828800" cy="1828800"/>
          </a:xfrm>
          <a:prstGeom prst="ellipse">
            <a:avLst/>
          </a:prstGeom>
          <a:solidFill>
            <a:srgbClr val="00838F">
              <a:alpha val="40000"/>
            </a:srgbClr>
          </a:solidFill>
          <a:ln w="12700">
            <a:solidFill>
              <a:srgbClr val="00838F">
                <a:alpha val="40000"/>
              </a:srgbClr>
            </a:solidFill>
            <a:prstDash val="solid"/>
          </a:ln>
        </p:spPr>
        <p:txBody>
          <a:bodyPr/>
          <a:lstStyle/>
          <a:p>
            <a:endParaRPr lang="es-ES_tradnl" noProof="1"/>
          </a:p>
        </p:txBody>
      </p:sp>
      <p:sp>
        <p:nvSpPr>
          <p:cNvPr id="5" name="Shape 3"/>
          <p:cNvSpPr/>
          <p:nvPr/>
        </p:nvSpPr>
        <p:spPr>
          <a:xfrm>
            <a:off x="411480" y="320040"/>
            <a:ext cx="1463040" cy="411480"/>
          </a:xfrm>
          <a:prstGeom prst="roundRect">
            <a:avLst>
              <a:gd name="adj" fmla="val 17778"/>
            </a:avLst>
          </a:prstGeom>
          <a:solidFill>
            <a:srgbClr val="00838F"/>
          </a:solidFill>
          <a:ln w="12700">
            <a:solidFill>
              <a:srgbClr val="00838F"/>
            </a:solidFill>
            <a:prstDash val="solid"/>
          </a:ln>
        </p:spPr>
        <p:txBody>
          <a:bodyPr/>
          <a:lstStyle/>
          <a:p>
            <a:endParaRPr lang="es-ES_tradnl" noProof="1"/>
          </a:p>
        </p:txBody>
      </p:sp>
      <p:sp>
        <p:nvSpPr>
          <p:cNvPr id="6" name="Text 4"/>
          <p:cNvSpPr/>
          <p:nvPr/>
        </p:nvSpPr>
        <p:spPr>
          <a:xfrm>
            <a:off x="411480" y="320040"/>
            <a:ext cx="1463040" cy="411480"/>
          </a:xfrm>
          <a:prstGeom prst="rect">
            <a:avLst/>
          </a:prstGeom>
          <a:noFill/>
          <a:ln/>
        </p:spPr>
        <p:txBody>
          <a:bodyPr wrap="square" lIns="0" tIns="0" rIns="0" bIns="0" rtlCol="0" anchor="ctr"/>
          <a:lstStyle/>
          <a:p>
            <a:pPr marL="0" indent="0" algn="ctr">
              <a:buNone/>
            </a:pPr>
            <a:r>
              <a:rPr lang="es-ES_tradnl" sz="1100" b="1" noProof="1">
                <a:solidFill>
                  <a:srgbClr val="FFFFFF"/>
                </a:solidFill>
              </a:rPr>
              <a:t>ETITC · 2026</a:t>
            </a:r>
            <a:endParaRPr lang="es-ES_tradnl" sz="1100" noProof="1"/>
          </a:p>
        </p:txBody>
      </p:sp>
      <p:sp>
        <p:nvSpPr>
          <p:cNvPr id="7" name="Text 5"/>
          <p:cNvSpPr/>
          <p:nvPr/>
        </p:nvSpPr>
        <p:spPr>
          <a:xfrm>
            <a:off x="411480" y="960120"/>
            <a:ext cx="7132320" cy="1463040"/>
          </a:xfrm>
          <a:prstGeom prst="rect">
            <a:avLst/>
          </a:prstGeom>
          <a:noFill/>
          <a:ln/>
        </p:spPr>
        <p:txBody>
          <a:bodyPr wrap="square" rtlCol="0" anchor="t"/>
          <a:lstStyle/>
          <a:p>
            <a:pPr marL="0" indent="0" algn="l">
              <a:buNone/>
            </a:pPr>
            <a:r>
              <a:rPr lang="es-ES_tradnl" sz="4000" b="1" noProof="1">
                <a:solidFill>
                  <a:srgbClr val="FFFFFF"/>
                </a:solidFill>
                <a:latin typeface="Calibri" pitchFamily="34" charset="0"/>
                <a:ea typeface="Calibri" pitchFamily="34" charset="-122"/>
                <a:cs typeface="Calibri" pitchFamily="34" charset="-120"/>
              </a:rPr>
              <a:t>Sistema de Analítica</a:t>
            </a:r>
            <a:endParaRPr lang="es-ES_tradnl" sz="4000" noProof="1"/>
          </a:p>
          <a:p>
            <a:pPr marL="0" indent="0" algn="l">
              <a:buNone/>
            </a:pPr>
            <a:r>
              <a:rPr lang="es-ES_tradnl" sz="4000" b="1" noProof="1">
                <a:solidFill>
                  <a:srgbClr val="FFFFFF"/>
                </a:solidFill>
                <a:latin typeface="Calibri" pitchFamily="34" charset="0"/>
                <a:ea typeface="Calibri" pitchFamily="34" charset="-122"/>
                <a:cs typeface="Calibri" pitchFamily="34" charset="-120"/>
              </a:rPr>
              <a:t>Predictiva</a:t>
            </a:r>
            <a:endParaRPr lang="es-ES_tradnl" sz="4000" noProof="1"/>
          </a:p>
        </p:txBody>
      </p:sp>
      <p:sp>
        <p:nvSpPr>
          <p:cNvPr id="8" name="Text 6"/>
          <p:cNvSpPr/>
          <p:nvPr/>
        </p:nvSpPr>
        <p:spPr>
          <a:xfrm>
            <a:off x="411480" y="2514600"/>
            <a:ext cx="7772400" cy="822960"/>
          </a:xfrm>
          <a:prstGeom prst="rect">
            <a:avLst/>
          </a:prstGeom>
          <a:noFill/>
          <a:ln/>
        </p:spPr>
        <p:txBody>
          <a:bodyPr wrap="square" rtlCol="0" anchor="ctr"/>
          <a:lstStyle/>
          <a:p>
            <a:pPr marL="0" indent="0" algn="l">
              <a:buNone/>
            </a:pPr>
            <a:r>
              <a:rPr lang="es-ES_tradnl" sz="1500" noProof="1">
                <a:solidFill>
                  <a:srgbClr val="90CAF9"/>
                </a:solidFill>
              </a:rPr>
              <a:t>Detección Temprana del Riesgo de Deserción</a:t>
            </a:r>
            <a:endParaRPr lang="es-ES_tradnl" sz="1500" noProof="1"/>
          </a:p>
          <a:p>
            <a:pPr marL="0" indent="0" algn="l">
              <a:buNone/>
            </a:pPr>
            <a:r>
              <a:rPr lang="es-ES_tradnl" sz="1500" noProof="1">
                <a:solidFill>
                  <a:srgbClr val="90CAF9"/>
                </a:solidFill>
              </a:rPr>
              <a:t>Jornada Nocturna · ETITC Sede Centro · Bogotá</a:t>
            </a:r>
            <a:endParaRPr lang="es-ES_tradnl" sz="1500" noProof="1"/>
          </a:p>
        </p:txBody>
      </p:sp>
      <p:sp>
        <p:nvSpPr>
          <p:cNvPr id="9" name="Shape 7"/>
          <p:cNvSpPr/>
          <p:nvPr/>
        </p:nvSpPr>
        <p:spPr>
          <a:xfrm>
            <a:off x="411480" y="3429000"/>
            <a:ext cx="8321040" cy="0"/>
          </a:xfrm>
          <a:prstGeom prst="line">
            <a:avLst/>
          </a:prstGeom>
          <a:noFill/>
          <a:ln w="19050">
            <a:solidFill>
              <a:srgbClr val="00838F"/>
            </a:solidFill>
            <a:prstDash val="solid"/>
          </a:ln>
        </p:spPr>
        <p:txBody>
          <a:bodyPr/>
          <a:lstStyle/>
          <a:p>
            <a:endParaRPr lang="es-ES_tradnl" noProof="1"/>
          </a:p>
        </p:txBody>
      </p:sp>
      <p:sp>
        <p:nvSpPr>
          <p:cNvPr id="10" name="Text 8"/>
          <p:cNvSpPr/>
          <p:nvPr/>
        </p:nvSpPr>
        <p:spPr>
          <a:xfrm>
            <a:off x="411480" y="3584448"/>
            <a:ext cx="8321040" cy="320040"/>
          </a:xfrm>
          <a:prstGeom prst="rect">
            <a:avLst/>
          </a:prstGeom>
          <a:noFill/>
          <a:ln/>
        </p:spPr>
        <p:txBody>
          <a:bodyPr wrap="square" rtlCol="0" anchor="ctr"/>
          <a:lstStyle/>
          <a:p>
            <a:pPr marL="0" indent="0">
              <a:buNone/>
            </a:pPr>
            <a:r>
              <a:rPr lang="es-ES_tradnl" sz="1200" b="1" noProof="1">
                <a:solidFill>
                  <a:srgbClr val="90CAF9"/>
                </a:solidFill>
              </a:rPr>
              <a:t>Estudiantes: </a:t>
            </a:r>
            <a:r>
              <a:rPr lang="es-ES_tradnl" sz="1200" noProof="1">
                <a:solidFill>
                  <a:srgbClr val="FFFFFF"/>
                </a:solidFill>
              </a:rPr>
              <a:t>Jhon Alejandro Correal Martínez  |  Rafael Andrés Guzmán Rodríguez</a:t>
            </a:r>
            <a:endParaRPr lang="es-ES_tradnl" sz="1200" noProof="1"/>
          </a:p>
        </p:txBody>
      </p:sp>
      <p:sp>
        <p:nvSpPr>
          <p:cNvPr id="11" name="Text 9"/>
          <p:cNvSpPr/>
          <p:nvPr/>
        </p:nvSpPr>
        <p:spPr>
          <a:xfrm>
            <a:off x="411480" y="3913632"/>
            <a:ext cx="8321040" cy="320040"/>
          </a:xfrm>
          <a:prstGeom prst="rect">
            <a:avLst/>
          </a:prstGeom>
          <a:noFill/>
          <a:ln/>
        </p:spPr>
        <p:txBody>
          <a:bodyPr wrap="square" rtlCol="0" anchor="ctr"/>
          <a:lstStyle/>
          <a:p>
            <a:pPr marL="0" indent="0">
              <a:buNone/>
            </a:pPr>
            <a:r>
              <a:rPr lang="es-ES_tradnl" sz="1200" b="1" noProof="1">
                <a:solidFill>
                  <a:srgbClr val="90CAF9"/>
                </a:solidFill>
              </a:rPr>
              <a:t>Docente: </a:t>
            </a:r>
            <a:r>
              <a:rPr lang="es-ES_tradnl" sz="1200" noProof="1">
                <a:solidFill>
                  <a:srgbClr val="FFFFFF"/>
                </a:solidFill>
              </a:rPr>
              <a:t>Doris Constanza Alvarado Mariño</a:t>
            </a:r>
            <a:endParaRPr lang="es-ES_tradnl" sz="1200" noProof="1"/>
          </a:p>
        </p:txBody>
      </p:sp>
      <p:sp>
        <p:nvSpPr>
          <p:cNvPr id="12" name="Text 10"/>
          <p:cNvSpPr/>
          <p:nvPr/>
        </p:nvSpPr>
        <p:spPr>
          <a:xfrm>
            <a:off x="411480" y="4526280"/>
            <a:ext cx="8321040" cy="292608"/>
          </a:xfrm>
          <a:prstGeom prst="rect">
            <a:avLst/>
          </a:prstGeom>
          <a:noFill/>
          <a:ln/>
        </p:spPr>
        <p:txBody>
          <a:bodyPr wrap="square" rtlCol="0" anchor="ctr"/>
          <a:lstStyle/>
          <a:p>
            <a:pPr marL="0" indent="0" algn="l">
              <a:buNone/>
            </a:pPr>
            <a:r>
              <a:rPr lang="es-ES_tradnl" sz="1050" noProof="1">
                <a:solidFill>
                  <a:srgbClr val="78909C"/>
                </a:solidFill>
              </a:rPr>
              <a:t>Facultad de Sistemas · Proyecto de Investigación II · Abril 2026</a:t>
            </a:r>
            <a:endParaRPr lang="es-ES_tradnl" sz="1050" noProof="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594360"/>
          </a:xfrm>
          <a:prstGeom prst="rect">
            <a:avLst/>
          </a:prstGeom>
          <a:noFill/>
          <a:ln/>
        </p:spPr>
        <p:txBody>
          <a:bodyPr wrap="square" rtlCol="0" anchor="ctr"/>
          <a:lstStyle/>
          <a:p>
            <a:pPr marL="0" indent="0">
              <a:buNone/>
            </a:pPr>
            <a:r>
              <a:rPr lang="es-ES_tradnl" sz="2800" b="1" noProof="1">
                <a:solidFill>
                  <a:srgbClr val="0D2B55"/>
                </a:solidFill>
                <a:latin typeface="Calibri" pitchFamily="34" charset="0"/>
                <a:ea typeface="Calibri" pitchFamily="34" charset="-122"/>
                <a:cs typeface="Calibri" pitchFamily="34" charset="-120"/>
              </a:rPr>
              <a:t>Agenda de la Presentación</a:t>
            </a:r>
            <a:endParaRPr lang="es-ES_tradnl" sz="2800" noProof="1"/>
          </a:p>
        </p:txBody>
      </p:sp>
      <p:sp>
        <p:nvSpPr>
          <p:cNvPr id="3" name="Shape 1"/>
          <p:cNvSpPr/>
          <p:nvPr/>
        </p:nvSpPr>
        <p:spPr>
          <a:xfrm>
            <a:off x="320040" y="1097280"/>
            <a:ext cx="4206240" cy="713232"/>
          </a:xfrm>
          <a:prstGeom prst="rect">
            <a:avLst/>
          </a:prstGeom>
          <a:solidFill>
            <a:srgbClr val="FFFFFF"/>
          </a:solidFill>
          <a:ln w="12700">
            <a:solidFill>
              <a:srgbClr val="E2E8F0"/>
            </a:solidFill>
            <a:prstDash val="solid"/>
          </a:ln>
          <a:effectLst>
            <a:outerShdw blurRad="76200" dist="25400" dir="8100000" algn="bl" rotWithShape="0">
              <a:srgbClr val="000000">
                <a:alpha val="12000"/>
              </a:srgbClr>
            </a:outerShdw>
          </a:effectLst>
        </p:spPr>
        <p:txBody>
          <a:bodyPr/>
          <a:lstStyle/>
          <a:p>
            <a:endParaRPr lang="es-ES_tradnl" noProof="1"/>
          </a:p>
        </p:txBody>
      </p:sp>
      <p:sp>
        <p:nvSpPr>
          <p:cNvPr id="4" name="Shape 2"/>
          <p:cNvSpPr/>
          <p:nvPr/>
        </p:nvSpPr>
        <p:spPr>
          <a:xfrm>
            <a:off x="320040" y="1097280"/>
            <a:ext cx="502920" cy="713232"/>
          </a:xfrm>
          <a:prstGeom prst="rect">
            <a:avLst/>
          </a:prstGeom>
          <a:solidFill>
            <a:srgbClr val="1565C0"/>
          </a:solidFill>
          <a:ln w="12700">
            <a:solidFill>
              <a:srgbClr val="1565C0"/>
            </a:solidFill>
            <a:prstDash val="solid"/>
          </a:ln>
        </p:spPr>
        <p:txBody>
          <a:bodyPr/>
          <a:lstStyle/>
          <a:p>
            <a:endParaRPr lang="es-ES_tradnl" noProof="1"/>
          </a:p>
        </p:txBody>
      </p:sp>
      <p:sp>
        <p:nvSpPr>
          <p:cNvPr id="5" name="Text 3"/>
          <p:cNvSpPr/>
          <p:nvPr/>
        </p:nvSpPr>
        <p:spPr>
          <a:xfrm>
            <a:off x="320040" y="1097280"/>
            <a:ext cx="502920" cy="713232"/>
          </a:xfrm>
          <a:prstGeom prst="rect">
            <a:avLst/>
          </a:prstGeom>
          <a:noFill/>
          <a:ln/>
        </p:spPr>
        <p:txBody>
          <a:bodyPr wrap="square" lIns="0" tIns="0" rIns="0" bIns="0" rtlCol="0" anchor="ctr"/>
          <a:lstStyle/>
          <a:p>
            <a:pPr marL="0" indent="0" algn="ctr">
              <a:buNone/>
            </a:pPr>
            <a:r>
              <a:rPr lang="es-ES_tradnl" sz="1600" b="1" noProof="1">
                <a:solidFill>
                  <a:srgbClr val="FFFFFF"/>
                </a:solidFill>
              </a:rPr>
              <a:t>01</a:t>
            </a:r>
            <a:endParaRPr lang="es-ES_tradnl" sz="1600" noProof="1"/>
          </a:p>
        </p:txBody>
      </p:sp>
      <p:sp>
        <p:nvSpPr>
          <p:cNvPr id="6" name="Text 4"/>
          <p:cNvSpPr/>
          <p:nvPr/>
        </p:nvSpPr>
        <p:spPr>
          <a:xfrm>
            <a:off x="914400" y="1152144"/>
            <a:ext cx="3520440" cy="347472"/>
          </a:xfrm>
          <a:prstGeom prst="rect">
            <a:avLst/>
          </a:prstGeom>
          <a:noFill/>
          <a:ln/>
        </p:spPr>
        <p:txBody>
          <a:bodyPr wrap="square" rtlCol="0" anchor="t"/>
          <a:lstStyle/>
          <a:p>
            <a:pPr marL="0" indent="0">
              <a:buNone/>
            </a:pPr>
            <a:r>
              <a:rPr lang="es-ES_tradnl" sz="1300" b="1" noProof="1">
                <a:solidFill>
                  <a:srgbClr val="0D2B55"/>
                </a:solidFill>
              </a:rPr>
              <a:t>Planteamiento del Problema</a:t>
            </a:r>
            <a:endParaRPr lang="es-ES_tradnl" sz="1300" noProof="1"/>
          </a:p>
        </p:txBody>
      </p:sp>
      <p:sp>
        <p:nvSpPr>
          <p:cNvPr id="7" name="Text 5"/>
          <p:cNvSpPr/>
          <p:nvPr/>
        </p:nvSpPr>
        <p:spPr>
          <a:xfrm>
            <a:off x="914400" y="1481328"/>
            <a:ext cx="3520440" cy="274320"/>
          </a:xfrm>
          <a:prstGeom prst="rect">
            <a:avLst/>
          </a:prstGeom>
          <a:noFill/>
          <a:ln/>
        </p:spPr>
        <p:txBody>
          <a:bodyPr wrap="square" rtlCol="0" anchor="t"/>
          <a:lstStyle/>
          <a:p>
            <a:pPr marL="0" indent="0">
              <a:buNone/>
            </a:pPr>
            <a:r>
              <a:rPr lang="es-ES_tradnl" sz="1000" noProof="1">
                <a:solidFill>
                  <a:srgbClr val="546E7A"/>
                </a:solidFill>
              </a:rPr>
              <a:t>Contexto de deserción y brechas detectadas</a:t>
            </a:r>
            <a:endParaRPr lang="es-ES_tradnl" sz="1000" noProof="1"/>
          </a:p>
        </p:txBody>
      </p:sp>
      <p:sp>
        <p:nvSpPr>
          <p:cNvPr id="8" name="Shape 6"/>
          <p:cNvSpPr/>
          <p:nvPr/>
        </p:nvSpPr>
        <p:spPr>
          <a:xfrm>
            <a:off x="320040" y="1975104"/>
            <a:ext cx="4206240" cy="713232"/>
          </a:xfrm>
          <a:prstGeom prst="rect">
            <a:avLst/>
          </a:prstGeom>
          <a:solidFill>
            <a:srgbClr val="FFFFFF"/>
          </a:solidFill>
          <a:ln w="12700">
            <a:solidFill>
              <a:srgbClr val="E2E8F0"/>
            </a:solidFill>
            <a:prstDash val="solid"/>
          </a:ln>
          <a:effectLst>
            <a:outerShdw blurRad="76200" dist="25400" dir="8100000" algn="bl" rotWithShape="0">
              <a:srgbClr val="000000">
                <a:alpha val="12000"/>
              </a:srgbClr>
            </a:outerShdw>
          </a:effectLst>
        </p:spPr>
        <p:txBody>
          <a:bodyPr/>
          <a:lstStyle/>
          <a:p>
            <a:endParaRPr lang="es-ES_tradnl" noProof="1"/>
          </a:p>
        </p:txBody>
      </p:sp>
      <p:sp>
        <p:nvSpPr>
          <p:cNvPr id="9" name="Shape 7"/>
          <p:cNvSpPr/>
          <p:nvPr/>
        </p:nvSpPr>
        <p:spPr>
          <a:xfrm>
            <a:off x="320040" y="1975104"/>
            <a:ext cx="502920" cy="713232"/>
          </a:xfrm>
          <a:prstGeom prst="rect">
            <a:avLst/>
          </a:prstGeom>
          <a:solidFill>
            <a:srgbClr val="1565C0"/>
          </a:solidFill>
          <a:ln w="12700">
            <a:solidFill>
              <a:srgbClr val="1565C0"/>
            </a:solidFill>
            <a:prstDash val="solid"/>
          </a:ln>
        </p:spPr>
        <p:txBody>
          <a:bodyPr/>
          <a:lstStyle/>
          <a:p>
            <a:endParaRPr lang="es-ES_tradnl" noProof="1"/>
          </a:p>
        </p:txBody>
      </p:sp>
      <p:sp>
        <p:nvSpPr>
          <p:cNvPr id="10" name="Text 8"/>
          <p:cNvSpPr/>
          <p:nvPr/>
        </p:nvSpPr>
        <p:spPr>
          <a:xfrm>
            <a:off x="320040" y="1975104"/>
            <a:ext cx="502920" cy="713232"/>
          </a:xfrm>
          <a:prstGeom prst="rect">
            <a:avLst/>
          </a:prstGeom>
          <a:noFill/>
          <a:ln/>
        </p:spPr>
        <p:txBody>
          <a:bodyPr wrap="square" lIns="0" tIns="0" rIns="0" bIns="0" rtlCol="0" anchor="ctr"/>
          <a:lstStyle/>
          <a:p>
            <a:pPr marL="0" indent="0" algn="ctr">
              <a:buNone/>
            </a:pPr>
            <a:r>
              <a:rPr lang="es-ES_tradnl" sz="1600" b="1" noProof="1">
                <a:solidFill>
                  <a:srgbClr val="FFFFFF"/>
                </a:solidFill>
              </a:rPr>
              <a:t>02</a:t>
            </a:r>
            <a:endParaRPr lang="es-ES_tradnl" sz="1600" noProof="1"/>
          </a:p>
        </p:txBody>
      </p:sp>
      <p:sp>
        <p:nvSpPr>
          <p:cNvPr id="11" name="Text 9"/>
          <p:cNvSpPr/>
          <p:nvPr/>
        </p:nvSpPr>
        <p:spPr>
          <a:xfrm>
            <a:off x="914400" y="2029968"/>
            <a:ext cx="3520440" cy="347472"/>
          </a:xfrm>
          <a:prstGeom prst="rect">
            <a:avLst/>
          </a:prstGeom>
          <a:noFill/>
          <a:ln/>
        </p:spPr>
        <p:txBody>
          <a:bodyPr wrap="square" rtlCol="0" anchor="t"/>
          <a:lstStyle/>
          <a:p>
            <a:pPr marL="0" indent="0">
              <a:buNone/>
            </a:pPr>
            <a:r>
              <a:rPr lang="es-ES_tradnl" sz="1300" b="1" noProof="1">
                <a:solidFill>
                  <a:srgbClr val="0D2B55"/>
                </a:solidFill>
              </a:rPr>
              <a:t>Objetivos</a:t>
            </a:r>
            <a:endParaRPr lang="es-ES_tradnl" sz="1300" noProof="1"/>
          </a:p>
        </p:txBody>
      </p:sp>
      <p:sp>
        <p:nvSpPr>
          <p:cNvPr id="12" name="Text 10"/>
          <p:cNvSpPr/>
          <p:nvPr/>
        </p:nvSpPr>
        <p:spPr>
          <a:xfrm>
            <a:off x="914400" y="2359152"/>
            <a:ext cx="3520440" cy="274320"/>
          </a:xfrm>
          <a:prstGeom prst="rect">
            <a:avLst/>
          </a:prstGeom>
          <a:noFill/>
          <a:ln/>
        </p:spPr>
        <p:txBody>
          <a:bodyPr wrap="square" rtlCol="0" anchor="t"/>
          <a:lstStyle/>
          <a:p>
            <a:pPr marL="0" indent="0">
              <a:buNone/>
            </a:pPr>
            <a:r>
              <a:rPr lang="es-ES_tradnl" sz="1000" noProof="1">
                <a:solidFill>
                  <a:srgbClr val="546E7A"/>
                </a:solidFill>
              </a:rPr>
              <a:t>General y específicos del proyecto</a:t>
            </a:r>
            <a:endParaRPr lang="es-ES_tradnl" sz="1000" noProof="1"/>
          </a:p>
        </p:txBody>
      </p:sp>
      <p:sp>
        <p:nvSpPr>
          <p:cNvPr id="13" name="Shape 11"/>
          <p:cNvSpPr/>
          <p:nvPr/>
        </p:nvSpPr>
        <p:spPr>
          <a:xfrm>
            <a:off x="320040" y="2852928"/>
            <a:ext cx="4206240" cy="713232"/>
          </a:xfrm>
          <a:prstGeom prst="rect">
            <a:avLst/>
          </a:prstGeom>
          <a:solidFill>
            <a:srgbClr val="FFFFFF"/>
          </a:solidFill>
          <a:ln w="12700">
            <a:solidFill>
              <a:srgbClr val="E2E8F0"/>
            </a:solidFill>
            <a:prstDash val="solid"/>
          </a:ln>
          <a:effectLst>
            <a:outerShdw blurRad="76200" dist="25400" dir="8100000" algn="bl" rotWithShape="0">
              <a:srgbClr val="000000">
                <a:alpha val="12000"/>
              </a:srgbClr>
            </a:outerShdw>
          </a:effectLst>
        </p:spPr>
        <p:txBody>
          <a:bodyPr/>
          <a:lstStyle/>
          <a:p>
            <a:endParaRPr lang="es-ES_tradnl" noProof="1"/>
          </a:p>
        </p:txBody>
      </p:sp>
      <p:sp>
        <p:nvSpPr>
          <p:cNvPr id="14" name="Shape 12"/>
          <p:cNvSpPr/>
          <p:nvPr/>
        </p:nvSpPr>
        <p:spPr>
          <a:xfrm>
            <a:off x="320040" y="2852928"/>
            <a:ext cx="502920" cy="713232"/>
          </a:xfrm>
          <a:prstGeom prst="rect">
            <a:avLst/>
          </a:prstGeom>
          <a:solidFill>
            <a:srgbClr val="1565C0"/>
          </a:solidFill>
          <a:ln w="12700">
            <a:solidFill>
              <a:srgbClr val="1565C0"/>
            </a:solidFill>
            <a:prstDash val="solid"/>
          </a:ln>
        </p:spPr>
        <p:txBody>
          <a:bodyPr/>
          <a:lstStyle/>
          <a:p>
            <a:endParaRPr lang="es-ES_tradnl" noProof="1"/>
          </a:p>
        </p:txBody>
      </p:sp>
      <p:sp>
        <p:nvSpPr>
          <p:cNvPr id="15" name="Text 13"/>
          <p:cNvSpPr/>
          <p:nvPr/>
        </p:nvSpPr>
        <p:spPr>
          <a:xfrm>
            <a:off x="320040" y="2852928"/>
            <a:ext cx="502920" cy="713232"/>
          </a:xfrm>
          <a:prstGeom prst="rect">
            <a:avLst/>
          </a:prstGeom>
          <a:noFill/>
          <a:ln/>
        </p:spPr>
        <p:txBody>
          <a:bodyPr wrap="square" lIns="0" tIns="0" rIns="0" bIns="0" rtlCol="0" anchor="ctr"/>
          <a:lstStyle/>
          <a:p>
            <a:pPr marL="0" indent="0" algn="ctr">
              <a:buNone/>
            </a:pPr>
            <a:r>
              <a:rPr lang="es-ES_tradnl" sz="1600" b="1" noProof="1">
                <a:solidFill>
                  <a:srgbClr val="FFFFFF"/>
                </a:solidFill>
              </a:rPr>
              <a:t>03</a:t>
            </a:r>
            <a:endParaRPr lang="es-ES_tradnl" sz="1600" noProof="1"/>
          </a:p>
        </p:txBody>
      </p:sp>
      <p:sp>
        <p:nvSpPr>
          <p:cNvPr id="16" name="Text 14"/>
          <p:cNvSpPr/>
          <p:nvPr/>
        </p:nvSpPr>
        <p:spPr>
          <a:xfrm>
            <a:off x="914400" y="2907792"/>
            <a:ext cx="3520440" cy="347472"/>
          </a:xfrm>
          <a:prstGeom prst="rect">
            <a:avLst/>
          </a:prstGeom>
          <a:noFill/>
          <a:ln/>
        </p:spPr>
        <p:txBody>
          <a:bodyPr wrap="square" rtlCol="0" anchor="t"/>
          <a:lstStyle/>
          <a:p>
            <a:pPr marL="0" indent="0">
              <a:buNone/>
            </a:pPr>
            <a:r>
              <a:rPr lang="es-ES_tradnl" sz="1300" b="1" noProof="1">
                <a:solidFill>
                  <a:srgbClr val="0D2B55"/>
                </a:solidFill>
              </a:rPr>
              <a:t>Justificación</a:t>
            </a:r>
            <a:endParaRPr lang="es-ES_tradnl" sz="1300" noProof="1"/>
          </a:p>
        </p:txBody>
      </p:sp>
      <p:sp>
        <p:nvSpPr>
          <p:cNvPr id="17" name="Text 15"/>
          <p:cNvSpPr/>
          <p:nvPr/>
        </p:nvSpPr>
        <p:spPr>
          <a:xfrm>
            <a:off x="914400" y="3236976"/>
            <a:ext cx="3520440" cy="274320"/>
          </a:xfrm>
          <a:prstGeom prst="rect">
            <a:avLst/>
          </a:prstGeom>
          <a:noFill/>
          <a:ln/>
        </p:spPr>
        <p:txBody>
          <a:bodyPr wrap="square" rtlCol="0" anchor="t"/>
          <a:lstStyle/>
          <a:p>
            <a:pPr marL="0" indent="0">
              <a:buNone/>
            </a:pPr>
            <a:r>
              <a:rPr lang="es-ES_tradnl" sz="1000" noProof="1">
                <a:solidFill>
                  <a:srgbClr val="546E7A"/>
                </a:solidFill>
              </a:rPr>
              <a:t>Impacto social, académico e institucional</a:t>
            </a:r>
            <a:endParaRPr lang="es-ES_tradnl" sz="1000" noProof="1"/>
          </a:p>
        </p:txBody>
      </p:sp>
      <p:sp>
        <p:nvSpPr>
          <p:cNvPr id="18" name="Shape 16"/>
          <p:cNvSpPr/>
          <p:nvPr/>
        </p:nvSpPr>
        <p:spPr>
          <a:xfrm>
            <a:off x="4800600" y="1097280"/>
            <a:ext cx="4206240" cy="713232"/>
          </a:xfrm>
          <a:prstGeom prst="rect">
            <a:avLst/>
          </a:prstGeom>
          <a:solidFill>
            <a:srgbClr val="FFFFFF"/>
          </a:solidFill>
          <a:ln w="12700">
            <a:solidFill>
              <a:srgbClr val="E2E8F0"/>
            </a:solidFill>
            <a:prstDash val="solid"/>
          </a:ln>
          <a:effectLst>
            <a:outerShdw blurRad="76200" dist="25400" dir="8100000" algn="bl" rotWithShape="0">
              <a:srgbClr val="000000">
                <a:alpha val="12000"/>
              </a:srgbClr>
            </a:outerShdw>
          </a:effectLst>
        </p:spPr>
        <p:txBody>
          <a:bodyPr/>
          <a:lstStyle/>
          <a:p>
            <a:endParaRPr lang="es-ES_tradnl" noProof="1"/>
          </a:p>
        </p:txBody>
      </p:sp>
      <p:sp>
        <p:nvSpPr>
          <p:cNvPr id="19" name="Shape 17"/>
          <p:cNvSpPr/>
          <p:nvPr/>
        </p:nvSpPr>
        <p:spPr>
          <a:xfrm>
            <a:off x="4800600" y="1097280"/>
            <a:ext cx="502920" cy="713232"/>
          </a:xfrm>
          <a:prstGeom prst="rect">
            <a:avLst/>
          </a:prstGeom>
          <a:solidFill>
            <a:srgbClr val="1565C0"/>
          </a:solidFill>
          <a:ln w="12700">
            <a:solidFill>
              <a:srgbClr val="1565C0"/>
            </a:solidFill>
            <a:prstDash val="solid"/>
          </a:ln>
        </p:spPr>
        <p:txBody>
          <a:bodyPr/>
          <a:lstStyle/>
          <a:p>
            <a:endParaRPr lang="es-ES_tradnl" noProof="1"/>
          </a:p>
        </p:txBody>
      </p:sp>
      <p:sp>
        <p:nvSpPr>
          <p:cNvPr id="20" name="Text 18"/>
          <p:cNvSpPr/>
          <p:nvPr/>
        </p:nvSpPr>
        <p:spPr>
          <a:xfrm>
            <a:off x="4800600" y="1097280"/>
            <a:ext cx="502920" cy="713232"/>
          </a:xfrm>
          <a:prstGeom prst="rect">
            <a:avLst/>
          </a:prstGeom>
          <a:noFill/>
          <a:ln/>
        </p:spPr>
        <p:txBody>
          <a:bodyPr wrap="square" lIns="0" tIns="0" rIns="0" bIns="0" rtlCol="0" anchor="ctr"/>
          <a:lstStyle/>
          <a:p>
            <a:pPr marL="0" indent="0" algn="ctr">
              <a:buNone/>
            </a:pPr>
            <a:r>
              <a:rPr lang="es-ES_tradnl" sz="1600" b="1" noProof="1">
                <a:solidFill>
                  <a:srgbClr val="FFFFFF"/>
                </a:solidFill>
              </a:rPr>
              <a:t>04</a:t>
            </a:r>
            <a:endParaRPr lang="es-ES_tradnl" sz="1600" noProof="1"/>
          </a:p>
        </p:txBody>
      </p:sp>
      <p:sp>
        <p:nvSpPr>
          <p:cNvPr id="21" name="Text 19"/>
          <p:cNvSpPr/>
          <p:nvPr/>
        </p:nvSpPr>
        <p:spPr>
          <a:xfrm>
            <a:off x="5394960" y="1152144"/>
            <a:ext cx="3520440" cy="347472"/>
          </a:xfrm>
          <a:prstGeom prst="rect">
            <a:avLst/>
          </a:prstGeom>
          <a:noFill/>
          <a:ln/>
        </p:spPr>
        <p:txBody>
          <a:bodyPr wrap="square" rtlCol="0" anchor="t"/>
          <a:lstStyle/>
          <a:p>
            <a:pPr marL="0" indent="0">
              <a:buNone/>
            </a:pPr>
            <a:r>
              <a:rPr lang="es-ES_tradnl" sz="1300" b="1" noProof="1">
                <a:solidFill>
                  <a:srgbClr val="0D2B55"/>
                </a:solidFill>
              </a:rPr>
              <a:t>Hipótesis</a:t>
            </a:r>
            <a:endParaRPr lang="es-ES_tradnl" sz="1300" noProof="1"/>
          </a:p>
        </p:txBody>
      </p:sp>
      <p:sp>
        <p:nvSpPr>
          <p:cNvPr id="22" name="Text 20"/>
          <p:cNvSpPr/>
          <p:nvPr/>
        </p:nvSpPr>
        <p:spPr>
          <a:xfrm>
            <a:off x="5394960" y="1481328"/>
            <a:ext cx="3520440" cy="274320"/>
          </a:xfrm>
          <a:prstGeom prst="rect">
            <a:avLst/>
          </a:prstGeom>
          <a:noFill/>
          <a:ln/>
        </p:spPr>
        <p:txBody>
          <a:bodyPr wrap="square" rtlCol="0" anchor="t"/>
          <a:lstStyle/>
          <a:p>
            <a:pPr marL="0" indent="0">
              <a:buNone/>
            </a:pPr>
            <a:r>
              <a:rPr lang="es-ES_tradnl" sz="1000" noProof="1">
                <a:solidFill>
                  <a:srgbClr val="546E7A"/>
                </a:solidFill>
              </a:rPr>
              <a:t>Premisa central del modelo predictivo</a:t>
            </a:r>
            <a:endParaRPr lang="es-ES_tradnl" sz="1000" noProof="1"/>
          </a:p>
        </p:txBody>
      </p:sp>
      <p:sp>
        <p:nvSpPr>
          <p:cNvPr id="23" name="Shape 21"/>
          <p:cNvSpPr/>
          <p:nvPr/>
        </p:nvSpPr>
        <p:spPr>
          <a:xfrm>
            <a:off x="4800600" y="1975104"/>
            <a:ext cx="4206240" cy="713232"/>
          </a:xfrm>
          <a:prstGeom prst="rect">
            <a:avLst/>
          </a:prstGeom>
          <a:solidFill>
            <a:srgbClr val="FFFFFF"/>
          </a:solidFill>
          <a:ln w="12700">
            <a:solidFill>
              <a:srgbClr val="E2E8F0"/>
            </a:solidFill>
            <a:prstDash val="solid"/>
          </a:ln>
          <a:effectLst>
            <a:outerShdw blurRad="76200" dist="25400" dir="8100000" algn="bl" rotWithShape="0">
              <a:srgbClr val="000000">
                <a:alpha val="12000"/>
              </a:srgbClr>
            </a:outerShdw>
          </a:effectLst>
        </p:spPr>
        <p:txBody>
          <a:bodyPr/>
          <a:lstStyle/>
          <a:p>
            <a:endParaRPr lang="es-ES_tradnl" noProof="1"/>
          </a:p>
        </p:txBody>
      </p:sp>
      <p:sp>
        <p:nvSpPr>
          <p:cNvPr id="24" name="Shape 22"/>
          <p:cNvSpPr/>
          <p:nvPr/>
        </p:nvSpPr>
        <p:spPr>
          <a:xfrm>
            <a:off x="4800600" y="1975104"/>
            <a:ext cx="502920" cy="713232"/>
          </a:xfrm>
          <a:prstGeom prst="rect">
            <a:avLst/>
          </a:prstGeom>
          <a:solidFill>
            <a:srgbClr val="1565C0"/>
          </a:solidFill>
          <a:ln w="12700">
            <a:solidFill>
              <a:srgbClr val="1565C0"/>
            </a:solidFill>
            <a:prstDash val="solid"/>
          </a:ln>
        </p:spPr>
        <p:txBody>
          <a:bodyPr/>
          <a:lstStyle/>
          <a:p>
            <a:endParaRPr lang="es-ES_tradnl" noProof="1"/>
          </a:p>
        </p:txBody>
      </p:sp>
      <p:sp>
        <p:nvSpPr>
          <p:cNvPr id="25" name="Text 23"/>
          <p:cNvSpPr/>
          <p:nvPr/>
        </p:nvSpPr>
        <p:spPr>
          <a:xfrm>
            <a:off x="4800600" y="1975104"/>
            <a:ext cx="502920" cy="713232"/>
          </a:xfrm>
          <a:prstGeom prst="rect">
            <a:avLst/>
          </a:prstGeom>
          <a:noFill/>
          <a:ln/>
        </p:spPr>
        <p:txBody>
          <a:bodyPr wrap="square" lIns="0" tIns="0" rIns="0" bIns="0" rtlCol="0" anchor="ctr"/>
          <a:lstStyle/>
          <a:p>
            <a:pPr marL="0" indent="0" algn="ctr">
              <a:buNone/>
            </a:pPr>
            <a:r>
              <a:rPr lang="es-ES_tradnl" sz="1600" b="1" noProof="1">
                <a:solidFill>
                  <a:srgbClr val="FFFFFF"/>
                </a:solidFill>
              </a:rPr>
              <a:t>05</a:t>
            </a:r>
            <a:endParaRPr lang="es-ES_tradnl" sz="1600" noProof="1"/>
          </a:p>
        </p:txBody>
      </p:sp>
      <p:sp>
        <p:nvSpPr>
          <p:cNvPr id="26" name="Text 24"/>
          <p:cNvSpPr/>
          <p:nvPr/>
        </p:nvSpPr>
        <p:spPr>
          <a:xfrm>
            <a:off x="5394960" y="2029968"/>
            <a:ext cx="3520440" cy="347472"/>
          </a:xfrm>
          <a:prstGeom prst="rect">
            <a:avLst/>
          </a:prstGeom>
          <a:noFill/>
          <a:ln/>
        </p:spPr>
        <p:txBody>
          <a:bodyPr wrap="square" rtlCol="0" anchor="t"/>
          <a:lstStyle/>
          <a:p>
            <a:pPr marL="0" indent="0">
              <a:buNone/>
            </a:pPr>
            <a:r>
              <a:rPr lang="es-ES_tradnl" sz="1300" b="1" noProof="1">
                <a:solidFill>
                  <a:srgbClr val="0D2B55"/>
                </a:solidFill>
              </a:rPr>
              <a:t>Metodología</a:t>
            </a:r>
            <a:endParaRPr lang="es-ES_tradnl" sz="1300" noProof="1"/>
          </a:p>
        </p:txBody>
      </p:sp>
      <p:sp>
        <p:nvSpPr>
          <p:cNvPr id="27" name="Text 25"/>
          <p:cNvSpPr/>
          <p:nvPr/>
        </p:nvSpPr>
        <p:spPr>
          <a:xfrm>
            <a:off x="5394960" y="2359152"/>
            <a:ext cx="3520440" cy="274320"/>
          </a:xfrm>
          <a:prstGeom prst="rect">
            <a:avLst/>
          </a:prstGeom>
          <a:noFill/>
          <a:ln/>
        </p:spPr>
        <p:txBody>
          <a:bodyPr wrap="square" rtlCol="0" anchor="t"/>
          <a:lstStyle/>
          <a:p>
            <a:pPr marL="0" indent="0">
              <a:buNone/>
            </a:pPr>
            <a:r>
              <a:rPr lang="es-ES_tradnl" sz="1000" noProof="1">
                <a:solidFill>
                  <a:srgbClr val="546E7A"/>
                </a:solidFill>
              </a:rPr>
              <a:t>Fases del ciclo de modelado predictivo</a:t>
            </a:r>
            <a:endParaRPr lang="es-ES_tradnl" sz="1000" noProof="1"/>
          </a:p>
        </p:txBody>
      </p:sp>
      <p:sp>
        <p:nvSpPr>
          <p:cNvPr id="28" name="Shape 26"/>
          <p:cNvSpPr/>
          <p:nvPr/>
        </p:nvSpPr>
        <p:spPr>
          <a:xfrm>
            <a:off x="4800600" y="2852928"/>
            <a:ext cx="4206240" cy="713232"/>
          </a:xfrm>
          <a:prstGeom prst="rect">
            <a:avLst/>
          </a:prstGeom>
          <a:solidFill>
            <a:srgbClr val="FFFFFF"/>
          </a:solidFill>
          <a:ln w="12700">
            <a:solidFill>
              <a:srgbClr val="E2E8F0"/>
            </a:solidFill>
            <a:prstDash val="solid"/>
          </a:ln>
          <a:effectLst>
            <a:outerShdw blurRad="76200" dist="25400" dir="8100000" algn="bl" rotWithShape="0">
              <a:srgbClr val="000000">
                <a:alpha val="12000"/>
              </a:srgbClr>
            </a:outerShdw>
          </a:effectLst>
        </p:spPr>
        <p:txBody>
          <a:bodyPr/>
          <a:lstStyle/>
          <a:p>
            <a:endParaRPr lang="es-ES_tradnl" noProof="1"/>
          </a:p>
        </p:txBody>
      </p:sp>
      <p:sp>
        <p:nvSpPr>
          <p:cNvPr id="29" name="Shape 27"/>
          <p:cNvSpPr/>
          <p:nvPr/>
        </p:nvSpPr>
        <p:spPr>
          <a:xfrm>
            <a:off x="4800600" y="2852928"/>
            <a:ext cx="502920" cy="713232"/>
          </a:xfrm>
          <a:prstGeom prst="rect">
            <a:avLst/>
          </a:prstGeom>
          <a:solidFill>
            <a:srgbClr val="1565C0"/>
          </a:solidFill>
          <a:ln w="12700">
            <a:solidFill>
              <a:srgbClr val="1565C0"/>
            </a:solidFill>
            <a:prstDash val="solid"/>
          </a:ln>
        </p:spPr>
        <p:txBody>
          <a:bodyPr/>
          <a:lstStyle/>
          <a:p>
            <a:endParaRPr lang="es-ES_tradnl" noProof="1"/>
          </a:p>
        </p:txBody>
      </p:sp>
      <p:sp>
        <p:nvSpPr>
          <p:cNvPr id="30" name="Text 28"/>
          <p:cNvSpPr/>
          <p:nvPr/>
        </p:nvSpPr>
        <p:spPr>
          <a:xfrm>
            <a:off x="4800600" y="2852928"/>
            <a:ext cx="502920" cy="713232"/>
          </a:xfrm>
          <a:prstGeom prst="rect">
            <a:avLst/>
          </a:prstGeom>
          <a:noFill/>
          <a:ln/>
        </p:spPr>
        <p:txBody>
          <a:bodyPr wrap="square" lIns="0" tIns="0" rIns="0" bIns="0" rtlCol="0" anchor="ctr"/>
          <a:lstStyle/>
          <a:p>
            <a:pPr marL="0" indent="0" algn="ctr">
              <a:buNone/>
            </a:pPr>
            <a:r>
              <a:rPr lang="es-ES_tradnl" sz="1600" b="1" noProof="1">
                <a:solidFill>
                  <a:srgbClr val="FFFFFF"/>
                </a:solidFill>
              </a:rPr>
              <a:t>06</a:t>
            </a:r>
            <a:endParaRPr lang="es-ES_tradnl" sz="1600" noProof="1"/>
          </a:p>
        </p:txBody>
      </p:sp>
      <p:sp>
        <p:nvSpPr>
          <p:cNvPr id="31" name="Text 29"/>
          <p:cNvSpPr/>
          <p:nvPr/>
        </p:nvSpPr>
        <p:spPr>
          <a:xfrm>
            <a:off x="5394960" y="2907792"/>
            <a:ext cx="3520440" cy="347472"/>
          </a:xfrm>
          <a:prstGeom prst="rect">
            <a:avLst/>
          </a:prstGeom>
          <a:noFill/>
          <a:ln/>
        </p:spPr>
        <p:txBody>
          <a:bodyPr wrap="square" rtlCol="0" anchor="t"/>
          <a:lstStyle/>
          <a:p>
            <a:pPr marL="0" indent="0">
              <a:buNone/>
            </a:pPr>
            <a:r>
              <a:rPr lang="es-ES_tradnl" sz="1300" b="1" noProof="1">
                <a:solidFill>
                  <a:srgbClr val="0D2B55"/>
                </a:solidFill>
              </a:rPr>
              <a:t>Vigilancia Tecnológica</a:t>
            </a:r>
            <a:endParaRPr lang="es-ES_tradnl" sz="1300" noProof="1"/>
          </a:p>
        </p:txBody>
      </p:sp>
      <p:sp>
        <p:nvSpPr>
          <p:cNvPr id="32" name="Text 30"/>
          <p:cNvSpPr/>
          <p:nvPr/>
        </p:nvSpPr>
        <p:spPr>
          <a:xfrm>
            <a:off x="5394960" y="3236976"/>
            <a:ext cx="3520440" cy="274320"/>
          </a:xfrm>
          <a:prstGeom prst="rect">
            <a:avLst/>
          </a:prstGeom>
          <a:noFill/>
          <a:ln/>
        </p:spPr>
        <p:txBody>
          <a:bodyPr wrap="square" rtlCol="0" anchor="t"/>
          <a:lstStyle/>
          <a:p>
            <a:pPr marL="0" indent="0">
              <a:buNone/>
            </a:pPr>
            <a:r>
              <a:rPr lang="es-ES_tradnl" sz="1000" noProof="1">
                <a:solidFill>
                  <a:srgbClr val="546E7A"/>
                </a:solidFill>
              </a:rPr>
              <a:t>Benchmarking y vacíos detectados</a:t>
            </a:r>
            <a:endParaRPr lang="es-ES_tradnl" sz="1000" noProof="1"/>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2B55"/>
          </a:solidFill>
          <a:ln w="12700">
            <a:solidFill>
              <a:srgbClr val="0D2B55"/>
            </a:solidFill>
            <a:prstDash val="solid"/>
          </a:ln>
        </p:spPr>
        <p:txBody>
          <a:bodyPr/>
          <a:lstStyle/>
          <a:p>
            <a:endParaRPr lang="es-ES_tradnl" noProof="1"/>
          </a:p>
        </p:txBody>
      </p:sp>
      <p:sp>
        <p:nvSpPr>
          <p:cNvPr id="3" name="Shape 1"/>
          <p:cNvSpPr/>
          <p:nvPr/>
        </p:nvSpPr>
        <p:spPr>
          <a:xfrm>
            <a:off x="0" y="0"/>
            <a:ext cx="164592" cy="914400"/>
          </a:xfrm>
          <a:prstGeom prst="rect">
            <a:avLst/>
          </a:prstGeom>
          <a:solidFill>
            <a:srgbClr val="C62828"/>
          </a:solidFill>
          <a:ln w="12700">
            <a:solidFill>
              <a:srgbClr val="C62828"/>
            </a:solidFill>
            <a:prstDash val="solid"/>
          </a:ln>
        </p:spPr>
        <p:txBody>
          <a:bodyPr/>
          <a:lstStyle/>
          <a:p>
            <a:endParaRPr lang="es-ES_tradnl" noProof="1"/>
          </a:p>
        </p:txBody>
      </p:sp>
      <p:sp>
        <p:nvSpPr>
          <p:cNvPr id="4" name="Text 2"/>
          <p:cNvSpPr/>
          <p:nvPr/>
        </p:nvSpPr>
        <p:spPr>
          <a:xfrm>
            <a:off x="320040" y="0"/>
            <a:ext cx="8503920" cy="914400"/>
          </a:xfrm>
          <a:prstGeom prst="rect">
            <a:avLst/>
          </a:prstGeom>
          <a:noFill/>
          <a:ln/>
        </p:spPr>
        <p:txBody>
          <a:bodyPr wrap="square" rtlCol="0" anchor="ctr"/>
          <a:lstStyle/>
          <a:p>
            <a:pPr marL="0" indent="0">
              <a:buNone/>
            </a:pPr>
            <a:r>
              <a:rPr lang="es-ES_tradnl" sz="2400" b="1" noProof="1">
                <a:solidFill>
                  <a:srgbClr val="FFFFFF"/>
                </a:solidFill>
              </a:rPr>
              <a:t>Planteamiento del Problema</a:t>
            </a:r>
            <a:endParaRPr lang="es-ES_tradnl" sz="2400" noProof="1"/>
          </a:p>
        </p:txBody>
      </p:sp>
      <p:sp>
        <p:nvSpPr>
          <p:cNvPr id="5" name="Shape 3"/>
          <p:cNvSpPr/>
          <p:nvPr/>
        </p:nvSpPr>
        <p:spPr>
          <a:xfrm>
            <a:off x="228600" y="1051560"/>
            <a:ext cx="2011680" cy="1097280"/>
          </a:xfrm>
          <a:prstGeom prst="rect">
            <a:avLst/>
          </a:prstGeom>
          <a:solidFill>
            <a:srgbClr val="FFFFFF"/>
          </a:solidFill>
          <a:ln w="12700">
            <a:solidFill>
              <a:srgbClr val="E2E8F0"/>
            </a:solidFill>
            <a:prstDash val="solid"/>
          </a:ln>
          <a:effectLst>
            <a:outerShdw blurRad="76200" dist="25400" dir="8100000" algn="bl" rotWithShape="0">
              <a:srgbClr val="000000">
                <a:alpha val="12000"/>
              </a:srgbClr>
            </a:outerShdw>
          </a:effectLst>
        </p:spPr>
        <p:txBody>
          <a:bodyPr/>
          <a:lstStyle/>
          <a:p>
            <a:endParaRPr lang="es-ES_tradnl" noProof="1"/>
          </a:p>
        </p:txBody>
      </p:sp>
      <p:sp>
        <p:nvSpPr>
          <p:cNvPr id="6" name="Shape 4"/>
          <p:cNvSpPr/>
          <p:nvPr/>
        </p:nvSpPr>
        <p:spPr>
          <a:xfrm>
            <a:off x="228600" y="1051560"/>
            <a:ext cx="2011680" cy="109728"/>
          </a:xfrm>
          <a:prstGeom prst="rect">
            <a:avLst/>
          </a:prstGeom>
          <a:solidFill>
            <a:srgbClr val="C62828"/>
          </a:solidFill>
          <a:ln w="12700">
            <a:solidFill>
              <a:srgbClr val="C62828"/>
            </a:solidFill>
            <a:prstDash val="solid"/>
          </a:ln>
        </p:spPr>
        <p:txBody>
          <a:bodyPr/>
          <a:lstStyle/>
          <a:p>
            <a:endParaRPr lang="es-ES_tradnl" noProof="1"/>
          </a:p>
        </p:txBody>
      </p:sp>
      <p:sp>
        <p:nvSpPr>
          <p:cNvPr id="7" name="Text 5"/>
          <p:cNvSpPr/>
          <p:nvPr/>
        </p:nvSpPr>
        <p:spPr>
          <a:xfrm>
            <a:off x="228600" y="1170432"/>
            <a:ext cx="2011680" cy="594360"/>
          </a:xfrm>
          <a:prstGeom prst="rect">
            <a:avLst/>
          </a:prstGeom>
          <a:noFill/>
          <a:ln/>
        </p:spPr>
        <p:txBody>
          <a:bodyPr wrap="square" rtlCol="0" anchor="ctr"/>
          <a:lstStyle/>
          <a:p>
            <a:pPr marL="0" indent="0" algn="ctr">
              <a:buNone/>
            </a:pPr>
            <a:r>
              <a:rPr lang="es-ES_tradnl" sz="2600" b="1" noProof="1">
                <a:solidFill>
                  <a:srgbClr val="C62828"/>
                </a:solidFill>
              </a:rPr>
              <a:t>12.05%</a:t>
            </a:r>
            <a:endParaRPr lang="es-ES_tradnl" sz="2600" noProof="1"/>
          </a:p>
        </p:txBody>
      </p:sp>
      <p:sp>
        <p:nvSpPr>
          <p:cNvPr id="8" name="Text 6"/>
          <p:cNvSpPr/>
          <p:nvPr/>
        </p:nvSpPr>
        <p:spPr>
          <a:xfrm>
            <a:off x="228600" y="1764792"/>
            <a:ext cx="2011680" cy="365760"/>
          </a:xfrm>
          <a:prstGeom prst="rect">
            <a:avLst/>
          </a:prstGeom>
          <a:noFill/>
          <a:ln/>
        </p:spPr>
        <p:txBody>
          <a:bodyPr wrap="square" rtlCol="0" anchor="ctr"/>
          <a:lstStyle/>
          <a:p>
            <a:pPr marL="0" indent="0" algn="ctr">
              <a:buNone/>
            </a:pPr>
            <a:r>
              <a:rPr lang="es-ES_tradnl" sz="950" noProof="1">
                <a:solidFill>
                  <a:srgbClr val="546E7A"/>
                </a:solidFill>
              </a:rPr>
              <a:t>Deserción ETITC</a:t>
            </a:r>
            <a:endParaRPr lang="es-ES_tradnl" sz="950" noProof="1"/>
          </a:p>
        </p:txBody>
      </p:sp>
      <p:sp>
        <p:nvSpPr>
          <p:cNvPr id="9" name="Shape 7"/>
          <p:cNvSpPr/>
          <p:nvPr/>
        </p:nvSpPr>
        <p:spPr>
          <a:xfrm>
            <a:off x="2423160" y="1051560"/>
            <a:ext cx="2011680" cy="1097280"/>
          </a:xfrm>
          <a:prstGeom prst="rect">
            <a:avLst/>
          </a:prstGeom>
          <a:solidFill>
            <a:srgbClr val="FFFFFF"/>
          </a:solidFill>
          <a:ln w="12700">
            <a:solidFill>
              <a:srgbClr val="E2E8F0"/>
            </a:solidFill>
            <a:prstDash val="solid"/>
          </a:ln>
          <a:effectLst>
            <a:outerShdw blurRad="76200" dist="25400" dir="8100000" algn="bl" rotWithShape="0">
              <a:srgbClr val="000000">
                <a:alpha val="12000"/>
              </a:srgbClr>
            </a:outerShdw>
          </a:effectLst>
        </p:spPr>
        <p:txBody>
          <a:bodyPr/>
          <a:lstStyle/>
          <a:p>
            <a:endParaRPr lang="es-ES_tradnl" noProof="1"/>
          </a:p>
        </p:txBody>
      </p:sp>
      <p:sp>
        <p:nvSpPr>
          <p:cNvPr id="10" name="Shape 8"/>
          <p:cNvSpPr/>
          <p:nvPr/>
        </p:nvSpPr>
        <p:spPr>
          <a:xfrm>
            <a:off x="2423160" y="1051560"/>
            <a:ext cx="2011680" cy="109728"/>
          </a:xfrm>
          <a:prstGeom prst="rect">
            <a:avLst/>
          </a:prstGeom>
          <a:solidFill>
            <a:srgbClr val="FF6F00"/>
          </a:solidFill>
          <a:ln w="12700">
            <a:solidFill>
              <a:srgbClr val="FF6F00"/>
            </a:solidFill>
            <a:prstDash val="solid"/>
          </a:ln>
        </p:spPr>
        <p:txBody>
          <a:bodyPr/>
          <a:lstStyle/>
          <a:p>
            <a:endParaRPr lang="es-ES_tradnl" noProof="1"/>
          </a:p>
        </p:txBody>
      </p:sp>
      <p:sp>
        <p:nvSpPr>
          <p:cNvPr id="11" name="Text 9"/>
          <p:cNvSpPr/>
          <p:nvPr/>
        </p:nvSpPr>
        <p:spPr>
          <a:xfrm>
            <a:off x="2423160" y="1170432"/>
            <a:ext cx="2011680" cy="594360"/>
          </a:xfrm>
          <a:prstGeom prst="rect">
            <a:avLst/>
          </a:prstGeom>
          <a:noFill/>
          <a:ln/>
        </p:spPr>
        <p:txBody>
          <a:bodyPr wrap="square" rtlCol="0" anchor="ctr"/>
          <a:lstStyle/>
          <a:p>
            <a:pPr marL="0" indent="0" algn="ctr">
              <a:buNone/>
            </a:pPr>
            <a:r>
              <a:rPr lang="es-ES_tradnl" sz="2600" b="1" noProof="1">
                <a:solidFill>
                  <a:srgbClr val="FF6F00"/>
                </a:solidFill>
              </a:rPr>
              <a:t>8.5%</a:t>
            </a:r>
            <a:endParaRPr lang="es-ES_tradnl" sz="2600" noProof="1"/>
          </a:p>
        </p:txBody>
      </p:sp>
      <p:sp>
        <p:nvSpPr>
          <p:cNvPr id="12" name="Text 10"/>
          <p:cNvSpPr/>
          <p:nvPr/>
        </p:nvSpPr>
        <p:spPr>
          <a:xfrm>
            <a:off x="2423160" y="1764792"/>
            <a:ext cx="2011680" cy="365760"/>
          </a:xfrm>
          <a:prstGeom prst="rect">
            <a:avLst/>
          </a:prstGeom>
          <a:noFill/>
          <a:ln/>
        </p:spPr>
        <p:txBody>
          <a:bodyPr wrap="square" rtlCol="0" anchor="ctr"/>
          <a:lstStyle/>
          <a:p>
            <a:pPr marL="0" indent="0" algn="ctr">
              <a:buNone/>
            </a:pPr>
            <a:r>
              <a:rPr lang="es-ES_tradnl" sz="950" noProof="1">
                <a:solidFill>
                  <a:srgbClr val="546E7A"/>
                </a:solidFill>
              </a:rPr>
              <a:t>Promedio Nacional</a:t>
            </a:r>
            <a:endParaRPr lang="es-ES_tradnl" sz="950" noProof="1"/>
          </a:p>
        </p:txBody>
      </p:sp>
      <p:sp>
        <p:nvSpPr>
          <p:cNvPr id="13" name="Shape 11"/>
          <p:cNvSpPr/>
          <p:nvPr/>
        </p:nvSpPr>
        <p:spPr>
          <a:xfrm>
            <a:off x="4617720" y="1051560"/>
            <a:ext cx="2011680" cy="1097280"/>
          </a:xfrm>
          <a:prstGeom prst="rect">
            <a:avLst/>
          </a:prstGeom>
          <a:solidFill>
            <a:srgbClr val="FFFFFF"/>
          </a:solidFill>
          <a:ln w="12700">
            <a:solidFill>
              <a:srgbClr val="E2E8F0"/>
            </a:solidFill>
            <a:prstDash val="solid"/>
          </a:ln>
          <a:effectLst>
            <a:outerShdw blurRad="76200" dist="25400" dir="8100000" algn="bl" rotWithShape="0">
              <a:srgbClr val="000000">
                <a:alpha val="12000"/>
              </a:srgbClr>
            </a:outerShdw>
          </a:effectLst>
        </p:spPr>
        <p:txBody>
          <a:bodyPr/>
          <a:lstStyle/>
          <a:p>
            <a:endParaRPr lang="es-ES_tradnl" noProof="1"/>
          </a:p>
        </p:txBody>
      </p:sp>
      <p:sp>
        <p:nvSpPr>
          <p:cNvPr id="14" name="Shape 12"/>
          <p:cNvSpPr/>
          <p:nvPr/>
        </p:nvSpPr>
        <p:spPr>
          <a:xfrm>
            <a:off x="4617720" y="1051560"/>
            <a:ext cx="2011680" cy="109728"/>
          </a:xfrm>
          <a:prstGeom prst="rect">
            <a:avLst/>
          </a:prstGeom>
          <a:solidFill>
            <a:srgbClr val="1565C0"/>
          </a:solidFill>
          <a:ln w="12700">
            <a:solidFill>
              <a:srgbClr val="1565C0"/>
            </a:solidFill>
            <a:prstDash val="solid"/>
          </a:ln>
        </p:spPr>
        <p:txBody>
          <a:bodyPr/>
          <a:lstStyle/>
          <a:p>
            <a:endParaRPr lang="es-ES_tradnl" noProof="1"/>
          </a:p>
        </p:txBody>
      </p:sp>
      <p:sp>
        <p:nvSpPr>
          <p:cNvPr id="15" name="Text 13"/>
          <p:cNvSpPr/>
          <p:nvPr/>
        </p:nvSpPr>
        <p:spPr>
          <a:xfrm>
            <a:off x="4617720" y="1170432"/>
            <a:ext cx="2011680" cy="594360"/>
          </a:xfrm>
          <a:prstGeom prst="rect">
            <a:avLst/>
          </a:prstGeom>
          <a:noFill/>
          <a:ln/>
        </p:spPr>
        <p:txBody>
          <a:bodyPr wrap="square" rtlCol="0" anchor="ctr"/>
          <a:lstStyle/>
          <a:p>
            <a:pPr marL="0" indent="0" algn="ctr">
              <a:buNone/>
            </a:pPr>
            <a:r>
              <a:rPr lang="es-ES_tradnl" sz="2600" b="1" noProof="1">
                <a:solidFill>
                  <a:srgbClr val="1565C0"/>
                </a:solidFill>
              </a:rPr>
              <a:t>66.49%</a:t>
            </a:r>
            <a:endParaRPr lang="es-ES_tradnl" sz="2600" noProof="1"/>
          </a:p>
        </p:txBody>
      </p:sp>
      <p:sp>
        <p:nvSpPr>
          <p:cNvPr id="16" name="Text 14"/>
          <p:cNvSpPr/>
          <p:nvPr/>
        </p:nvSpPr>
        <p:spPr>
          <a:xfrm>
            <a:off x="4617720" y="1764792"/>
            <a:ext cx="2011680" cy="365760"/>
          </a:xfrm>
          <a:prstGeom prst="rect">
            <a:avLst/>
          </a:prstGeom>
          <a:noFill/>
          <a:ln/>
        </p:spPr>
        <p:txBody>
          <a:bodyPr wrap="square" rtlCol="0" anchor="ctr"/>
          <a:lstStyle/>
          <a:p>
            <a:pPr marL="0" indent="0" algn="ctr">
              <a:buNone/>
            </a:pPr>
            <a:r>
              <a:rPr lang="es-ES_tradnl" sz="950" noProof="1">
                <a:solidFill>
                  <a:srgbClr val="546E7A"/>
                </a:solidFill>
              </a:rPr>
              <a:t>Estudiantes trabajando</a:t>
            </a:r>
            <a:endParaRPr lang="es-ES_tradnl" sz="950" noProof="1"/>
          </a:p>
        </p:txBody>
      </p:sp>
      <p:sp>
        <p:nvSpPr>
          <p:cNvPr id="17" name="Shape 15"/>
          <p:cNvSpPr/>
          <p:nvPr/>
        </p:nvSpPr>
        <p:spPr>
          <a:xfrm>
            <a:off x="6812280" y="1051560"/>
            <a:ext cx="2011680" cy="1097280"/>
          </a:xfrm>
          <a:prstGeom prst="rect">
            <a:avLst/>
          </a:prstGeom>
          <a:solidFill>
            <a:srgbClr val="FFFFFF"/>
          </a:solidFill>
          <a:ln w="12700">
            <a:solidFill>
              <a:srgbClr val="E2E8F0"/>
            </a:solidFill>
            <a:prstDash val="solid"/>
          </a:ln>
          <a:effectLst>
            <a:outerShdw blurRad="76200" dist="25400" dir="8100000" algn="bl" rotWithShape="0">
              <a:srgbClr val="000000">
                <a:alpha val="12000"/>
              </a:srgbClr>
            </a:outerShdw>
          </a:effectLst>
        </p:spPr>
        <p:txBody>
          <a:bodyPr/>
          <a:lstStyle/>
          <a:p>
            <a:endParaRPr lang="es-ES_tradnl" noProof="1"/>
          </a:p>
        </p:txBody>
      </p:sp>
      <p:sp>
        <p:nvSpPr>
          <p:cNvPr id="18" name="Shape 16"/>
          <p:cNvSpPr/>
          <p:nvPr/>
        </p:nvSpPr>
        <p:spPr>
          <a:xfrm>
            <a:off x="6812280" y="1051560"/>
            <a:ext cx="2011680" cy="109728"/>
          </a:xfrm>
          <a:prstGeom prst="rect">
            <a:avLst/>
          </a:prstGeom>
          <a:solidFill>
            <a:srgbClr val="00838F"/>
          </a:solidFill>
          <a:ln w="12700">
            <a:solidFill>
              <a:srgbClr val="00838F"/>
            </a:solidFill>
            <a:prstDash val="solid"/>
          </a:ln>
        </p:spPr>
        <p:txBody>
          <a:bodyPr/>
          <a:lstStyle/>
          <a:p>
            <a:endParaRPr lang="es-ES_tradnl" noProof="1"/>
          </a:p>
        </p:txBody>
      </p:sp>
      <p:sp>
        <p:nvSpPr>
          <p:cNvPr id="19" name="Text 17"/>
          <p:cNvSpPr/>
          <p:nvPr/>
        </p:nvSpPr>
        <p:spPr>
          <a:xfrm>
            <a:off x="6812280" y="1170432"/>
            <a:ext cx="2011680" cy="594360"/>
          </a:xfrm>
          <a:prstGeom prst="rect">
            <a:avLst/>
          </a:prstGeom>
          <a:noFill/>
          <a:ln/>
        </p:spPr>
        <p:txBody>
          <a:bodyPr wrap="square" rtlCol="0" anchor="ctr"/>
          <a:lstStyle/>
          <a:p>
            <a:pPr marL="0" indent="0" algn="ctr">
              <a:buNone/>
            </a:pPr>
            <a:r>
              <a:rPr lang="es-ES_tradnl" sz="2600" b="1" noProof="1">
                <a:solidFill>
                  <a:srgbClr val="00838F"/>
                </a:solidFill>
              </a:rPr>
              <a:t>52%</a:t>
            </a:r>
            <a:endParaRPr lang="es-ES_tradnl" sz="2600" noProof="1"/>
          </a:p>
        </p:txBody>
      </p:sp>
      <p:sp>
        <p:nvSpPr>
          <p:cNvPr id="20" name="Text 18"/>
          <p:cNvSpPr/>
          <p:nvPr/>
        </p:nvSpPr>
        <p:spPr>
          <a:xfrm>
            <a:off x="6812280" y="1764792"/>
            <a:ext cx="2011680" cy="365760"/>
          </a:xfrm>
          <a:prstGeom prst="rect">
            <a:avLst/>
          </a:prstGeom>
          <a:noFill/>
          <a:ln/>
        </p:spPr>
        <p:txBody>
          <a:bodyPr wrap="square" rtlCol="0" anchor="ctr"/>
          <a:lstStyle/>
          <a:p>
            <a:pPr marL="0" indent="0" algn="ctr">
              <a:buNone/>
            </a:pPr>
            <a:r>
              <a:rPr lang="es-ES_tradnl" sz="950" noProof="1">
                <a:solidFill>
                  <a:srgbClr val="546E7A"/>
                </a:solidFill>
              </a:rPr>
              <a:t>Sin tiempo académico</a:t>
            </a:r>
            <a:endParaRPr lang="es-ES_tradnl" sz="950" noProof="1"/>
          </a:p>
        </p:txBody>
      </p:sp>
      <p:sp>
        <p:nvSpPr>
          <p:cNvPr id="21" name="Shape 19"/>
          <p:cNvSpPr/>
          <p:nvPr/>
        </p:nvSpPr>
        <p:spPr>
          <a:xfrm>
            <a:off x="228600" y="2286000"/>
            <a:ext cx="2011680" cy="2560320"/>
          </a:xfrm>
          <a:prstGeom prst="rect">
            <a:avLst/>
          </a:prstGeom>
          <a:solidFill>
            <a:srgbClr val="E3F2FD"/>
          </a:solidFill>
          <a:ln w="12700">
            <a:solidFill>
              <a:srgbClr val="BBDEFB"/>
            </a:solidFill>
            <a:prstDash val="solid"/>
          </a:ln>
          <a:effectLst>
            <a:outerShdw blurRad="76200" dist="25400" dir="8100000" algn="bl" rotWithShape="0">
              <a:srgbClr val="000000">
                <a:alpha val="12000"/>
              </a:srgbClr>
            </a:outerShdw>
          </a:effectLst>
        </p:spPr>
        <p:txBody>
          <a:bodyPr/>
          <a:lstStyle/>
          <a:p>
            <a:endParaRPr lang="es-ES_tradnl" noProof="1"/>
          </a:p>
        </p:txBody>
      </p:sp>
      <p:sp>
        <p:nvSpPr>
          <p:cNvPr id="22" name="Text 20"/>
          <p:cNvSpPr/>
          <p:nvPr/>
        </p:nvSpPr>
        <p:spPr>
          <a:xfrm>
            <a:off x="320040" y="2359152"/>
            <a:ext cx="1828800" cy="411480"/>
          </a:xfrm>
          <a:prstGeom prst="rect">
            <a:avLst/>
          </a:prstGeom>
          <a:noFill/>
          <a:ln/>
        </p:spPr>
        <p:txBody>
          <a:bodyPr wrap="square" rtlCol="0" anchor="ctr"/>
          <a:lstStyle/>
          <a:p>
            <a:pPr marL="0" indent="0">
              <a:buNone/>
            </a:pPr>
            <a:r>
              <a:rPr lang="es-ES_tradnl" sz="1100" b="1" noProof="1">
                <a:solidFill>
                  <a:srgbClr val="1565C0"/>
                </a:solidFill>
              </a:rPr>
              <a:t>Modelos estáticos</a:t>
            </a:r>
            <a:endParaRPr lang="es-ES_tradnl" sz="1100" noProof="1"/>
          </a:p>
        </p:txBody>
      </p:sp>
      <p:sp>
        <p:nvSpPr>
          <p:cNvPr id="23" name="Text 21"/>
          <p:cNvSpPr/>
          <p:nvPr/>
        </p:nvSpPr>
        <p:spPr>
          <a:xfrm>
            <a:off x="320040" y="2788920"/>
            <a:ext cx="1828800" cy="1920240"/>
          </a:xfrm>
          <a:prstGeom prst="rect">
            <a:avLst/>
          </a:prstGeom>
          <a:noFill/>
          <a:ln/>
        </p:spPr>
        <p:txBody>
          <a:bodyPr wrap="square" rtlCol="0" anchor="ctr"/>
          <a:lstStyle/>
          <a:p>
            <a:pPr marL="0" indent="0">
              <a:buNone/>
            </a:pPr>
            <a:r>
              <a:rPr lang="es-ES_tradnl" sz="950" noProof="1">
                <a:solidFill>
                  <a:srgbClr val="1E293B"/>
                </a:solidFill>
              </a:rPr>
              <a:t>Adviser V.11 y RUSIA dependen de datos capturados al inicio del semestre. No detectan cambios de flujo semanal.</a:t>
            </a:r>
            <a:endParaRPr lang="es-ES_tradnl" sz="950" noProof="1"/>
          </a:p>
        </p:txBody>
      </p:sp>
      <p:sp>
        <p:nvSpPr>
          <p:cNvPr id="24" name="Shape 22"/>
          <p:cNvSpPr/>
          <p:nvPr/>
        </p:nvSpPr>
        <p:spPr>
          <a:xfrm>
            <a:off x="2423160" y="2286000"/>
            <a:ext cx="2011680" cy="2560320"/>
          </a:xfrm>
          <a:prstGeom prst="rect">
            <a:avLst/>
          </a:prstGeom>
          <a:solidFill>
            <a:srgbClr val="E3F2FD"/>
          </a:solidFill>
          <a:ln w="12700">
            <a:solidFill>
              <a:srgbClr val="BBDEFB"/>
            </a:solidFill>
            <a:prstDash val="solid"/>
          </a:ln>
          <a:effectLst>
            <a:outerShdw blurRad="76200" dist="25400" dir="8100000" algn="bl" rotWithShape="0">
              <a:srgbClr val="000000">
                <a:alpha val="12000"/>
              </a:srgbClr>
            </a:outerShdw>
          </a:effectLst>
        </p:spPr>
        <p:txBody>
          <a:bodyPr/>
          <a:lstStyle/>
          <a:p>
            <a:endParaRPr lang="es-ES_tradnl" noProof="1"/>
          </a:p>
        </p:txBody>
      </p:sp>
      <p:sp>
        <p:nvSpPr>
          <p:cNvPr id="25" name="Text 23"/>
          <p:cNvSpPr/>
          <p:nvPr/>
        </p:nvSpPr>
        <p:spPr>
          <a:xfrm>
            <a:off x="2514600" y="2359152"/>
            <a:ext cx="1828800" cy="411480"/>
          </a:xfrm>
          <a:prstGeom prst="rect">
            <a:avLst/>
          </a:prstGeom>
          <a:noFill/>
          <a:ln/>
        </p:spPr>
        <p:txBody>
          <a:bodyPr wrap="square" rtlCol="0" anchor="ctr"/>
          <a:lstStyle/>
          <a:p>
            <a:pPr marL="0" indent="0">
              <a:buNone/>
            </a:pPr>
            <a:r>
              <a:rPr lang="es-ES_tradnl" sz="1100" b="1" noProof="1">
                <a:solidFill>
                  <a:srgbClr val="1565C0"/>
                </a:solidFill>
              </a:rPr>
              <a:t>"Pobreza de tiempo"</a:t>
            </a:r>
            <a:endParaRPr lang="es-ES_tradnl" sz="1100" noProof="1"/>
          </a:p>
        </p:txBody>
      </p:sp>
      <p:sp>
        <p:nvSpPr>
          <p:cNvPr id="26" name="Text 24"/>
          <p:cNvSpPr/>
          <p:nvPr/>
        </p:nvSpPr>
        <p:spPr>
          <a:xfrm>
            <a:off x="2514600" y="2788920"/>
            <a:ext cx="1828800" cy="1920240"/>
          </a:xfrm>
          <a:prstGeom prst="rect">
            <a:avLst/>
          </a:prstGeom>
          <a:noFill/>
          <a:ln/>
        </p:spPr>
        <p:txBody>
          <a:bodyPr wrap="square" rtlCol="0" anchor="ctr"/>
          <a:lstStyle/>
          <a:p>
            <a:pPr marL="0" indent="0">
              <a:buNone/>
            </a:pPr>
            <a:r>
              <a:rPr lang="es-ES_tradnl" sz="950" noProof="1">
                <a:solidFill>
                  <a:srgbClr val="1E293B"/>
                </a:solidFill>
              </a:rPr>
              <a:t>El 52% de estudiantes casi nunca tiene tiempo suficiente para sus compromisos académicos. No se monitorea de forma continua.</a:t>
            </a:r>
            <a:endParaRPr lang="es-ES_tradnl" sz="950" noProof="1"/>
          </a:p>
        </p:txBody>
      </p:sp>
      <p:sp>
        <p:nvSpPr>
          <p:cNvPr id="27" name="Shape 25"/>
          <p:cNvSpPr/>
          <p:nvPr/>
        </p:nvSpPr>
        <p:spPr>
          <a:xfrm>
            <a:off x="4617720" y="2286000"/>
            <a:ext cx="2011680" cy="2560320"/>
          </a:xfrm>
          <a:prstGeom prst="rect">
            <a:avLst/>
          </a:prstGeom>
          <a:solidFill>
            <a:srgbClr val="E3F2FD"/>
          </a:solidFill>
          <a:ln w="12700">
            <a:solidFill>
              <a:srgbClr val="BBDEFB"/>
            </a:solidFill>
            <a:prstDash val="solid"/>
          </a:ln>
          <a:effectLst>
            <a:outerShdw blurRad="76200" dist="25400" dir="8100000" algn="bl" rotWithShape="0">
              <a:srgbClr val="000000">
                <a:alpha val="12000"/>
              </a:srgbClr>
            </a:outerShdw>
          </a:effectLst>
        </p:spPr>
        <p:txBody>
          <a:bodyPr/>
          <a:lstStyle/>
          <a:p>
            <a:endParaRPr lang="es-ES_tradnl" noProof="1"/>
          </a:p>
        </p:txBody>
      </p:sp>
      <p:sp>
        <p:nvSpPr>
          <p:cNvPr id="28" name="Text 26"/>
          <p:cNvSpPr/>
          <p:nvPr/>
        </p:nvSpPr>
        <p:spPr>
          <a:xfrm>
            <a:off x="4709160" y="2359152"/>
            <a:ext cx="1828800" cy="411480"/>
          </a:xfrm>
          <a:prstGeom prst="rect">
            <a:avLst/>
          </a:prstGeom>
          <a:noFill/>
          <a:ln/>
        </p:spPr>
        <p:txBody>
          <a:bodyPr wrap="square" rtlCol="0" anchor="ctr"/>
          <a:lstStyle/>
          <a:p>
            <a:pPr marL="0" indent="0">
              <a:buNone/>
            </a:pPr>
            <a:r>
              <a:rPr lang="es-ES_tradnl" sz="1100" b="1" noProof="1">
                <a:solidFill>
                  <a:srgbClr val="1565C0"/>
                </a:solidFill>
              </a:rPr>
              <a:t>Brecha en el LMS (Learning Management Systems)</a:t>
            </a:r>
            <a:endParaRPr lang="es-ES_tradnl" sz="1100" noProof="1"/>
          </a:p>
        </p:txBody>
      </p:sp>
      <p:sp>
        <p:nvSpPr>
          <p:cNvPr id="29" name="Text 27"/>
          <p:cNvSpPr/>
          <p:nvPr/>
        </p:nvSpPr>
        <p:spPr>
          <a:xfrm>
            <a:off x="4709160" y="2788920"/>
            <a:ext cx="1828800" cy="1920240"/>
          </a:xfrm>
          <a:prstGeom prst="rect">
            <a:avLst/>
          </a:prstGeom>
          <a:noFill/>
          <a:ln/>
        </p:spPr>
        <p:txBody>
          <a:bodyPr wrap="square" rtlCol="0" anchor="ctr"/>
          <a:lstStyle/>
          <a:p>
            <a:pPr marL="0" indent="0">
              <a:buNone/>
            </a:pPr>
            <a:r>
              <a:rPr lang="es-ES_tradnl" sz="950" noProof="1">
                <a:solidFill>
                  <a:srgbClr val="1E293B"/>
                </a:solidFill>
              </a:rPr>
              <a:t>El 91.29% accede a Moodle, pero la huella digital (frecuencia y latencia) no se vincula al perfil de riesgo actual.</a:t>
            </a:r>
            <a:endParaRPr lang="es-ES_tradnl" sz="950" noProof="1"/>
          </a:p>
        </p:txBody>
      </p:sp>
      <p:sp>
        <p:nvSpPr>
          <p:cNvPr id="30" name="Shape 28"/>
          <p:cNvSpPr/>
          <p:nvPr/>
        </p:nvSpPr>
        <p:spPr>
          <a:xfrm>
            <a:off x="6812280" y="2286000"/>
            <a:ext cx="2011680" cy="2560320"/>
          </a:xfrm>
          <a:prstGeom prst="rect">
            <a:avLst/>
          </a:prstGeom>
          <a:solidFill>
            <a:srgbClr val="E3F2FD"/>
          </a:solidFill>
          <a:ln w="12700">
            <a:solidFill>
              <a:srgbClr val="BBDEFB"/>
            </a:solidFill>
            <a:prstDash val="solid"/>
          </a:ln>
          <a:effectLst>
            <a:outerShdw blurRad="76200" dist="25400" dir="8100000" algn="bl" rotWithShape="0">
              <a:srgbClr val="000000">
                <a:alpha val="12000"/>
              </a:srgbClr>
            </a:outerShdw>
          </a:effectLst>
        </p:spPr>
        <p:txBody>
          <a:bodyPr/>
          <a:lstStyle/>
          <a:p>
            <a:endParaRPr lang="es-ES_tradnl" noProof="1"/>
          </a:p>
        </p:txBody>
      </p:sp>
      <p:sp>
        <p:nvSpPr>
          <p:cNvPr id="31" name="Text 29"/>
          <p:cNvSpPr/>
          <p:nvPr/>
        </p:nvSpPr>
        <p:spPr>
          <a:xfrm>
            <a:off x="6903720" y="2359152"/>
            <a:ext cx="1828800" cy="411480"/>
          </a:xfrm>
          <a:prstGeom prst="rect">
            <a:avLst/>
          </a:prstGeom>
          <a:noFill/>
          <a:ln/>
        </p:spPr>
        <p:txBody>
          <a:bodyPr wrap="square" rtlCol="0" anchor="ctr"/>
          <a:lstStyle/>
          <a:p>
            <a:pPr marL="0" indent="0">
              <a:buNone/>
            </a:pPr>
            <a:r>
              <a:rPr lang="es-ES_tradnl" sz="1100" b="1" noProof="1">
                <a:solidFill>
                  <a:srgbClr val="1565C0"/>
                </a:solidFill>
              </a:rPr>
              <a:t>Fatiga Urbana</a:t>
            </a:r>
            <a:endParaRPr lang="es-ES_tradnl" sz="1100" noProof="1"/>
          </a:p>
        </p:txBody>
      </p:sp>
      <p:sp>
        <p:nvSpPr>
          <p:cNvPr id="32" name="Text 30"/>
          <p:cNvSpPr/>
          <p:nvPr/>
        </p:nvSpPr>
        <p:spPr>
          <a:xfrm>
            <a:off x="6903720" y="2788920"/>
            <a:ext cx="1828800" cy="1920240"/>
          </a:xfrm>
          <a:prstGeom prst="rect">
            <a:avLst/>
          </a:prstGeom>
          <a:noFill/>
          <a:ln/>
        </p:spPr>
        <p:txBody>
          <a:bodyPr wrap="square" rtlCol="0" anchor="ctr"/>
          <a:lstStyle/>
          <a:p>
            <a:pPr marL="0" indent="0">
              <a:buNone/>
            </a:pPr>
            <a:r>
              <a:rPr lang="es-ES_tradnl" sz="950" noProof="1">
                <a:solidFill>
                  <a:srgbClr val="1E293B"/>
                </a:solidFill>
              </a:rPr>
              <a:t>El 54% depende de TransMilenio. Niveles críticos de fatiga documentados por el Observatorio de Movilidad no se integran.</a:t>
            </a:r>
            <a:endParaRPr lang="es-ES_tradnl" sz="950" noProof="1"/>
          </a:p>
        </p:txBody>
      </p:sp>
      <p:sp>
        <p:nvSpPr>
          <p:cNvPr id="34" name="Text 32"/>
          <p:cNvSpPr/>
          <p:nvPr/>
        </p:nvSpPr>
        <p:spPr>
          <a:xfrm>
            <a:off x="320040" y="4754880"/>
            <a:ext cx="8503920" cy="274320"/>
          </a:xfrm>
          <a:prstGeom prst="rect">
            <a:avLst/>
          </a:prstGeom>
          <a:noFill/>
          <a:ln/>
        </p:spPr>
        <p:txBody>
          <a:bodyPr wrap="square" rtlCol="0" anchor="ctr"/>
          <a:lstStyle/>
          <a:p>
            <a:pPr marL="0" indent="0">
              <a:buNone/>
            </a:pPr>
            <a:endParaRPr lang="es-ES_tradnl" sz="900" noProof="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84332D77-6457-79EA-930D-680A7494F005}"/>
            </a:ext>
          </a:extLst>
        </p:cNvPr>
        <p:cNvGrpSpPr/>
        <p:nvPr/>
      </p:nvGrpSpPr>
      <p:grpSpPr>
        <a:xfrm>
          <a:off x="0" y="0"/>
          <a:ext cx="0" cy="0"/>
          <a:chOff x="0" y="0"/>
          <a:chExt cx="0" cy="0"/>
        </a:xfrm>
      </p:grpSpPr>
      <p:sp>
        <p:nvSpPr>
          <p:cNvPr id="33" name="Shape 31">
            <a:extLst>
              <a:ext uri="{FF2B5EF4-FFF2-40B4-BE49-F238E27FC236}">
                <a16:creationId xmlns:a16="http://schemas.microsoft.com/office/drawing/2014/main" id="{09525688-D453-7729-B798-5733B0BE9AC7}"/>
              </a:ext>
            </a:extLst>
          </p:cNvPr>
          <p:cNvSpPr/>
          <p:nvPr/>
        </p:nvSpPr>
        <p:spPr>
          <a:xfrm>
            <a:off x="309813" y="1319863"/>
            <a:ext cx="8686800" cy="2596415"/>
          </a:xfrm>
          <a:prstGeom prst="rect">
            <a:avLst/>
          </a:prstGeom>
          <a:solidFill>
            <a:srgbClr val="1A3A6B"/>
          </a:solidFill>
          <a:ln w="12700">
            <a:solidFill>
              <a:srgbClr val="1A3A6B"/>
            </a:solidFill>
            <a:prstDash val="solid"/>
          </a:ln>
        </p:spPr>
        <p:txBody>
          <a:bodyPr/>
          <a:lstStyle/>
          <a:p>
            <a:endParaRPr lang="es-ES_tradnl" noProof="1"/>
          </a:p>
        </p:txBody>
      </p:sp>
      <p:sp>
        <p:nvSpPr>
          <p:cNvPr id="2" name="Text 0">
            <a:extLst>
              <a:ext uri="{FF2B5EF4-FFF2-40B4-BE49-F238E27FC236}">
                <a16:creationId xmlns:a16="http://schemas.microsoft.com/office/drawing/2014/main" id="{01BE98ED-6FEE-A9B0-96ED-1AA376160F54}"/>
              </a:ext>
            </a:extLst>
          </p:cNvPr>
          <p:cNvSpPr/>
          <p:nvPr/>
        </p:nvSpPr>
        <p:spPr>
          <a:xfrm>
            <a:off x="309813" y="905376"/>
            <a:ext cx="8524374" cy="3332747"/>
          </a:xfrm>
          <a:prstGeom prst="rect">
            <a:avLst/>
          </a:prstGeom>
          <a:noFill/>
          <a:ln/>
        </p:spPr>
        <p:txBody>
          <a:bodyPr wrap="square" rtlCol="0" anchor="ctr"/>
          <a:lstStyle/>
          <a:p>
            <a:pPr algn="ctr"/>
            <a:r>
              <a:rPr lang="es-ES_tradnl" sz="2000" i="1" noProof="1">
                <a:solidFill>
                  <a:schemeClr val="bg1"/>
                </a:solidFill>
              </a:rPr>
              <a:t>¿De qué manera la identificación e integración de variables dinámicas de entorno (huella digital en el LMS, elasticidad laboral y movilidad urbana) en un modelo de analítica predictiva, permite optimizar la detección temprana del riesgo de deserción en los estudiantes de la jornada nocturna</a:t>
            </a:r>
          </a:p>
          <a:p>
            <a:pPr algn="ctr"/>
            <a:r>
              <a:rPr lang="es-ES_tradnl" sz="2000" i="1" noProof="1">
                <a:solidFill>
                  <a:schemeClr val="bg1"/>
                </a:solidFill>
              </a:rPr>
              <a:t>de la ETITC Sede Centro, frente a los sistemas de monitoreo estáticos actuales?</a:t>
            </a:r>
          </a:p>
        </p:txBody>
      </p:sp>
      <p:sp>
        <p:nvSpPr>
          <p:cNvPr id="35" name="TextBox 34">
            <a:extLst>
              <a:ext uri="{FF2B5EF4-FFF2-40B4-BE49-F238E27FC236}">
                <a16:creationId xmlns:a16="http://schemas.microsoft.com/office/drawing/2014/main" id="{FC746BB9-74B8-6C8F-AACE-F63A4B4237CB}"/>
              </a:ext>
            </a:extLst>
          </p:cNvPr>
          <p:cNvSpPr txBox="1"/>
          <p:nvPr/>
        </p:nvSpPr>
        <p:spPr>
          <a:xfrm>
            <a:off x="3413960" y="1319863"/>
            <a:ext cx="2316079" cy="369332"/>
          </a:xfrm>
          <a:prstGeom prst="rect">
            <a:avLst/>
          </a:prstGeom>
          <a:noFill/>
        </p:spPr>
        <p:txBody>
          <a:bodyPr wrap="square">
            <a:spAutoFit/>
          </a:bodyPr>
          <a:lstStyle/>
          <a:p>
            <a:r>
              <a:rPr lang="es-ES_tradnl" sz="1800" b="1" noProof="1">
                <a:solidFill>
                  <a:srgbClr val="FFFFFF"/>
                </a:solidFill>
              </a:rPr>
              <a:t>❓ Pregunta problema</a:t>
            </a:r>
            <a:endParaRPr lang="es-ES_tradnl" noProof="1"/>
          </a:p>
        </p:txBody>
      </p:sp>
    </p:spTree>
    <p:extLst>
      <p:ext uri="{BB962C8B-B14F-4D97-AF65-F5344CB8AC3E}">
        <p14:creationId xmlns:p14="http://schemas.microsoft.com/office/powerpoint/2010/main" val="23139572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565C0"/>
          </a:solidFill>
          <a:ln w="12700">
            <a:solidFill>
              <a:srgbClr val="1565C0"/>
            </a:solidFill>
            <a:prstDash val="solid"/>
          </a:ln>
        </p:spPr>
        <p:txBody>
          <a:bodyPr/>
          <a:lstStyle/>
          <a:p>
            <a:endParaRPr lang="es-ES_tradnl" noProof="1"/>
          </a:p>
        </p:txBody>
      </p:sp>
      <p:sp>
        <p:nvSpPr>
          <p:cNvPr id="3" name="Shape 1"/>
          <p:cNvSpPr/>
          <p:nvPr/>
        </p:nvSpPr>
        <p:spPr>
          <a:xfrm>
            <a:off x="0" y="0"/>
            <a:ext cx="164592" cy="914400"/>
          </a:xfrm>
          <a:prstGeom prst="rect">
            <a:avLst/>
          </a:prstGeom>
          <a:solidFill>
            <a:srgbClr val="00838F"/>
          </a:solidFill>
          <a:ln w="12700">
            <a:solidFill>
              <a:srgbClr val="00838F"/>
            </a:solidFill>
            <a:prstDash val="solid"/>
          </a:ln>
        </p:spPr>
        <p:txBody>
          <a:bodyPr/>
          <a:lstStyle/>
          <a:p>
            <a:endParaRPr lang="es-ES_tradnl" noProof="1"/>
          </a:p>
        </p:txBody>
      </p:sp>
      <p:sp>
        <p:nvSpPr>
          <p:cNvPr id="4" name="Text 2"/>
          <p:cNvSpPr/>
          <p:nvPr/>
        </p:nvSpPr>
        <p:spPr>
          <a:xfrm>
            <a:off x="320040" y="0"/>
            <a:ext cx="8503920" cy="914400"/>
          </a:xfrm>
          <a:prstGeom prst="rect">
            <a:avLst/>
          </a:prstGeom>
          <a:noFill/>
          <a:ln/>
        </p:spPr>
        <p:txBody>
          <a:bodyPr wrap="square" rtlCol="0" anchor="ctr"/>
          <a:lstStyle/>
          <a:p>
            <a:pPr marL="0" indent="0">
              <a:buNone/>
            </a:pPr>
            <a:r>
              <a:rPr lang="es-ES_tradnl" sz="2400" b="1" noProof="1">
                <a:solidFill>
                  <a:srgbClr val="FFFFFF"/>
                </a:solidFill>
              </a:rPr>
              <a:t>Objetivos</a:t>
            </a:r>
            <a:endParaRPr lang="es-ES_tradnl" sz="2400" noProof="1"/>
          </a:p>
        </p:txBody>
      </p:sp>
      <p:sp>
        <p:nvSpPr>
          <p:cNvPr id="5" name="Shape 3"/>
          <p:cNvSpPr/>
          <p:nvPr/>
        </p:nvSpPr>
        <p:spPr>
          <a:xfrm>
            <a:off x="274320" y="1005840"/>
            <a:ext cx="8595360" cy="1234440"/>
          </a:xfrm>
          <a:prstGeom prst="rect">
            <a:avLst/>
          </a:prstGeom>
          <a:solidFill>
            <a:srgbClr val="0D2B55"/>
          </a:solidFill>
          <a:ln w="12700">
            <a:solidFill>
              <a:srgbClr val="0D2B55"/>
            </a:solidFill>
            <a:prstDash val="solid"/>
          </a:ln>
          <a:effectLst>
            <a:outerShdw blurRad="76200" dist="25400" dir="8100000" algn="bl" rotWithShape="0">
              <a:srgbClr val="000000">
                <a:alpha val="12000"/>
              </a:srgbClr>
            </a:outerShdw>
          </a:effectLst>
        </p:spPr>
        <p:txBody>
          <a:bodyPr/>
          <a:lstStyle/>
          <a:p>
            <a:endParaRPr lang="es-ES_tradnl" noProof="1"/>
          </a:p>
        </p:txBody>
      </p:sp>
      <p:sp>
        <p:nvSpPr>
          <p:cNvPr id="6" name="Text 4"/>
          <p:cNvSpPr/>
          <p:nvPr/>
        </p:nvSpPr>
        <p:spPr>
          <a:xfrm>
            <a:off x="457200" y="1051560"/>
            <a:ext cx="8229600" cy="292608"/>
          </a:xfrm>
          <a:prstGeom prst="rect">
            <a:avLst/>
          </a:prstGeom>
          <a:noFill/>
          <a:ln/>
        </p:spPr>
        <p:txBody>
          <a:bodyPr wrap="square" rtlCol="0" anchor="ctr"/>
          <a:lstStyle/>
          <a:p>
            <a:pPr marL="0" indent="0">
              <a:buNone/>
            </a:pPr>
            <a:r>
              <a:rPr lang="es-ES_tradnl" sz="1000" b="1" kern="0" spc="300" noProof="1">
                <a:solidFill>
                  <a:srgbClr val="00838F"/>
                </a:solidFill>
              </a:rPr>
              <a:t>OBJETIVO GENERAL</a:t>
            </a:r>
            <a:endParaRPr lang="es-ES_tradnl" sz="1000" noProof="1"/>
          </a:p>
        </p:txBody>
      </p:sp>
      <p:sp>
        <p:nvSpPr>
          <p:cNvPr id="7" name="Text 5"/>
          <p:cNvSpPr/>
          <p:nvPr/>
        </p:nvSpPr>
        <p:spPr>
          <a:xfrm>
            <a:off x="457200" y="1353312"/>
            <a:ext cx="8229600" cy="804672"/>
          </a:xfrm>
          <a:prstGeom prst="rect">
            <a:avLst/>
          </a:prstGeom>
          <a:noFill/>
          <a:ln/>
        </p:spPr>
        <p:txBody>
          <a:bodyPr wrap="square" rtlCol="0" anchor="ctr"/>
          <a:lstStyle/>
          <a:p>
            <a:pPr marL="0" indent="0">
              <a:buNone/>
            </a:pPr>
            <a:r>
              <a:rPr lang="es-ES_tradnl" sz="1250" noProof="1">
                <a:solidFill>
                  <a:srgbClr val="FFFFFF"/>
                </a:solidFill>
              </a:rPr>
              <a:t>Prototipar un modelo de analítica predictiva basado en Machine Learning que integre variables dinámicas para la detección temprana del riesgo de deserción en la jornada nocturna de la ETITC Sede Centro.</a:t>
            </a:r>
            <a:endParaRPr lang="es-ES_tradnl" sz="1250" noProof="1"/>
          </a:p>
        </p:txBody>
      </p:sp>
      <p:sp>
        <p:nvSpPr>
          <p:cNvPr id="8" name="Shape 6"/>
          <p:cNvSpPr/>
          <p:nvPr/>
        </p:nvSpPr>
        <p:spPr>
          <a:xfrm>
            <a:off x="274320" y="2423160"/>
            <a:ext cx="2834640" cy="2487168"/>
          </a:xfrm>
          <a:prstGeom prst="rect">
            <a:avLst/>
          </a:prstGeom>
          <a:solidFill>
            <a:srgbClr val="FFFFFF"/>
          </a:solidFill>
          <a:ln w="12700">
            <a:solidFill>
              <a:srgbClr val="E2E8F0"/>
            </a:solidFill>
            <a:prstDash val="solid"/>
          </a:ln>
          <a:effectLst>
            <a:outerShdw blurRad="76200" dist="25400" dir="8100000" algn="bl" rotWithShape="0">
              <a:srgbClr val="000000">
                <a:alpha val="12000"/>
              </a:srgbClr>
            </a:outerShdw>
          </a:effectLst>
        </p:spPr>
        <p:txBody>
          <a:bodyPr/>
          <a:lstStyle/>
          <a:p>
            <a:endParaRPr lang="es-ES_tradnl" noProof="1"/>
          </a:p>
        </p:txBody>
      </p:sp>
      <p:sp>
        <p:nvSpPr>
          <p:cNvPr id="9" name="Shape 7"/>
          <p:cNvSpPr/>
          <p:nvPr/>
        </p:nvSpPr>
        <p:spPr>
          <a:xfrm>
            <a:off x="274320" y="2423160"/>
            <a:ext cx="2834640" cy="457200"/>
          </a:xfrm>
          <a:prstGeom prst="rect">
            <a:avLst/>
          </a:prstGeom>
          <a:solidFill>
            <a:srgbClr val="00838F"/>
          </a:solidFill>
          <a:ln w="12700">
            <a:solidFill>
              <a:srgbClr val="00838F"/>
            </a:solidFill>
            <a:prstDash val="solid"/>
          </a:ln>
        </p:spPr>
        <p:txBody>
          <a:bodyPr/>
          <a:lstStyle/>
          <a:p>
            <a:endParaRPr lang="es-ES_tradnl" noProof="1"/>
          </a:p>
        </p:txBody>
      </p:sp>
      <p:sp>
        <p:nvSpPr>
          <p:cNvPr id="10" name="Text 8"/>
          <p:cNvSpPr/>
          <p:nvPr/>
        </p:nvSpPr>
        <p:spPr>
          <a:xfrm>
            <a:off x="274320" y="2423160"/>
            <a:ext cx="2834640" cy="457200"/>
          </a:xfrm>
          <a:prstGeom prst="rect">
            <a:avLst/>
          </a:prstGeom>
          <a:noFill/>
          <a:ln/>
        </p:spPr>
        <p:txBody>
          <a:bodyPr wrap="square" lIns="0" tIns="0" rIns="0" bIns="0" rtlCol="0" anchor="ctr"/>
          <a:lstStyle/>
          <a:p>
            <a:pPr marL="0" indent="0" algn="ctr">
              <a:buNone/>
            </a:pPr>
            <a:r>
              <a:rPr lang="es-ES_tradnl" sz="1600" b="1" noProof="1">
                <a:solidFill>
                  <a:srgbClr val="FFFFFF"/>
                </a:solidFill>
              </a:rPr>
              <a:t>Objetivo Especifico 1</a:t>
            </a:r>
            <a:endParaRPr lang="es-ES_tradnl" sz="1600" noProof="1"/>
          </a:p>
        </p:txBody>
      </p:sp>
      <p:sp>
        <p:nvSpPr>
          <p:cNvPr id="11" name="Text 9"/>
          <p:cNvSpPr/>
          <p:nvPr/>
        </p:nvSpPr>
        <p:spPr>
          <a:xfrm>
            <a:off x="384048" y="2944368"/>
            <a:ext cx="2615184" cy="457200"/>
          </a:xfrm>
          <a:prstGeom prst="rect">
            <a:avLst/>
          </a:prstGeom>
          <a:noFill/>
          <a:ln/>
        </p:spPr>
        <p:txBody>
          <a:bodyPr wrap="square" rtlCol="0" anchor="ctr"/>
          <a:lstStyle/>
          <a:p>
            <a:pPr marL="0" indent="0">
              <a:buNone/>
            </a:pPr>
            <a:r>
              <a:rPr lang="es-ES_tradnl" sz="1150" b="1" noProof="1">
                <a:solidFill>
                  <a:srgbClr val="0D2B55"/>
                </a:solidFill>
              </a:rPr>
              <a:t>Categorizar variables dinámicas</a:t>
            </a:r>
            <a:endParaRPr lang="es-ES_tradnl" sz="1150" noProof="1"/>
          </a:p>
        </p:txBody>
      </p:sp>
      <p:sp>
        <p:nvSpPr>
          <p:cNvPr id="12" name="Text 10"/>
          <p:cNvSpPr/>
          <p:nvPr/>
        </p:nvSpPr>
        <p:spPr>
          <a:xfrm>
            <a:off x="384048" y="3429000"/>
            <a:ext cx="2615184" cy="1417320"/>
          </a:xfrm>
          <a:prstGeom prst="rect">
            <a:avLst/>
          </a:prstGeom>
          <a:noFill/>
          <a:ln/>
        </p:spPr>
        <p:txBody>
          <a:bodyPr wrap="square" rtlCol="0" anchor="ctr"/>
          <a:lstStyle/>
          <a:p>
            <a:pPr marL="0" indent="0">
              <a:buNone/>
            </a:pPr>
            <a:r>
              <a:rPr lang="es-ES_tradnl" sz="1000" noProof="1">
                <a:solidFill>
                  <a:srgbClr val="1E293B"/>
                </a:solidFill>
              </a:rPr>
              <a:t>Analizar informes de caracterización institucional 2024-2025 para identificar variables de LMS, movilidad y carga laboral de mayor impacto en la persistencia académica.</a:t>
            </a:r>
            <a:endParaRPr lang="es-ES_tradnl" sz="1000" noProof="1"/>
          </a:p>
        </p:txBody>
      </p:sp>
      <p:sp>
        <p:nvSpPr>
          <p:cNvPr id="13" name="Shape 11"/>
          <p:cNvSpPr/>
          <p:nvPr/>
        </p:nvSpPr>
        <p:spPr>
          <a:xfrm>
            <a:off x="3246120" y="2423160"/>
            <a:ext cx="2834640" cy="2487168"/>
          </a:xfrm>
          <a:prstGeom prst="rect">
            <a:avLst/>
          </a:prstGeom>
          <a:solidFill>
            <a:srgbClr val="FFFFFF"/>
          </a:solidFill>
          <a:ln w="12700">
            <a:solidFill>
              <a:srgbClr val="E2E8F0"/>
            </a:solidFill>
            <a:prstDash val="solid"/>
          </a:ln>
          <a:effectLst>
            <a:outerShdw blurRad="76200" dist="25400" dir="8100000" algn="bl" rotWithShape="0">
              <a:srgbClr val="000000">
                <a:alpha val="12000"/>
              </a:srgbClr>
            </a:outerShdw>
          </a:effectLst>
        </p:spPr>
        <p:txBody>
          <a:bodyPr/>
          <a:lstStyle/>
          <a:p>
            <a:endParaRPr lang="es-ES_tradnl" noProof="1"/>
          </a:p>
        </p:txBody>
      </p:sp>
      <p:sp>
        <p:nvSpPr>
          <p:cNvPr id="14" name="Shape 12"/>
          <p:cNvSpPr/>
          <p:nvPr/>
        </p:nvSpPr>
        <p:spPr>
          <a:xfrm>
            <a:off x="3246120" y="2423160"/>
            <a:ext cx="2834640" cy="457200"/>
          </a:xfrm>
          <a:prstGeom prst="rect">
            <a:avLst/>
          </a:prstGeom>
          <a:solidFill>
            <a:srgbClr val="00838F"/>
          </a:solidFill>
          <a:ln w="12700">
            <a:solidFill>
              <a:srgbClr val="00838F"/>
            </a:solidFill>
            <a:prstDash val="solid"/>
          </a:ln>
        </p:spPr>
        <p:txBody>
          <a:bodyPr/>
          <a:lstStyle/>
          <a:p>
            <a:endParaRPr lang="es-ES_tradnl" noProof="1"/>
          </a:p>
        </p:txBody>
      </p:sp>
      <p:sp>
        <p:nvSpPr>
          <p:cNvPr id="15" name="Text 13"/>
          <p:cNvSpPr/>
          <p:nvPr/>
        </p:nvSpPr>
        <p:spPr>
          <a:xfrm>
            <a:off x="3246120" y="2423160"/>
            <a:ext cx="2834640" cy="457200"/>
          </a:xfrm>
          <a:prstGeom prst="rect">
            <a:avLst/>
          </a:prstGeom>
          <a:noFill/>
          <a:ln/>
        </p:spPr>
        <p:txBody>
          <a:bodyPr wrap="square" lIns="0" tIns="0" rIns="0" bIns="0" rtlCol="0" anchor="ctr"/>
          <a:lstStyle/>
          <a:p>
            <a:pPr algn="ctr"/>
            <a:r>
              <a:rPr lang="es-ES_tradnl" sz="1600" b="1" noProof="1">
                <a:solidFill>
                  <a:srgbClr val="FFFFFF"/>
                </a:solidFill>
              </a:rPr>
              <a:t>Objetivo Especifico 2</a:t>
            </a:r>
            <a:endParaRPr lang="es-ES_tradnl" sz="1600" noProof="1"/>
          </a:p>
        </p:txBody>
      </p:sp>
      <p:sp>
        <p:nvSpPr>
          <p:cNvPr id="16" name="Text 14"/>
          <p:cNvSpPr/>
          <p:nvPr/>
        </p:nvSpPr>
        <p:spPr>
          <a:xfrm>
            <a:off x="3355848" y="2944368"/>
            <a:ext cx="2615184" cy="457200"/>
          </a:xfrm>
          <a:prstGeom prst="rect">
            <a:avLst/>
          </a:prstGeom>
          <a:noFill/>
          <a:ln/>
        </p:spPr>
        <p:txBody>
          <a:bodyPr wrap="square" rtlCol="0" anchor="ctr"/>
          <a:lstStyle/>
          <a:p>
            <a:pPr marL="0" indent="0">
              <a:buNone/>
            </a:pPr>
            <a:r>
              <a:rPr lang="es-ES_tradnl" sz="1150" b="1" noProof="1">
                <a:solidFill>
                  <a:srgbClr val="0D2B55"/>
                </a:solidFill>
              </a:rPr>
              <a:t>Diseñar arquitectura técnica</a:t>
            </a:r>
            <a:endParaRPr lang="es-ES_tradnl" sz="1150" noProof="1"/>
          </a:p>
        </p:txBody>
      </p:sp>
      <p:sp>
        <p:nvSpPr>
          <p:cNvPr id="17" name="Text 15"/>
          <p:cNvSpPr/>
          <p:nvPr/>
        </p:nvSpPr>
        <p:spPr>
          <a:xfrm>
            <a:off x="3355848" y="3429000"/>
            <a:ext cx="2615184" cy="1417320"/>
          </a:xfrm>
          <a:prstGeom prst="rect">
            <a:avLst/>
          </a:prstGeom>
          <a:noFill/>
          <a:ln/>
        </p:spPr>
        <p:txBody>
          <a:bodyPr wrap="square" rtlCol="0" anchor="ctr"/>
          <a:lstStyle/>
          <a:p>
            <a:pPr marL="0" indent="0">
              <a:buNone/>
            </a:pPr>
            <a:r>
              <a:rPr lang="es-ES_tradnl" sz="1000" noProof="1">
                <a:solidFill>
                  <a:srgbClr val="1E293B"/>
                </a:solidFill>
              </a:rPr>
              <a:t>Definir la arquitectura del modelo predictivo capaz de procesar datos de flujo semanal de los estudiantes de la jornada nocturna.</a:t>
            </a:r>
            <a:endParaRPr lang="es-ES_tradnl" sz="1000" noProof="1"/>
          </a:p>
        </p:txBody>
      </p:sp>
      <p:sp>
        <p:nvSpPr>
          <p:cNvPr id="18" name="Shape 16"/>
          <p:cNvSpPr/>
          <p:nvPr/>
        </p:nvSpPr>
        <p:spPr>
          <a:xfrm>
            <a:off x="6217920" y="2423160"/>
            <a:ext cx="2834640" cy="2487168"/>
          </a:xfrm>
          <a:prstGeom prst="rect">
            <a:avLst/>
          </a:prstGeom>
          <a:solidFill>
            <a:srgbClr val="FFFFFF"/>
          </a:solidFill>
          <a:ln w="12700">
            <a:solidFill>
              <a:srgbClr val="E2E8F0"/>
            </a:solidFill>
            <a:prstDash val="solid"/>
          </a:ln>
          <a:effectLst>
            <a:outerShdw blurRad="76200" dist="25400" dir="8100000" algn="bl" rotWithShape="0">
              <a:srgbClr val="000000">
                <a:alpha val="12000"/>
              </a:srgbClr>
            </a:outerShdw>
          </a:effectLst>
        </p:spPr>
        <p:txBody>
          <a:bodyPr/>
          <a:lstStyle/>
          <a:p>
            <a:endParaRPr lang="es-ES_tradnl" noProof="1"/>
          </a:p>
        </p:txBody>
      </p:sp>
      <p:sp>
        <p:nvSpPr>
          <p:cNvPr id="19" name="Shape 17"/>
          <p:cNvSpPr/>
          <p:nvPr/>
        </p:nvSpPr>
        <p:spPr>
          <a:xfrm>
            <a:off x="6217920" y="2423160"/>
            <a:ext cx="2834640" cy="457200"/>
          </a:xfrm>
          <a:prstGeom prst="rect">
            <a:avLst/>
          </a:prstGeom>
          <a:solidFill>
            <a:srgbClr val="00838F"/>
          </a:solidFill>
          <a:ln w="12700">
            <a:solidFill>
              <a:srgbClr val="00838F"/>
            </a:solidFill>
            <a:prstDash val="solid"/>
          </a:ln>
        </p:spPr>
        <p:txBody>
          <a:bodyPr/>
          <a:lstStyle/>
          <a:p>
            <a:endParaRPr lang="es-ES_tradnl" noProof="1"/>
          </a:p>
        </p:txBody>
      </p:sp>
      <p:sp>
        <p:nvSpPr>
          <p:cNvPr id="20" name="Text 18"/>
          <p:cNvSpPr/>
          <p:nvPr/>
        </p:nvSpPr>
        <p:spPr>
          <a:xfrm>
            <a:off x="6217920" y="2423160"/>
            <a:ext cx="2834640" cy="457200"/>
          </a:xfrm>
          <a:prstGeom prst="rect">
            <a:avLst/>
          </a:prstGeom>
          <a:noFill/>
          <a:ln/>
        </p:spPr>
        <p:txBody>
          <a:bodyPr wrap="square" lIns="0" tIns="0" rIns="0" bIns="0" rtlCol="0" anchor="ctr"/>
          <a:lstStyle/>
          <a:p>
            <a:pPr algn="ctr"/>
            <a:r>
              <a:rPr lang="es-ES_tradnl" sz="1600" b="1" noProof="1">
                <a:solidFill>
                  <a:srgbClr val="FFFFFF"/>
                </a:solidFill>
              </a:rPr>
              <a:t>Objetivo Especifico 3</a:t>
            </a:r>
            <a:endParaRPr lang="es-ES_tradnl" sz="1600" noProof="1"/>
          </a:p>
        </p:txBody>
      </p:sp>
      <p:sp>
        <p:nvSpPr>
          <p:cNvPr id="21" name="Text 19"/>
          <p:cNvSpPr/>
          <p:nvPr/>
        </p:nvSpPr>
        <p:spPr>
          <a:xfrm>
            <a:off x="6327648" y="2944368"/>
            <a:ext cx="2615184" cy="457200"/>
          </a:xfrm>
          <a:prstGeom prst="rect">
            <a:avLst/>
          </a:prstGeom>
          <a:noFill/>
          <a:ln/>
        </p:spPr>
        <p:txBody>
          <a:bodyPr wrap="square" rtlCol="0" anchor="ctr"/>
          <a:lstStyle/>
          <a:p>
            <a:pPr marL="0" indent="0">
              <a:buNone/>
            </a:pPr>
            <a:r>
              <a:rPr lang="es-ES_tradnl" sz="1150" b="1" noProof="1">
                <a:solidFill>
                  <a:srgbClr val="0D2B55"/>
                </a:solidFill>
                <a:highlight>
                  <a:srgbClr val="FF0000"/>
                </a:highlight>
              </a:rPr>
              <a:t>Validar precisión del modelo</a:t>
            </a:r>
            <a:endParaRPr lang="es-ES_tradnl" sz="1150" noProof="1">
              <a:highlight>
                <a:srgbClr val="FF0000"/>
              </a:highlight>
            </a:endParaRPr>
          </a:p>
        </p:txBody>
      </p:sp>
      <p:sp>
        <p:nvSpPr>
          <p:cNvPr id="22" name="Text 20"/>
          <p:cNvSpPr/>
          <p:nvPr/>
        </p:nvSpPr>
        <p:spPr>
          <a:xfrm>
            <a:off x="6327648" y="3429000"/>
            <a:ext cx="2615184" cy="1417320"/>
          </a:xfrm>
          <a:prstGeom prst="rect">
            <a:avLst/>
          </a:prstGeom>
          <a:noFill/>
          <a:ln/>
        </p:spPr>
        <p:txBody>
          <a:bodyPr wrap="square" rtlCol="0" anchor="ctr"/>
          <a:lstStyle/>
          <a:p>
            <a:pPr marL="0" indent="0">
              <a:buNone/>
            </a:pPr>
            <a:r>
              <a:rPr lang="es-ES_tradnl" sz="1000" noProof="1">
                <a:solidFill>
                  <a:srgbClr val="1E293B"/>
                </a:solidFill>
              </a:rPr>
              <a:t>Realizar pruebas de rendimiento mediante Matriz de Confusión y métricas de precisión, garantizando el despliegue de alertas tempranas oportunas.</a:t>
            </a:r>
            <a:endParaRPr lang="es-ES_tradnl" sz="1000" noProof="1"/>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0838F"/>
          </a:solidFill>
          <a:ln w="12700">
            <a:solidFill>
              <a:srgbClr val="00838F"/>
            </a:solidFill>
            <a:prstDash val="solid"/>
          </a:ln>
        </p:spPr>
        <p:txBody>
          <a:bodyPr/>
          <a:lstStyle/>
          <a:p>
            <a:endParaRPr lang="es-ES_tradnl" noProof="1"/>
          </a:p>
        </p:txBody>
      </p:sp>
      <p:sp>
        <p:nvSpPr>
          <p:cNvPr id="3" name="Shape 1"/>
          <p:cNvSpPr/>
          <p:nvPr/>
        </p:nvSpPr>
        <p:spPr>
          <a:xfrm>
            <a:off x="0" y="0"/>
            <a:ext cx="164592" cy="914400"/>
          </a:xfrm>
          <a:prstGeom prst="rect">
            <a:avLst/>
          </a:prstGeom>
          <a:solidFill>
            <a:srgbClr val="FF6F00"/>
          </a:solidFill>
          <a:ln w="12700">
            <a:solidFill>
              <a:srgbClr val="FF6F00"/>
            </a:solidFill>
            <a:prstDash val="solid"/>
          </a:ln>
        </p:spPr>
        <p:txBody>
          <a:bodyPr/>
          <a:lstStyle/>
          <a:p>
            <a:endParaRPr lang="es-ES_tradnl" noProof="1"/>
          </a:p>
        </p:txBody>
      </p:sp>
      <p:sp>
        <p:nvSpPr>
          <p:cNvPr id="4" name="Text 2"/>
          <p:cNvSpPr/>
          <p:nvPr/>
        </p:nvSpPr>
        <p:spPr>
          <a:xfrm>
            <a:off x="320040" y="0"/>
            <a:ext cx="8503920" cy="914400"/>
          </a:xfrm>
          <a:prstGeom prst="rect">
            <a:avLst/>
          </a:prstGeom>
          <a:noFill/>
          <a:ln/>
        </p:spPr>
        <p:txBody>
          <a:bodyPr wrap="square" rtlCol="0" anchor="ctr"/>
          <a:lstStyle/>
          <a:p>
            <a:pPr marL="0" indent="0">
              <a:buNone/>
            </a:pPr>
            <a:r>
              <a:rPr lang="es-ES_tradnl" sz="2400" b="1" noProof="1">
                <a:solidFill>
                  <a:srgbClr val="FFFFFF"/>
                </a:solidFill>
              </a:rPr>
              <a:t>Justificación</a:t>
            </a:r>
            <a:endParaRPr lang="es-ES_tradnl" sz="2400" noProof="1"/>
          </a:p>
        </p:txBody>
      </p:sp>
      <p:sp>
        <p:nvSpPr>
          <p:cNvPr id="5" name="Shape 3"/>
          <p:cNvSpPr/>
          <p:nvPr/>
        </p:nvSpPr>
        <p:spPr>
          <a:xfrm>
            <a:off x="274320" y="1097280"/>
            <a:ext cx="4160520" cy="1737360"/>
          </a:xfrm>
          <a:prstGeom prst="rect">
            <a:avLst/>
          </a:prstGeom>
          <a:solidFill>
            <a:srgbClr val="FFFFFF"/>
          </a:solidFill>
          <a:ln w="12700">
            <a:solidFill>
              <a:srgbClr val="E2E8F0"/>
            </a:solidFill>
            <a:prstDash val="solid"/>
          </a:ln>
          <a:effectLst>
            <a:outerShdw blurRad="76200" dist="25400" dir="8100000" algn="bl" rotWithShape="0">
              <a:srgbClr val="000000">
                <a:alpha val="12000"/>
              </a:srgbClr>
            </a:outerShdw>
          </a:effectLst>
        </p:spPr>
        <p:txBody>
          <a:bodyPr/>
          <a:lstStyle/>
          <a:p>
            <a:endParaRPr lang="es-ES_tradnl" noProof="1"/>
          </a:p>
        </p:txBody>
      </p:sp>
      <p:sp>
        <p:nvSpPr>
          <p:cNvPr id="6" name="Shape 4"/>
          <p:cNvSpPr/>
          <p:nvPr/>
        </p:nvSpPr>
        <p:spPr>
          <a:xfrm>
            <a:off x="274320" y="1097280"/>
            <a:ext cx="201168" cy="1737360"/>
          </a:xfrm>
          <a:prstGeom prst="rect">
            <a:avLst/>
          </a:prstGeom>
          <a:solidFill>
            <a:srgbClr val="1565C0"/>
          </a:solidFill>
          <a:ln w="12700">
            <a:solidFill>
              <a:srgbClr val="1565C0"/>
            </a:solidFill>
            <a:prstDash val="solid"/>
          </a:ln>
        </p:spPr>
        <p:txBody>
          <a:bodyPr/>
          <a:lstStyle/>
          <a:p>
            <a:endParaRPr lang="es-ES_tradnl" noProof="1"/>
          </a:p>
        </p:txBody>
      </p:sp>
      <p:sp>
        <p:nvSpPr>
          <p:cNvPr id="7" name="Text 5"/>
          <p:cNvSpPr/>
          <p:nvPr/>
        </p:nvSpPr>
        <p:spPr>
          <a:xfrm>
            <a:off x="566928" y="1188720"/>
            <a:ext cx="3767328" cy="347472"/>
          </a:xfrm>
          <a:prstGeom prst="rect">
            <a:avLst/>
          </a:prstGeom>
          <a:noFill/>
          <a:ln/>
        </p:spPr>
        <p:txBody>
          <a:bodyPr wrap="square" rtlCol="0" anchor="ctr"/>
          <a:lstStyle/>
          <a:p>
            <a:pPr marL="0" indent="0">
              <a:buNone/>
            </a:pPr>
            <a:r>
              <a:rPr lang="es-ES_tradnl" sz="1250" b="1" noProof="1">
                <a:solidFill>
                  <a:srgbClr val="1565C0"/>
                </a:solidFill>
              </a:rPr>
              <a:t>Impacto Social</a:t>
            </a:r>
            <a:endParaRPr lang="es-ES_tradnl" sz="1250" noProof="1"/>
          </a:p>
        </p:txBody>
      </p:sp>
      <p:sp>
        <p:nvSpPr>
          <p:cNvPr id="8" name="Text 6"/>
          <p:cNvSpPr/>
          <p:nvPr/>
        </p:nvSpPr>
        <p:spPr>
          <a:xfrm>
            <a:off x="566928" y="1554480"/>
            <a:ext cx="3767328" cy="1188720"/>
          </a:xfrm>
          <a:prstGeom prst="rect">
            <a:avLst/>
          </a:prstGeom>
          <a:noFill/>
          <a:ln/>
        </p:spPr>
        <p:txBody>
          <a:bodyPr wrap="square" rtlCol="0" anchor="ctr"/>
          <a:lstStyle/>
          <a:p>
            <a:pPr marL="0" indent="0">
              <a:buNone/>
            </a:pPr>
            <a:r>
              <a:rPr lang="es-ES_tradnl" sz="1000" noProof="1">
                <a:solidFill>
                  <a:srgbClr val="1E293B"/>
                </a:solidFill>
              </a:rPr>
              <a:t>Protege a la población trabajadora nocturna con dificultades por los sistemas actuales. Integra la 'pobreza de tiempo' (52%) y las responsabilidades económicas sobre terceros (54%) para promover equidad educativa.</a:t>
            </a:r>
            <a:endParaRPr lang="es-ES_tradnl" sz="1000" noProof="1"/>
          </a:p>
        </p:txBody>
      </p:sp>
      <p:sp>
        <p:nvSpPr>
          <p:cNvPr id="9" name="Shape 7"/>
          <p:cNvSpPr/>
          <p:nvPr/>
        </p:nvSpPr>
        <p:spPr>
          <a:xfrm>
            <a:off x="4663440" y="1097280"/>
            <a:ext cx="4160520" cy="1737360"/>
          </a:xfrm>
          <a:prstGeom prst="rect">
            <a:avLst/>
          </a:prstGeom>
          <a:solidFill>
            <a:srgbClr val="FFFFFF"/>
          </a:solidFill>
          <a:ln w="12700">
            <a:solidFill>
              <a:srgbClr val="E2E8F0"/>
            </a:solidFill>
            <a:prstDash val="solid"/>
          </a:ln>
          <a:effectLst>
            <a:outerShdw blurRad="76200" dist="25400" dir="8100000" algn="bl" rotWithShape="0">
              <a:srgbClr val="000000">
                <a:alpha val="12000"/>
              </a:srgbClr>
            </a:outerShdw>
          </a:effectLst>
        </p:spPr>
        <p:txBody>
          <a:bodyPr/>
          <a:lstStyle/>
          <a:p>
            <a:endParaRPr lang="es-ES_tradnl" noProof="1"/>
          </a:p>
        </p:txBody>
      </p:sp>
      <p:sp>
        <p:nvSpPr>
          <p:cNvPr id="10" name="Shape 8"/>
          <p:cNvSpPr/>
          <p:nvPr/>
        </p:nvSpPr>
        <p:spPr>
          <a:xfrm>
            <a:off x="4663440" y="1097280"/>
            <a:ext cx="201168" cy="1737360"/>
          </a:xfrm>
          <a:prstGeom prst="rect">
            <a:avLst/>
          </a:prstGeom>
          <a:solidFill>
            <a:srgbClr val="00838F"/>
          </a:solidFill>
          <a:ln w="12700">
            <a:solidFill>
              <a:srgbClr val="00838F"/>
            </a:solidFill>
            <a:prstDash val="solid"/>
          </a:ln>
        </p:spPr>
        <p:txBody>
          <a:bodyPr/>
          <a:lstStyle/>
          <a:p>
            <a:endParaRPr lang="es-ES_tradnl" noProof="1"/>
          </a:p>
        </p:txBody>
      </p:sp>
      <p:sp>
        <p:nvSpPr>
          <p:cNvPr id="11" name="Text 9"/>
          <p:cNvSpPr/>
          <p:nvPr/>
        </p:nvSpPr>
        <p:spPr>
          <a:xfrm>
            <a:off x="4956048" y="1188720"/>
            <a:ext cx="3767328" cy="347472"/>
          </a:xfrm>
          <a:prstGeom prst="rect">
            <a:avLst/>
          </a:prstGeom>
          <a:noFill/>
          <a:ln/>
        </p:spPr>
        <p:txBody>
          <a:bodyPr wrap="square" rtlCol="0" anchor="ctr"/>
          <a:lstStyle/>
          <a:p>
            <a:pPr marL="0" indent="0">
              <a:buNone/>
            </a:pPr>
            <a:r>
              <a:rPr lang="es-ES_tradnl" sz="1250" b="1" noProof="1">
                <a:solidFill>
                  <a:srgbClr val="00838F"/>
                </a:solidFill>
              </a:rPr>
              <a:t>Impacto Académico</a:t>
            </a:r>
            <a:endParaRPr lang="es-ES_tradnl" sz="1250" noProof="1"/>
          </a:p>
        </p:txBody>
      </p:sp>
      <p:sp>
        <p:nvSpPr>
          <p:cNvPr id="12" name="Text 10"/>
          <p:cNvSpPr/>
          <p:nvPr/>
        </p:nvSpPr>
        <p:spPr>
          <a:xfrm>
            <a:off x="4956048" y="1554480"/>
            <a:ext cx="3767328" cy="1188720"/>
          </a:xfrm>
          <a:prstGeom prst="rect">
            <a:avLst/>
          </a:prstGeom>
          <a:noFill/>
          <a:ln/>
        </p:spPr>
        <p:txBody>
          <a:bodyPr wrap="square" rtlCol="0" anchor="ctr"/>
          <a:lstStyle/>
          <a:p>
            <a:pPr marL="0" indent="0">
              <a:buNone/>
            </a:pPr>
            <a:r>
              <a:rPr lang="es-ES_tradnl" sz="1000" noProof="1">
                <a:solidFill>
                  <a:srgbClr val="1E293B"/>
                </a:solidFill>
              </a:rPr>
              <a:t>Convierte la deserción de una estadística irreversible en una oportunidad de intervención administrativa y pedagógica oportuna. La 'huella digital' en el LMS actúa como sensor de compromiso estudiantil.</a:t>
            </a:r>
            <a:endParaRPr lang="es-ES_tradnl" sz="1000" noProof="1"/>
          </a:p>
        </p:txBody>
      </p:sp>
      <p:sp>
        <p:nvSpPr>
          <p:cNvPr id="13" name="Shape 11"/>
          <p:cNvSpPr/>
          <p:nvPr/>
        </p:nvSpPr>
        <p:spPr>
          <a:xfrm>
            <a:off x="274320" y="3017520"/>
            <a:ext cx="4160520" cy="1737360"/>
          </a:xfrm>
          <a:prstGeom prst="rect">
            <a:avLst/>
          </a:prstGeom>
          <a:solidFill>
            <a:srgbClr val="FFFFFF"/>
          </a:solidFill>
          <a:ln w="12700">
            <a:solidFill>
              <a:srgbClr val="E2E8F0"/>
            </a:solidFill>
            <a:prstDash val="solid"/>
          </a:ln>
          <a:effectLst>
            <a:outerShdw blurRad="76200" dist="25400" dir="8100000" algn="bl" rotWithShape="0">
              <a:srgbClr val="000000">
                <a:alpha val="12000"/>
              </a:srgbClr>
            </a:outerShdw>
          </a:effectLst>
        </p:spPr>
        <p:txBody>
          <a:bodyPr/>
          <a:lstStyle/>
          <a:p>
            <a:endParaRPr lang="es-ES_tradnl" noProof="1"/>
          </a:p>
        </p:txBody>
      </p:sp>
      <p:sp>
        <p:nvSpPr>
          <p:cNvPr id="14" name="Shape 12"/>
          <p:cNvSpPr/>
          <p:nvPr/>
        </p:nvSpPr>
        <p:spPr>
          <a:xfrm>
            <a:off x="274320" y="3017520"/>
            <a:ext cx="201168" cy="1737360"/>
          </a:xfrm>
          <a:prstGeom prst="rect">
            <a:avLst/>
          </a:prstGeom>
          <a:solidFill>
            <a:srgbClr val="FF6F00"/>
          </a:solidFill>
          <a:ln w="12700">
            <a:solidFill>
              <a:srgbClr val="FF6F00"/>
            </a:solidFill>
            <a:prstDash val="solid"/>
          </a:ln>
        </p:spPr>
        <p:txBody>
          <a:bodyPr/>
          <a:lstStyle/>
          <a:p>
            <a:endParaRPr lang="es-ES_tradnl" noProof="1"/>
          </a:p>
        </p:txBody>
      </p:sp>
      <p:sp>
        <p:nvSpPr>
          <p:cNvPr id="15" name="Text 13"/>
          <p:cNvSpPr/>
          <p:nvPr/>
        </p:nvSpPr>
        <p:spPr>
          <a:xfrm>
            <a:off x="566928" y="3108960"/>
            <a:ext cx="3767328" cy="347472"/>
          </a:xfrm>
          <a:prstGeom prst="rect">
            <a:avLst/>
          </a:prstGeom>
          <a:noFill/>
          <a:ln/>
        </p:spPr>
        <p:txBody>
          <a:bodyPr wrap="square" rtlCol="0" anchor="ctr"/>
          <a:lstStyle/>
          <a:p>
            <a:pPr marL="0" indent="0">
              <a:buNone/>
            </a:pPr>
            <a:r>
              <a:rPr lang="es-ES_tradnl" sz="1250" b="1" noProof="1">
                <a:solidFill>
                  <a:srgbClr val="FF6F00"/>
                </a:solidFill>
              </a:rPr>
              <a:t>Impacto Técnico</a:t>
            </a:r>
            <a:endParaRPr lang="es-ES_tradnl" sz="1250" noProof="1"/>
          </a:p>
        </p:txBody>
      </p:sp>
      <p:sp>
        <p:nvSpPr>
          <p:cNvPr id="16" name="Text 14"/>
          <p:cNvSpPr/>
          <p:nvPr/>
        </p:nvSpPr>
        <p:spPr>
          <a:xfrm>
            <a:off x="566928" y="3474720"/>
            <a:ext cx="3767328" cy="1188720"/>
          </a:xfrm>
          <a:prstGeom prst="rect">
            <a:avLst/>
          </a:prstGeom>
          <a:noFill/>
          <a:ln/>
        </p:spPr>
        <p:txBody>
          <a:bodyPr wrap="square" rtlCol="0" anchor="ctr"/>
          <a:lstStyle/>
          <a:p>
            <a:pPr marL="0" indent="0">
              <a:buNone/>
            </a:pPr>
            <a:r>
              <a:rPr lang="es-ES_tradnl" sz="1000" noProof="1">
                <a:solidFill>
                  <a:srgbClr val="1E293B"/>
                </a:solidFill>
              </a:rPr>
              <a:t>Integra variables de flujo ausentes en el sistema actual. El modelo no solo detecta riesgo, sino que propone remediaciones automáticas mediante APIs de datos de la universidad, movilidad urbana, situaciones laborales.</a:t>
            </a:r>
            <a:endParaRPr lang="es-ES_tradnl" sz="1000" noProof="1"/>
          </a:p>
        </p:txBody>
      </p:sp>
      <p:sp>
        <p:nvSpPr>
          <p:cNvPr id="17" name="Shape 15"/>
          <p:cNvSpPr/>
          <p:nvPr/>
        </p:nvSpPr>
        <p:spPr>
          <a:xfrm>
            <a:off x="4663440" y="3017520"/>
            <a:ext cx="4160520" cy="1737360"/>
          </a:xfrm>
          <a:prstGeom prst="rect">
            <a:avLst/>
          </a:prstGeom>
          <a:solidFill>
            <a:srgbClr val="FFFFFF"/>
          </a:solidFill>
          <a:ln w="12700">
            <a:solidFill>
              <a:srgbClr val="E2E8F0"/>
            </a:solidFill>
            <a:prstDash val="solid"/>
          </a:ln>
          <a:effectLst>
            <a:outerShdw blurRad="76200" dist="25400" dir="8100000" algn="bl" rotWithShape="0">
              <a:srgbClr val="000000">
                <a:alpha val="12000"/>
              </a:srgbClr>
            </a:outerShdw>
          </a:effectLst>
        </p:spPr>
        <p:txBody>
          <a:bodyPr/>
          <a:lstStyle/>
          <a:p>
            <a:endParaRPr lang="es-ES_tradnl" noProof="1"/>
          </a:p>
        </p:txBody>
      </p:sp>
      <p:sp>
        <p:nvSpPr>
          <p:cNvPr id="18" name="Shape 16"/>
          <p:cNvSpPr/>
          <p:nvPr/>
        </p:nvSpPr>
        <p:spPr>
          <a:xfrm>
            <a:off x="4663440" y="3017520"/>
            <a:ext cx="201168" cy="1737360"/>
          </a:xfrm>
          <a:prstGeom prst="rect">
            <a:avLst/>
          </a:prstGeom>
          <a:solidFill>
            <a:srgbClr val="0D2B55"/>
          </a:solidFill>
          <a:ln w="12700">
            <a:solidFill>
              <a:srgbClr val="0D2B55"/>
            </a:solidFill>
            <a:prstDash val="solid"/>
          </a:ln>
        </p:spPr>
        <p:txBody>
          <a:bodyPr/>
          <a:lstStyle/>
          <a:p>
            <a:endParaRPr lang="es-ES_tradnl" noProof="1"/>
          </a:p>
        </p:txBody>
      </p:sp>
      <p:sp>
        <p:nvSpPr>
          <p:cNvPr id="19" name="Text 17"/>
          <p:cNvSpPr/>
          <p:nvPr/>
        </p:nvSpPr>
        <p:spPr>
          <a:xfrm>
            <a:off x="4956048" y="3108960"/>
            <a:ext cx="3767328" cy="347472"/>
          </a:xfrm>
          <a:prstGeom prst="rect">
            <a:avLst/>
          </a:prstGeom>
          <a:noFill/>
          <a:ln/>
        </p:spPr>
        <p:txBody>
          <a:bodyPr wrap="square" rtlCol="0" anchor="ctr"/>
          <a:lstStyle/>
          <a:p>
            <a:pPr marL="0" indent="0">
              <a:buNone/>
            </a:pPr>
            <a:r>
              <a:rPr lang="es-ES_tradnl" sz="1250" b="1" noProof="1">
                <a:solidFill>
                  <a:srgbClr val="0D2B55"/>
                </a:solidFill>
              </a:rPr>
              <a:t>Alineación Institucional</a:t>
            </a:r>
            <a:endParaRPr lang="es-ES_tradnl" sz="1250" noProof="1"/>
          </a:p>
        </p:txBody>
      </p:sp>
      <p:sp>
        <p:nvSpPr>
          <p:cNvPr id="20" name="Text 18"/>
          <p:cNvSpPr/>
          <p:nvPr/>
        </p:nvSpPr>
        <p:spPr>
          <a:xfrm>
            <a:off x="4956048" y="3474720"/>
            <a:ext cx="3767328" cy="1188720"/>
          </a:xfrm>
          <a:prstGeom prst="rect">
            <a:avLst/>
          </a:prstGeom>
          <a:noFill/>
          <a:ln/>
        </p:spPr>
        <p:txBody>
          <a:bodyPr wrap="square" rtlCol="0" anchor="ctr"/>
          <a:lstStyle/>
          <a:p>
            <a:pPr marL="0" indent="0">
              <a:buNone/>
            </a:pPr>
            <a:r>
              <a:rPr lang="es-ES_tradnl" sz="1000" noProof="1">
                <a:solidFill>
                  <a:srgbClr val="1E293B"/>
                </a:solidFill>
              </a:rPr>
              <a:t>Responde directamente al Plan de Desarrollo 2025-2032 (Res. 216/2025): reducción de 2.5 puntos porcentuales en deserción. Posiciona a la ETITC a la vanguardia en retención predictiva.</a:t>
            </a:r>
            <a:endParaRPr lang="es-ES_tradnl" sz="1000" noProof="1"/>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0D2B55"/>
        </a:solidFill>
        <a:effectLst/>
      </p:bgPr>
    </p:bg>
    <p:spTree>
      <p:nvGrpSpPr>
        <p:cNvPr id="1" name=""/>
        <p:cNvGrpSpPr/>
        <p:nvPr/>
      </p:nvGrpSpPr>
      <p:grpSpPr>
        <a:xfrm>
          <a:off x="0" y="0"/>
          <a:ext cx="0" cy="0"/>
          <a:chOff x="0" y="0"/>
          <a:chExt cx="0" cy="0"/>
        </a:xfrm>
      </p:grpSpPr>
      <p:sp>
        <p:nvSpPr>
          <p:cNvPr id="2" name="Shape 0"/>
          <p:cNvSpPr/>
          <p:nvPr/>
        </p:nvSpPr>
        <p:spPr>
          <a:xfrm>
            <a:off x="-457200" y="3200400"/>
            <a:ext cx="3200400" cy="3200400"/>
          </a:xfrm>
          <a:prstGeom prst="ellipse">
            <a:avLst/>
          </a:prstGeom>
          <a:solidFill>
            <a:srgbClr val="1A3A6B">
              <a:alpha val="60000"/>
            </a:srgbClr>
          </a:solidFill>
          <a:ln w="12700">
            <a:solidFill>
              <a:srgbClr val="1A3A6B">
                <a:alpha val="60000"/>
              </a:srgbClr>
            </a:solidFill>
            <a:prstDash val="solid"/>
          </a:ln>
        </p:spPr>
        <p:txBody>
          <a:bodyPr/>
          <a:lstStyle/>
          <a:p>
            <a:endParaRPr lang="es-ES_tradnl" noProof="1"/>
          </a:p>
        </p:txBody>
      </p:sp>
      <p:sp>
        <p:nvSpPr>
          <p:cNvPr id="3" name="Shape 1"/>
          <p:cNvSpPr/>
          <p:nvPr/>
        </p:nvSpPr>
        <p:spPr>
          <a:xfrm>
            <a:off x="6858000" y="-914400"/>
            <a:ext cx="3657600" cy="3657600"/>
          </a:xfrm>
          <a:prstGeom prst="ellipse">
            <a:avLst/>
          </a:prstGeom>
          <a:solidFill>
            <a:srgbClr val="00838F">
              <a:alpha val="30000"/>
            </a:srgbClr>
          </a:solidFill>
          <a:ln w="12700">
            <a:solidFill>
              <a:srgbClr val="00838F">
                <a:alpha val="30000"/>
              </a:srgbClr>
            </a:solidFill>
            <a:prstDash val="solid"/>
          </a:ln>
        </p:spPr>
        <p:txBody>
          <a:bodyPr/>
          <a:lstStyle/>
          <a:p>
            <a:endParaRPr lang="es-ES_tradnl" noProof="1"/>
          </a:p>
        </p:txBody>
      </p:sp>
      <p:sp>
        <p:nvSpPr>
          <p:cNvPr id="4" name="Text 2"/>
          <p:cNvSpPr/>
          <p:nvPr/>
        </p:nvSpPr>
        <p:spPr>
          <a:xfrm>
            <a:off x="457200" y="320040"/>
            <a:ext cx="8229600" cy="502920"/>
          </a:xfrm>
          <a:prstGeom prst="rect">
            <a:avLst/>
          </a:prstGeom>
          <a:noFill/>
          <a:ln/>
        </p:spPr>
        <p:txBody>
          <a:bodyPr wrap="square" rtlCol="0" anchor="ctr"/>
          <a:lstStyle/>
          <a:p>
            <a:pPr marL="0" indent="0">
              <a:buNone/>
            </a:pPr>
            <a:r>
              <a:rPr lang="es-ES_tradnl" sz="2800" b="1" noProof="1">
                <a:solidFill>
                  <a:srgbClr val="00838F"/>
                </a:solidFill>
                <a:latin typeface="Calibri" pitchFamily="34" charset="0"/>
                <a:ea typeface="Calibri" pitchFamily="34" charset="-122"/>
                <a:cs typeface="Calibri" pitchFamily="34" charset="-120"/>
              </a:rPr>
              <a:t>Hipótesis</a:t>
            </a:r>
            <a:endParaRPr lang="es-ES_tradnl" sz="2800" noProof="1"/>
          </a:p>
        </p:txBody>
      </p:sp>
      <p:sp>
        <p:nvSpPr>
          <p:cNvPr id="5" name="Shape 3"/>
          <p:cNvSpPr/>
          <p:nvPr/>
        </p:nvSpPr>
        <p:spPr>
          <a:xfrm>
            <a:off x="640080" y="1005840"/>
            <a:ext cx="7863840" cy="2011680"/>
          </a:xfrm>
          <a:prstGeom prst="rect">
            <a:avLst/>
          </a:prstGeom>
          <a:solidFill>
            <a:srgbClr val="0A1F3D"/>
          </a:solidFill>
          <a:ln w="25400">
            <a:solidFill>
              <a:srgbClr val="00838F"/>
            </a:solidFill>
            <a:prstDash val="solid"/>
          </a:ln>
          <a:effectLst>
            <a:outerShdw blurRad="76200" dist="25400" dir="8100000" algn="bl" rotWithShape="0">
              <a:srgbClr val="000000">
                <a:alpha val="12000"/>
              </a:srgbClr>
            </a:outerShdw>
          </a:effectLst>
        </p:spPr>
        <p:txBody>
          <a:bodyPr/>
          <a:lstStyle/>
          <a:p>
            <a:endParaRPr lang="es-ES_tradnl" noProof="1"/>
          </a:p>
        </p:txBody>
      </p:sp>
      <p:sp>
        <p:nvSpPr>
          <p:cNvPr id="6" name="Text 4"/>
          <p:cNvSpPr/>
          <p:nvPr/>
        </p:nvSpPr>
        <p:spPr>
          <a:xfrm>
            <a:off x="822960" y="1115568"/>
            <a:ext cx="7498080" cy="1783080"/>
          </a:xfrm>
          <a:prstGeom prst="rect">
            <a:avLst/>
          </a:prstGeom>
          <a:noFill/>
          <a:ln/>
        </p:spPr>
        <p:txBody>
          <a:bodyPr wrap="square" rtlCol="0" anchor="ctr"/>
          <a:lstStyle/>
          <a:p>
            <a:pPr marL="0" indent="0" algn="ctr">
              <a:buNone/>
            </a:pPr>
            <a:r>
              <a:rPr lang="es-ES_tradnl" sz="1300" i="1" noProof="1">
                <a:solidFill>
                  <a:srgbClr val="FFFFFF"/>
                </a:solidFill>
              </a:rPr>
              <a:t>"Si se integran variables de entorno dinámico (huella digital en el LMS, indicadores de movilidad y elasticidad laboral) en un modelo de analítica predictiva, entonces la precisión en la detección temprana del riesgo de deserción aumentará significativamente en comparación con los sistemas estáticos Adviser V.11 y RUSIA, permitiendo una comparación medible de la efectividad preventiva."</a:t>
            </a:r>
            <a:endParaRPr lang="es-ES_tradnl" sz="1300" noProof="1"/>
          </a:p>
        </p:txBody>
      </p:sp>
      <p:sp>
        <p:nvSpPr>
          <p:cNvPr id="7" name="Text 5"/>
          <p:cNvSpPr/>
          <p:nvPr/>
        </p:nvSpPr>
        <p:spPr>
          <a:xfrm>
            <a:off x="640080" y="3246120"/>
            <a:ext cx="8229600" cy="320040"/>
          </a:xfrm>
          <a:prstGeom prst="rect">
            <a:avLst/>
          </a:prstGeom>
          <a:noFill/>
          <a:ln/>
        </p:spPr>
        <p:txBody>
          <a:bodyPr wrap="square" rtlCol="0" anchor="ctr"/>
          <a:lstStyle/>
          <a:p>
            <a:pPr marL="0" indent="0">
              <a:buNone/>
            </a:pPr>
            <a:r>
              <a:rPr lang="es-ES_tradnl" sz="1200" b="1" noProof="1">
                <a:solidFill>
                  <a:srgbClr val="90CAF9"/>
                </a:solidFill>
              </a:rPr>
              <a:t>Variables dinámicas integradas:</a:t>
            </a:r>
            <a:endParaRPr lang="es-ES_tradnl" sz="1200" noProof="1"/>
          </a:p>
        </p:txBody>
      </p:sp>
      <p:sp>
        <p:nvSpPr>
          <p:cNvPr id="8" name="Shape 6"/>
          <p:cNvSpPr/>
          <p:nvPr/>
        </p:nvSpPr>
        <p:spPr>
          <a:xfrm>
            <a:off x="640080" y="3657600"/>
            <a:ext cx="2468880" cy="640080"/>
          </a:xfrm>
          <a:prstGeom prst="rect">
            <a:avLst/>
          </a:prstGeom>
          <a:solidFill>
            <a:srgbClr val="00838F"/>
          </a:solidFill>
          <a:ln w="12700">
            <a:solidFill>
              <a:srgbClr val="00838F"/>
            </a:solidFill>
            <a:prstDash val="solid"/>
          </a:ln>
          <a:effectLst>
            <a:outerShdw blurRad="76200" dist="25400" dir="8100000" algn="bl" rotWithShape="0">
              <a:srgbClr val="000000">
                <a:alpha val="12000"/>
              </a:srgbClr>
            </a:outerShdw>
          </a:effectLst>
        </p:spPr>
        <p:txBody>
          <a:bodyPr/>
          <a:lstStyle/>
          <a:p>
            <a:endParaRPr lang="es-ES_tradnl" noProof="1"/>
          </a:p>
        </p:txBody>
      </p:sp>
      <p:sp>
        <p:nvSpPr>
          <p:cNvPr id="9" name="Text 7"/>
          <p:cNvSpPr/>
          <p:nvPr/>
        </p:nvSpPr>
        <p:spPr>
          <a:xfrm>
            <a:off x="640080" y="3657600"/>
            <a:ext cx="2468880" cy="640080"/>
          </a:xfrm>
          <a:prstGeom prst="rect">
            <a:avLst/>
          </a:prstGeom>
          <a:noFill/>
          <a:ln/>
        </p:spPr>
        <p:txBody>
          <a:bodyPr wrap="square" lIns="0" tIns="0" rIns="0" bIns="0" rtlCol="0" anchor="ctr"/>
          <a:lstStyle/>
          <a:p>
            <a:pPr marL="0" indent="0" algn="ctr">
              <a:buNone/>
            </a:pPr>
            <a:r>
              <a:rPr lang="es-ES_tradnl" sz="1200" b="1" noProof="1">
                <a:solidFill>
                  <a:srgbClr val="FFFFFF"/>
                </a:solidFill>
              </a:rPr>
              <a:t>Huella digital LMS</a:t>
            </a:r>
            <a:endParaRPr lang="es-ES_tradnl" sz="1200" noProof="1"/>
          </a:p>
        </p:txBody>
      </p:sp>
      <p:sp>
        <p:nvSpPr>
          <p:cNvPr id="10" name="Shape 8"/>
          <p:cNvSpPr/>
          <p:nvPr/>
        </p:nvSpPr>
        <p:spPr>
          <a:xfrm>
            <a:off x="3383280" y="3657600"/>
            <a:ext cx="2468880" cy="640080"/>
          </a:xfrm>
          <a:prstGeom prst="rect">
            <a:avLst/>
          </a:prstGeom>
          <a:solidFill>
            <a:srgbClr val="1565C0"/>
          </a:solidFill>
          <a:ln w="12700">
            <a:solidFill>
              <a:srgbClr val="1565C0"/>
            </a:solidFill>
            <a:prstDash val="solid"/>
          </a:ln>
          <a:effectLst>
            <a:outerShdw blurRad="76200" dist="25400" dir="8100000" algn="bl" rotWithShape="0">
              <a:srgbClr val="000000">
                <a:alpha val="12000"/>
              </a:srgbClr>
            </a:outerShdw>
          </a:effectLst>
        </p:spPr>
        <p:txBody>
          <a:bodyPr/>
          <a:lstStyle/>
          <a:p>
            <a:endParaRPr lang="es-ES_tradnl" noProof="1"/>
          </a:p>
        </p:txBody>
      </p:sp>
      <p:sp>
        <p:nvSpPr>
          <p:cNvPr id="11" name="Text 9"/>
          <p:cNvSpPr/>
          <p:nvPr/>
        </p:nvSpPr>
        <p:spPr>
          <a:xfrm>
            <a:off x="3383280" y="3657600"/>
            <a:ext cx="2468880" cy="640080"/>
          </a:xfrm>
          <a:prstGeom prst="rect">
            <a:avLst/>
          </a:prstGeom>
          <a:noFill/>
          <a:ln/>
        </p:spPr>
        <p:txBody>
          <a:bodyPr wrap="square" lIns="0" tIns="0" rIns="0" bIns="0" rtlCol="0" anchor="ctr"/>
          <a:lstStyle/>
          <a:p>
            <a:pPr marL="0" indent="0" algn="ctr">
              <a:buNone/>
            </a:pPr>
            <a:r>
              <a:rPr lang="es-ES_tradnl" sz="1200" b="1" noProof="1">
                <a:solidFill>
                  <a:srgbClr val="FFFFFF"/>
                </a:solidFill>
              </a:rPr>
              <a:t>Elasticidad Laboral</a:t>
            </a:r>
            <a:endParaRPr lang="es-ES_tradnl" sz="1200" noProof="1"/>
          </a:p>
        </p:txBody>
      </p:sp>
      <p:sp>
        <p:nvSpPr>
          <p:cNvPr id="12" name="Shape 10"/>
          <p:cNvSpPr/>
          <p:nvPr/>
        </p:nvSpPr>
        <p:spPr>
          <a:xfrm>
            <a:off x="6126480" y="3657600"/>
            <a:ext cx="2468880" cy="640080"/>
          </a:xfrm>
          <a:prstGeom prst="rect">
            <a:avLst/>
          </a:prstGeom>
          <a:solidFill>
            <a:srgbClr val="FF6F00"/>
          </a:solidFill>
          <a:ln w="12700">
            <a:solidFill>
              <a:srgbClr val="FF6F00"/>
            </a:solidFill>
            <a:prstDash val="solid"/>
          </a:ln>
          <a:effectLst>
            <a:outerShdw blurRad="76200" dist="25400" dir="8100000" algn="bl" rotWithShape="0">
              <a:srgbClr val="000000">
                <a:alpha val="12000"/>
              </a:srgbClr>
            </a:outerShdw>
          </a:effectLst>
        </p:spPr>
        <p:txBody>
          <a:bodyPr/>
          <a:lstStyle/>
          <a:p>
            <a:endParaRPr lang="es-ES_tradnl" noProof="1"/>
          </a:p>
        </p:txBody>
      </p:sp>
      <p:sp>
        <p:nvSpPr>
          <p:cNvPr id="13" name="Text 11"/>
          <p:cNvSpPr/>
          <p:nvPr/>
        </p:nvSpPr>
        <p:spPr>
          <a:xfrm>
            <a:off x="6126480" y="3657600"/>
            <a:ext cx="2468880" cy="640080"/>
          </a:xfrm>
          <a:prstGeom prst="rect">
            <a:avLst/>
          </a:prstGeom>
          <a:noFill/>
          <a:ln/>
        </p:spPr>
        <p:txBody>
          <a:bodyPr wrap="square" lIns="0" tIns="0" rIns="0" bIns="0" rtlCol="0" anchor="ctr"/>
          <a:lstStyle/>
          <a:p>
            <a:pPr marL="0" indent="0" algn="ctr">
              <a:buNone/>
            </a:pPr>
            <a:r>
              <a:rPr lang="es-ES_tradnl" sz="1200" b="1" noProof="1">
                <a:solidFill>
                  <a:srgbClr val="FFFFFF"/>
                </a:solidFill>
              </a:rPr>
              <a:t>Movilidad Urbana</a:t>
            </a:r>
            <a:endParaRPr lang="es-ES_tradnl" sz="1200" noProof="1"/>
          </a:p>
        </p:txBody>
      </p:sp>
      <p:sp>
        <p:nvSpPr>
          <p:cNvPr id="14" name="Text 12"/>
          <p:cNvSpPr/>
          <p:nvPr/>
        </p:nvSpPr>
        <p:spPr>
          <a:xfrm>
            <a:off x="640080" y="4480560"/>
            <a:ext cx="8229600" cy="320040"/>
          </a:xfrm>
          <a:prstGeom prst="rect">
            <a:avLst/>
          </a:prstGeom>
          <a:noFill/>
          <a:ln/>
        </p:spPr>
        <p:txBody>
          <a:bodyPr wrap="square" rtlCol="0" anchor="ctr"/>
          <a:lstStyle/>
          <a:p>
            <a:pPr marL="0" indent="0">
              <a:buNone/>
            </a:pPr>
            <a:r>
              <a:rPr lang="es-ES_tradnl" sz="1100" i="1" noProof="1">
                <a:solidFill>
                  <a:srgbClr val="78909C"/>
                </a:solidFill>
              </a:rPr>
              <a:t>vs. Sistemas estáticos actuales: Adviser V.11 · RUSIA</a:t>
            </a:r>
            <a:endParaRPr lang="es-ES_tradnl" sz="1100" noProof="1"/>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2B55"/>
          </a:solidFill>
          <a:ln w="12700">
            <a:solidFill>
              <a:srgbClr val="0D2B55"/>
            </a:solidFill>
            <a:prstDash val="solid"/>
          </a:ln>
        </p:spPr>
        <p:txBody>
          <a:bodyPr/>
          <a:lstStyle/>
          <a:p>
            <a:endParaRPr lang="es-ES_tradnl" noProof="1"/>
          </a:p>
        </p:txBody>
      </p:sp>
      <p:sp>
        <p:nvSpPr>
          <p:cNvPr id="3" name="Shape 1"/>
          <p:cNvSpPr/>
          <p:nvPr/>
        </p:nvSpPr>
        <p:spPr>
          <a:xfrm>
            <a:off x="0" y="0"/>
            <a:ext cx="164592" cy="914400"/>
          </a:xfrm>
          <a:prstGeom prst="rect">
            <a:avLst/>
          </a:prstGeom>
          <a:solidFill>
            <a:srgbClr val="FF6F00"/>
          </a:solidFill>
          <a:ln w="12700">
            <a:solidFill>
              <a:srgbClr val="FF6F00"/>
            </a:solidFill>
            <a:prstDash val="solid"/>
          </a:ln>
        </p:spPr>
        <p:txBody>
          <a:bodyPr/>
          <a:lstStyle/>
          <a:p>
            <a:endParaRPr lang="es-ES_tradnl" noProof="1"/>
          </a:p>
        </p:txBody>
      </p:sp>
      <p:sp>
        <p:nvSpPr>
          <p:cNvPr id="4" name="Text 2"/>
          <p:cNvSpPr/>
          <p:nvPr/>
        </p:nvSpPr>
        <p:spPr>
          <a:xfrm>
            <a:off x="320040" y="0"/>
            <a:ext cx="8503920" cy="914400"/>
          </a:xfrm>
          <a:prstGeom prst="rect">
            <a:avLst/>
          </a:prstGeom>
          <a:noFill/>
          <a:ln/>
        </p:spPr>
        <p:txBody>
          <a:bodyPr wrap="square" rtlCol="0" anchor="ctr"/>
          <a:lstStyle/>
          <a:p>
            <a:pPr marL="0" indent="0">
              <a:buNone/>
            </a:pPr>
            <a:r>
              <a:rPr lang="es-ES_tradnl" sz="2400" b="1" noProof="1">
                <a:solidFill>
                  <a:srgbClr val="FFFFFF"/>
                </a:solidFill>
              </a:rPr>
              <a:t>Metodología</a:t>
            </a:r>
            <a:endParaRPr lang="es-ES_tradnl" sz="2400" noProof="1"/>
          </a:p>
        </p:txBody>
      </p:sp>
      <p:sp>
        <p:nvSpPr>
          <p:cNvPr id="5" name="Shape 3"/>
          <p:cNvSpPr/>
          <p:nvPr/>
        </p:nvSpPr>
        <p:spPr>
          <a:xfrm>
            <a:off x="274320" y="987552"/>
            <a:ext cx="8595360" cy="438912"/>
          </a:xfrm>
          <a:prstGeom prst="rect">
            <a:avLst/>
          </a:prstGeom>
          <a:solidFill>
            <a:srgbClr val="E3F2FD"/>
          </a:solidFill>
          <a:ln w="12700">
            <a:solidFill>
              <a:srgbClr val="BBDEFB"/>
            </a:solidFill>
            <a:prstDash val="solid"/>
          </a:ln>
        </p:spPr>
        <p:txBody>
          <a:bodyPr/>
          <a:lstStyle/>
          <a:p>
            <a:endParaRPr lang="es-ES_tradnl" noProof="1"/>
          </a:p>
        </p:txBody>
      </p:sp>
      <p:sp>
        <p:nvSpPr>
          <p:cNvPr id="6" name="Text 4"/>
          <p:cNvSpPr/>
          <p:nvPr/>
        </p:nvSpPr>
        <p:spPr>
          <a:xfrm>
            <a:off x="365760" y="987552"/>
            <a:ext cx="8412480" cy="438912"/>
          </a:xfrm>
          <a:prstGeom prst="rect">
            <a:avLst/>
          </a:prstGeom>
          <a:noFill/>
          <a:ln/>
        </p:spPr>
        <p:txBody>
          <a:bodyPr wrap="square" rtlCol="0" anchor="ctr"/>
          <a:lstStyle/>
          <a:p>
            <a:pPr marL="0" indent="0">
              <a:buNone/>
            </a:pPr>
            <a:r>
              <a:rPr lang="es-ES_tradnl" sz="1000" i="1" noProof="1">
                <a:solidFill>
                  <a:srgbClr val="0D2B55"/>
                </a:solidFill>
              </a:rPr>
              <a:t>Investigación aplicada, descriptiva-predictiva con enfoque cuantitativo</a:t>
            </a:r>
            <a:endParaRPr lang="es-ES_tradnl" sz="1000" noProof="1"/>
          </a:p>
        </p:txBody>
      </p:sp>
      <p:sp>
        <p:nvSpPr>
          <p:cNvPr id="7" name="Shape 5"/>
          <p:cNvSpPr/>
          <p:nvPr/>
        </p:nvSpPr>
        <p:spPr>
          <a:xfrm>
            <a:off x="201168" y="1572768"/>
            <a:ext cx="1463040" cy="3291840"/>
          </a:xfrm>
          <a:prstGeom prst="rect">
            <a:avLst/>
          </a:prstGeom>
          <a:solidFill>
            <a:srgbClr val="FFFFFF"/>
          </a:solidFill>
          <a:ln w="12700">
            <a:solidFill>
              <a:srgbClr val="E2E8F0"/>
            </a:solidFill>
            <a:prstDash val="solid"/>
          </a:ln>
          <a:effectLst>
            <a:outerShdw blurRad="76200" dist="25400" dir="8100000" algn="bl" rotWithShape="0">
              <a:srgbClr val="000000">
                <a:alpha val="12000"/>
              </a:srgbClr>
            </a:outerShdw>
          </a:effectLst>
        </p:spPr>
        <p:txBody>
          <a:bodyPr/>
          <a:lstStyle/>
          <a:p>
            <a:endParaRPr lang="es-ES_tradnl" noProof="1"/>
          </a:p>
        </p:txBody>
      </p:sp>
      <p:sp>
        <p:nvSpPr>
          <p:cNvPr id="8" name="Shape 6"/>
          <p:cNvSpPr/>
          <p:nvPr/>
        </p:nvSpPr>
        <p:spPr>
          <a:xfrm>
            <a:off x="201168" y="1572768"/>
            <a:ext cx="1463040" cy="594360"/>
          </a:xfrm>
          <a:prstGeom prst="rect">
            <a:avLst/>
          </a:prstGeom>
          <a:solidFill>
            <a:srgbClr val="1565C0"/>
          </a:solidFill>
          <a:ln w="12700">
            <a:solidFill>
              <a:srgbClr val="1565C0"/>
            </a:solidFill>
            <a:prstDash val="solid"/>
          </a:ln>
        </p:spPr>
        <p:txBody>
          <a:bodyPr/>
          <a:lstStyle/>
          <a:p>
            <a:endParaRPr lang="es-ES_tradnl" noProof="1"/>
          </a:p>
        </p:txBody>
      </p:sp>
      <p:sp>
        <p:nvSpPr>
          <p:cNvPr id="9" name="Text 7"/>
          <p:cNvSpPr/>
          <p:nvPr/>
        </p:nvSpPr>
        <p:spPr>
          <a:xfrm>
            <a:off x="201168" y="1572768"/>
            <a:ext cx="1463040" cy="594360"/>
          </a:xfrm>
          <a:prstGeom prst="rect">
            <a:avLst/>
          </a:prstGeom>
          <a:noFill/>
          <a:ln/>
        </p:spPr>
        <p:txBody>
          <a:bodyPr wrap="square" lIns="0" tIns="0" rIns="0" bIns="0" rtlCol="0" anchor="ctr"/>
          <a:lstStyle/>
          <a:p>
            <a:pPr marL="0" indent="0" algn="ctr">
              <a:buNone/>
            </a:pPr>
            <a:r>
              <a:rPr lang="es-ES_tradnl" sz="2000" b="1" noProof="1">
                <a:solidFill>
                  <a:srgbClr val="FFFFFF"/>
                </a:solidFill>
              </a:rPr>
              <a:t>F1</a:t>
            </a:r>
            <a:endParaRPr lang="es-ES_tradnl" sz="2000" noProof="1"/>
          </a:p>
        </p:txBody>
      </p:sp>
      <p:sp>
        <p:nvSpPr>
          <p:cNvPr id="10" name="Text 8"/>
          <p:cNvSpPr/>
          <p:nvPr/>
        </p:nvSpPr>
        <p:spPr>
          <a:xfrm>
            <a:off x="274320" y="2212848"/>
            <a:ext cx="1316736" cy="548640"/>
          </a:xfrm>
          <a:prstGeom prst="rect">
            <a:avLst/>
          </a:prstGeom>
          <a:noFill/>
          <a:ln/>
        </p:spPr>
        <p:txBody>
          <a:bodyPr wrap="square" rtlCol="0" anchor="ctr"/>
          <a:lstStyle/>
          <a:p>
            <a:pPr marL="0" indent="0">
              <a:buNone/>
            </a:pPr>
            <a:r>
              <a:rPr lang="es-ES_tradnl" sz="1000" b="1" noProof="1">
                <a:solidFill>
                  <a:srgbClr val="1565C0"/>
                </a:solidFill>
              </a:rPr>
              <a:t>Gestión Institucional</a:t>
            </a:r>
            <a:endParaRPr lang="es-ES_tradnl" sz="1000" noProof="1"/>
          </a:p>
        </p:txBody>
      </p:sp>
      <p:sp>
        <p:nvSpPr>
          <p:cNvPr id="11" name="Text 9"/>
          <p:cNvSpPr/>
          <p:nvPr/>
        </p:nvSpPr>
        <p:spPr>
          <a:xfrm>
            <a:off x="274320" y="2788920"/>
            <a:ext cx="1316736" cy="2011680"/>
          </a:xfrm>
          <a:prstGeom prst="rect">
            <a:avLst/>
          </a:prstGeom>
          <a:noFill/>
          <a:ln/>
        </p:spPr>
        <p:txBody>
          <a:bodyPr wrap="square" rtlCol="0" anchor="ctr"/>
          <a:lstStyle/>
          <a:p>
            <a:pPr marL="0" indent="0">
              <a:buNone/>
            </a:pPr>
            <a:r>
              <a:rPr lang="es-ES_tradnl" sz="950" noProof="1">
                <a:solidFill>
                  <a:srgbClr val="1E293B"/>
                </a:solidFill>
              </a:rPr>
              <a:t>Reuniones con Bienestar y Sistemas. Protocolos de privacidad (Ley 1581/2012).</a:t>
            </a:r>
            <a:endParaRPr lang="es-ES_tradnl" sz="950" noProof="1"/>
          </a:p>
        </p:txBody>
      </p:sp>
      <p:sp>
        <p:nvSpPr>
          <p:cNvPr id="12" name="Shape 10"/>
          <p:cNvSpPr/>
          <p:nvPr/>
        </p:nvSpPr>
        <p:spPr>
          <a:xfrm>
            <a:off x="1755648" y="2743200"/>
            <a:ext cx="292608" cy="0"/>
          </a:xfrm>
          <a:prstGeom prst="line">
            <a:avLst/>
          </a:prstGeom>
          <a:noFill/>
          <a:ln w="19050">
            <a:solidFill>
              <a:srgbClr val="B0BEC5"/>
            </a:solidFill>
            <a:prstDash val="solid"/>
          </a:ln>
        </p:spPr>
        <p:txBody>
          <a:bodyPr/>
          <a:lstStyle/>
          <a:p>
            <a:endParaRPr lang="es-ES_tradnl" noProof="1"/>
          </a:p>
        </p:txBody>
      </p:sp>
      <p:sp>
        <p:nvSpPr>
          <p:cNvPr id="13" name="Shape 11"/>
          <p:cNvSpPr/>
          <p:nvPr/>
        </p:nvSpPr>
        <p:spPr>
          <a:xfrm>
            <a:off x="1956816" y="1572768"/>
            <a:ext cx="1463040" cy="3291840"/>
          </a:xfrm>
          <a:prstGeom prst="rect">
            <a:avLst/>
          </a:prstGeom>
          <a:solidFill>
            <a:srgbClr val="FFFFFF"/>
          </a:solidFill>
          <a:ln w="12700">
            <a:solidFill>
              <a:srgbClr val="E2E8F0"/>
            </a:solidFill>
            <a:prstDash val="solid"/>
          </a:ln>
          <a:effectLst>
            <a:outerShdw blurRad="76200" dist="25400" dir="8100000" algn="bl" rotWithShape="0">
              <a:srgbClr val="000000">
                <a:alpha val="12000"/>
              </a:srgbClr>
            </a:outerShdw>
          </a:effectLst>
        </p:spPr>
        <p:txBody>
          <a:bodyPr/>
          <a:lstStyle/>
          <a:p>
            <a:endParaRPr lang="es-ES_tradnl" noProof="1"/>
          </a:p>
        </p:txBody>
      </p:sp>
      <p:sp>
        <p:nvSpPr>
          <p:cNvPr id="14" name="Shape 12"/>
          <p:cNvSpPr/>
          <p:nvPr/>
        </p:nvSpPr>
        <p:spPr>
          <a:xfrm>
            <a:off x="1956816" y="1572768"/>
            <a:ext cx="1463040" cy="594360"/>
          </a:xfrm>
          <a:prstGeom prst="rect">
            <a:avLst/>
          </a:prstGeom>
          <a:solidFill>
            <a:srgbClr val="00838F"/>
          </a:solidFill>
          <a:ln w="12700">
            <a:solidFill>
              <a:srgbClr val="00838F"/>
            </a:solidFill>
            <a:prstDash val="solid"/>
          </a:ln>
        </p:spPr>
        <p:txBody>
          <a:bodyPr/>
          <a:lstStyle/>
          <a:p>
            <a:endParaRPr lang="es-ES_tradnl" noProof="1"/>
          </a:p>
        </p:txBody>
      </p:sp>
      <p:sp>
        <p:nvSpPr>
          <p:cNvPr id="15" name="Text 13"/>
          <p:cNvSpPr/>
          <p:nvPr/>
        </p:nvSpPr>
        <p:spPr>
          <a:xfrm>
            <a:off x="1956816" y="1572768"/>
            <a:ext cx="1463040" cy="594360"/>
          </a:xfrm>
          <a:prstGeom prst="rect">
            <a:avLst/>
          </a:prstGeom>
          <a:noFill/>
          <a:ln/>
        </p:spPr>
        <p:txBody>
          <a:bodyPr wrap="square" lIns="0" tIns="0" rIns="0" bIns="0" rtlCol="0" anchor="ctr"/>
          <a:lstStyle/>
          <a:p>
            <a:pPr marL="0" indent="0" algn="ctr">
              <a:buNone/>
            </a:pPr>
            <a:r>
              <a:rPr lang="es-ES_tradnl" sz="2000" b="1" noProof="1">
                <a:solidFill>
                  <a:srgbClr val="FFFFFF"/>
                </a:solidFill>
              </a:rPr>
              <a:t>F2</a:t>
            </a:r>
            <a:endParaRPr lang="es-ES_tradnl" sz="2000" noProof="1"/>
          </a:p>
        </p:txBody>
      </p:sp>
      <p:sp>
        <p:nvSpPr>
          <p:cNvPr id="16" name="Text 14"/>
          <p:cNvSpPr/>
          <p:nvPr/>
        </p:nvSpPr>
        <p:spPr>
          <a:xfrm>
            <a:off x="2029968" y="2212848"/>
            <a:ext cx="1316736" cy="548640"/>
          </a:xfrm>
          <a:prstGeom prst="rect">
            <a:avLst/>
          </a:prstGeom>
          <a:noFill/>
          <a:ln/>
        </p:spPr>
        <p:txBody>
          <a:bodyPr wrap="square" rtlCol="0" anchor="ctr"/>
          <a:lstStyle/>
          <a:p>
            <a:pPr marL="0" indent="0">
              <a:buNone/>
            </a:pPr>
            <a:r>
              <a:rPr lang="es-ES_tradnl" sz="1000" b="1" noProof="1">
                <a:solidFill>
                  <a:srgbClr val="00838F"/>
                </a:solidFill>
              </a:rPr>
              <a:t>Ingesta de Datos</a:t>
            </a:r>
            <a:endParaRPr lang="es-ES_tradnl" sz="1000" noProof="1"/>
          </a:p>
        </p:txBody>
      </p:sp>
      <p:sp>
        <p:nvSpPr>
          <p:cNvPr id="17" name="Text 15"/>
          <p:cNvSpPr/>
          <p:nvPr/>
        </p:nvSpPr>
        <p:spPr>
          <a:xfrm>
            <a:off x="2029968" y="2788920"/>
            <a:ext cx="1316736" cy="2011680"/>
          </a:xfrm>
          <a:prstGeom prst="rect">
            <a:avLst/>
          </a:prstGeom>
          <a:noFill/>
          <a:ln/>
        </p:spPr>
        <p:txBody>
          <a:bodyPr wrap="square" rtlCol="0" anchor="ctr"/>
          <a:lstStyle/>
          <a:p>
            <a:pPr marL="0" indent="0">
              <a:buNone/>
            </a:pPr>
            <a:r>
              <a:rPr lang="es-ES_tradnl" sz="950" noProof="1">
                <a:solidFill>
                  <a:srgbClr val="1E293B"/>
                </a:solidFill>
              </a:rPr>
              <a:t>Consolidación de 4 semestres históricos y logs de actividad digital semanal.</a:t>
            </a:r>
            <a:endParaRPr lang="es-ES_tradnl" sz="950" noProof="1"/>
          </a:p>
        </p:txBody>
      </p:sp>
      <p:sp>
        <p:nvSpPr>
          <p:cNvPr id="18" name="Shape 16"/>
          <p:cNvSpPr/>
          <p:nvPr/>
        </p:nvSpPr>
        <p:spPr>
          <a:xfrm>
            <a:off x="3511296" y="2743200"/>
            <a:ext cx="292608" cy="0"/>
          </a:xfrm>
          <a:prstGeom prst="line">
            <a:avLst/>
          </a:prstGeom>
          <a:noFill/>
          <a:ln w="19050">
            <a:solidFill>
              <a:srgbClr val="B0BEC5"/>
            </a:solidFill>
            <a:prstDash val="solid"/>
          </a:ln>
        </p:spPr>
        <p:txBody>
          <a:bodyPr/>
          <a:lstStyle/>
          <a:p>
            <a:endParaRPr lang="es-ES_tradnl" noProof="1"/>
          </a:p>
        </p:txBody>
      </p:sp>
      <p:sp>
        <p:nvSpPr>
          <p:cNvPr id="19" name="Shape 17"/>
          <p:cNvSpPr/>
          <p:nvPr/>
        </p:nvSpPr>
        <p:spPr>
          <a:xfrm>
            <a:off x="3712464" y="1572768"/>
            <a:ext cx="1463040" cy="3291840"/>
          </a:xfrm>
          <a:prstGeom prst="rect">
            <a:avLst/>
          </a:prstGeom>
          <a:solidFill>
            <a:srgbClr val="FFFFFF"/>
          </a:solidFill>
          <a:ln w="12700">
            <a:solidFill>
              <a:srgbClr val="E2E8F0"/>
            </a:solidFill>
            <a:prstDash val="solid"/>
          </a:ln>
          <a:effectLst>
            <a:outerShdw blurRad="76200" dist="25400" dir="8100000" algn="bl" rotWithShape="0">
              <a:srgbClr val="000000">
                <a:alpha val="12000"/>
              </a:srgbClr>
            </a:outerShdw>
          </a:effectLst>
        </p:spPr>
        <p:txBody>
          <a:bodyPr/>
          <a:lstStyle/>
          <a:p>
            <a:endParaRPr lang="es-ES_tradnl" noProof="1"/>
          </a:p>
        </p:txBody>
      </p:sp>
      <p:sp>
        <p:nvSpPr>
          <p:cNvPr id="20" name="Shape 18"/>
          <p:cNvSpPr/>
          <p:nvPr/>
        </p:nvSpPr>
        <p:spPr>
          <a:xfrm>
            <a:off x="3712464" y="1572768"/>
            <a:ext cx="1463040" cy="594360"/>
          </a:xfrm>
          <a:prstGeom prst="rect">
            <a:avLst/>
          </a:prstGeom>
          <a:solidFill>
            <a:srgbClr val="FF6F00"/>
          </a:solidFill>
          <a:ln w="12700">
            <a:solidFill>
              <a:srgbClr val="FF6F00"/>
            </a:solidFill>
            <a:prstDash val="solid"/>
          </a:ln>
        </p:spPr>
        <p:txBody>
          <a:bodyPr/>
          <a:lstStyle/>
          <a:p>
            <a:endParaRPr lang="es-ES_tradnl" noProof="1"/>
          </a:p>
        </p:txBody>
      </p:sp>
      <p:sp>
        <p:nvSpPr>
          <p:cNvPr id="21" name="Text 19"/>
          <p:cNvSpPr/>
          <p:nvPr/>
        </p:nvSpPr>
        <p:spPr>
          <a:xfrm>
            <a:off x="3712464" y="1572768"/>
            <a:ext cx="1463040" cy="594360"/>
          </a:xfrm>
          <a:prstGeom prst="rect">
            <a:avLst/>
          </a:prstGeom>
          <a:noFill/>
          <a:ln/>
        </p:spPr>
        <p:txBody>
          <a:bodyPr wrap="square" lIns="0" tIns="0" rIns="0" bIns="0" rtlCol="0" anchor="ctr"/>
          <a:lstStyle/>
          <a:p>
            <a:pPr marL="0" indent="0" algn="ctr">
              <a:buNone/>
            </a:pPr>
            <a:r>
              <a:rPr lang="es-ES_tradnl" sz="2000" b="1" noProof="1">
                <a:solidFill>
                  <a:srgbClr val="FFFFFF"/>
                </a:solidFill>
              </a:rPr>
              <a:t>F3</a:t>
            </a:r>
            <a:endParaRPr lang="es-ES_tradnl" sz="2000" noProof="1"/>
          </a:p>
        </p:txBody>
      </p:sp>
      <p:sp>
        <p:nvSpPr>
          <p:cNvPr id="22" name="Text 20"/>
          <p:cNvSpPr/>
          <p:nvPr/>
        </p:nvSpPr>
        <p:spPr>
          <a:xfrm>
            <a:off x="3785616" y="2212848"/>
            <a:ext cx="1316736" cy="548640"/>
          </a:xfrm>
          <a:prstGeom prst="rect">
            <a:avLst/>
          </a:prstGeom>
          <a:noFill/>
          <a:ln/>
        </p:spPr>
        <p:txBody>
          <a:bodyPr wrap="square" rtlCol="0" anchor="ctr"/>
          <a:lstStyle/>
          <a:p>
            <a:pPr marL="0" indent="0">
              <a:buNone/>
            </a:pPr>
            <a:r>
              <a:rPr lang="es-ES_tradnl" sz="1000" b="1" noProof="1">
                <a:solidFill>
                  <a:srgbClr val="FF6F00"/>
                </a:solidFill>
              </a:rPr>
              <a:t>Ingeniería de Características</a:t>
            </a:r>
            <a:endParaRPr lang="es-ES_tradnl" sz="1000" noProof="1"/>
          </a:p>
        </p:txBody>
      </p:sp>
      <p:sp>
        <p:nvSpPr>
          <p:cNvPr id="23" name="Text 21"/>
          <p:cNvSpPr/>
          <p:nvPr/>
        </p:nvSpPr>
        <p:spPr>
          <a:xfrm>
            <a:off x="3785616" y="2788920"/>
            <a:ext cx="1316736" cy="2011680"/>
          </a:xfrm>
          <a:prstGeom prst="rect">
            <a:avLst/>
          </a:prstGeom>
          <a:noFill/>
          <a:ln/>
        </p:spPr>
        <p:txBody>
          <a:bodyPr wrap="square" rtlCol="0" anchor="ctr"/>
          <a:lstStyle/>
          <a:p>
            <a:pPr marL="0" indent="0">
              <a:buNone/>
            </a:pPr>
            <a:r>
              <a:rPr lang="es-ES_tradnl" sz="950" noProof="1">
                <a:solidFill>
                  <a:srgbClr val="1E293B"/>
                </a:solidFill>
              </a:rPr>
              <a:t>Índices dinámicos: Índice de Fatiga Urbana e Índice de Desvinculación Digital.</a:t>
            </a:r>
            <a:endParaRPr lang="es-ES_tradnl" sz="950" noProof="1"/>
          </a:p>
        </p:txBody>
      </p:sp>
      <p:sp>
        <p:nvSpPr>
          <p:cNvPr id="24" name="Shape 22"/>
          <p:cNvSpPr/>
          <p:nvPr/>
        </p:nvSpPr>
        <p:spPr>
          <a:xfrm>
            <a:off x="5266944" y="2743200"/>
            <a:ext cx="292608" cy="0"/>
          </a:xfrm>
          <a:prstGeom prst="line">
            <a:avLst/>
          </a:prstGeom>
          <a:noFill/>
          <a:ln w="19050">
            <a:solidFill>
              <a:srgbClr val="B0BEC5"/>
            </a:solidFill>
            <a:prstDash val="solid"/>
          </a:ln>
        </p:spPr>
        <p:txBody>
          <a:bodyPr/>
          <a:lstStyle/>
          <a:p>
            <a:endParaRPr lang="es-ES_tradnl" noProof="1"/>
          </a:p>
        </p:txBody>
      </p:sp>
      <p:sp>
        <p:nvSpPr>
          <p:cNvPr id="25" name="Shape 23"/>
          <p:cNvSpPr/>
          <p:nvPr/>
        </p:nvSpPr>
        <p:spPr>
          <a:xfrm>
            <a:off x="5468112" y="1572768"/>
            <a:ext cx="1463040" cy="3291840"/>
          </a:xfrm>
          <a:prstGeom prst="rect">
            <a:avLst/>
          </a:prstGeom>
          <a:solidFill>
            <a:srgbClr val="FFFFFF"/>
          </a:solidFill>
          <a:ln w="12700">
            <a:solidFill>
              <a:srgbClr val="E2E8F0"/>
            </a:solidFill>
            <a:prstDash val="solid"/>
          </a:ln>
          <a:effectLst>
            <a:outerShdw blurRad="76200" dist="25400" dir="8100000" algn="bl" rotWithShape="0">
              <a:srgbClr val="000000">
                <a:alpha val="12000"/>
              </a:srgbClr>
            </a:outerShdw>
          </a:effectLst>
        </p:spPr>
        <p:txBody>
          <a:bodyPr/>
          <a:lstStyle/>
          <a:p>
            <a:endParaRPr lang="es-ES_tradnl" noProof="1"/>
          </a:p>
        </p:txBody>
      </p:sp>
      <p:sp>
        <p:nvSpPr>
          <p:cNvPr id="26" name="Shape 24"/>
          <p:cNvSpPr/>
          <p:nvPr/>
        </p:nvSpPr>
        <p:spPr>
          <a:xfrm>
            <a:off x="5468112" y="1572768"/>
            <a:ext cx="1463040" cy="594360"/>
          </a:xfrm>
          <a:prstGeom prst="rect">
            <a:avLst/>
          </a:prstGeom>
          <a:solidFill>
            <a:srgbClr val="6A1B9A"/>
          </a:solidFill>
          <a:ln w="12700">
            <a:solidFill>
              <a:srgbClr val="6A1B9A"/>
            </a:solidFill>
            <a:prstDash val="solid"/>
          </a:ln>
        </p:spPr>
        <p:txBody>
          <a:bodyPr/>
          <a:lstStyle/>
          <a:p>
            <a:endParaRPr lang="es-ES_tradnl" noProof="1"/>
          </a:p>
        </p:txBody>
      </p:sp>
      <p:sp>
        <p:nvSpPr>
          <p:cNvPr id="27" name="Text 25"/>
          <p:cNvSpPr/>
          <p:nvPr/>
        </p:nvSpPr>
        <p:spPr>
          <a:xfrm>
            <a:off x="5468112" y="1572768"/>
            <a:ext cx="1463040" cy="594360"/>
          </a:xfrm>
          <a:prstGeom prst="rect">
            <a:avLst/>
          </a:prstGeom>
          <a:noFill/>
          <a:ln/>
        </p:spPr>
        <p:txBody>
          <a:bodyPr wrap="square" lIns="0" tIns="0" rIns="0" bIns="0" rtlCol="0" anchor="ctr"/>
          <a:lstStyle/>
          <a:p>
            <a:pPr marL="0" indent="0" algn="ctr">
              <a:buNone/>
            </a:pPr>
            <a:r>
              <a:rPr lang="es-ES_tradnl" sz="2000" b="1" noProof="1">
                <a:solidFill>
                  <a:srgbClr val="FFFFFF"/>
                </a:solidFill>
              </a:rPr>
              <a:t>F4</a:t>
            </a:r>
            <a:endParaRPr lang="es-ES_tradnl" sz="2000" noProof="1"/>
          </a:p>
        </p:txBody>
      </p:sp>
      <p:sp>
        <p:nvSpPr>
          <p:cNvPr id="28" name="Text 26"/>
          <p:cNvSpPr/>
          <p:nvPr/>
        </p:nvSpPr>
        <p:spPr>
          <a:xfrm>
            <a:off x="5541264" y="2212848"/>
            <a:ext cx="1316736" cy="548640"/>
          </a:xfrm>
          <a:prstGeom prst="rect">
            <a:avLst/>
          </a:prstGeom>
          <a:noFill/>
          <a:ln/>
        </p:spPr>
        <p:txBody>
          <a:bodyPr wrap="square" rtlCol="0" anchor="ctr"/>
          <a:lstStyle/>
          <a:p>
            <a:pPr marL="0" indent="0">
              <a:buNone/>
            </a:pPr>
            <a:r>
              <a:rPr lang="es-ES_tradnl" sz="1000" b="1" noProof="1">
                <a:solidFill>
                  <a:srgbClr val="6A1B9A"/>
                </a:solidFill>
              </a:rPr>
              <a:t>Modelado</a:t>
            </a:r>
            <a:endParaRPr lang="es-ES_tradnl" sz="1000" noProof="1"/>
          </a:p>
        </p:txBody>
      </p:sp>
      <p:sp>
        <p:nvSpPr>
          <p:cNvPr id="29" name="Text 27"/>
          <p:cNvSpPr/>
          <p:nvPr/>
        </p:nvSpPr>
        <p:spPr>
          <a:xfrm>
            <a:off x="5541264" y="2788920"/>
            <a:ext cx="1316736" cy="2011680"/>
          </a:xfrm>
          <a:prstGeom prst="rect">
            <a:avLst/>
          </a:prstGeom>
          <a:noFill/>
          <a:ln/>
        </p:spPr>
        <p:txBody>
          <a:bodyPr wrap="square" rtlCol="0" anchor="ctr"/>
          <a:lstStyle/>
          <a:p>
            <a:pPr marL="0" indent="0">
              <a:buNone/>
            </a:pPr>
            <a:r>
              <a:rPr lang="es-ES_tradnl" sz="950" noProof="1">
                <a:solidFill>
                  <a:srgbClr val="1E293B"/>
                </a:solidFill>
              </a:rPr>
              <a:t>Entrenamiento y ajuste de XGBoost/Random Forest para patrones de riesgo dinámico.</a:t>
            </a:r>
            <a:endParaRPr lang="es-ES_tradnl" sz="950" noProof="1"/>
          </a:p>
        </p:txBody>
      </p:sp>
      <p:sp>
        <p:nvSpPr>
          <p:cNvPr id="30" name="Shape 28"/>
          <p:cNvSpPr/>
          <p:nvPr/>
        </p:nvSpPr>
        <p:spPr>
          <a:xfrm>
            <a:off x="7022592" y="2743200"/>
            <a:ext cx="292608" cy="0"/>
          </a:xfrm>
          <a:prstGeom prst="line">
            <a:avLst/>
          </a:prstGeom>
          <a:noFill/>
          <a:ln w="19050">
            <a:solidFill>
              <a:srgbClr val="B0BEC5"/>
            </a:solidFill>
            <a:prstDash val="solid"/>
          </a:ln>
        </p:spPr>
        <p:txBody>
          <a:bodyPr/>
          <a:lstStyle/>
          <a:p>
            <a:endParaRPr lang="es-ES_tradnl" noProof="1"/>
          </a:p>
        </p:txBody>
      </p:sp>
      <p:sp>
        <p:nvSpPr>
          <p:cNvPr id="31" name="Shape 29"/>
          <p:cNvSpPr/>
          <p:nvPr/>
        </p:nvSpPr>
        <p:spPr>
          <a:xfrm>
            <a:off x="7223760" y="1572768"/>
            <a:ext cx="1463040" cy="3291840"/>
          </a:xfrm>
          <a:prstGeom prst="rect">
            <a:avLst/>
          </a:prstGeom>
          <a:solidFill>
            <a:srgbClr val="FFFFFF"/>
          </a:solidFill>
          <a:ln w="12700">
            <a:solidFill>
              <a:srgbClr val="E2E8F0"/>
            </a:solidFill>
            <a:prstDash val="solid"/>
          </a:ln>
          <a:effectLst>
            <a:outerShdw blurRad="76200" dist="25400" dir="8100000" algn="bl" rotWithShape="0">
              <a:srgbClr val="000000">
                <a:alpha val="12000"/>
              </a:srgbClr>
            </a:outerShdw>
          </a:effectLst>
        </p:spPr>
        <p:txBody>
          <a:bodyPr/>
          <a:lstStyle/>
          <a:p>
            <a:endParaRPr lang="es-ES_tradnl" noProof="1"/>
          </a:p>
        </p:txBody>
      </p:sp>
      <p:sp>
        <p:nvSpPr>
          <p:cNvPr id="32" name="Shape 30"/>
          <p:cNvSpPr/>
          <p:nvPr/>
        </p:nvSpPr>
        <p:spPr>
          <a:xfrm>
            <a:off x="7223760" y="1572768"/>
            <a:ext cx="1463040" cy="594360"/>
          </a:xfrm>
          <a:prstGeom prst="rect">
            <a:avLst/>
          </a:prstGeom>
          <a:solidFill>
            <a:srgbClr val="2E7D32"/>
          </a:solidFill>
          <a:ln w="12700">
            <a:solidFill>
              <a:srgbClr val="2E7D32"/>
            </a:solidFill>
            <a:prstDash val="solid"/>
          </a:ln>
        </p:spPr>
        <p:txBody>
          <a:bodyPr/>
          <a:lstStyle/>
          <a:p>
            <a:endParaRPr lang="es-ES_tradnl" noProof="1"/>
          </a:p>
        </p:txBody>
      </p:sp>
      <p:sp>
        <p:nvSpPr>
          <p:cNvPr id="33" name="Text 31"/>
          <p:cNvSpPr/>
          <p:nvPr/>
        </p:nvSpPr>
        <p:spPr>
          <a:xfrm>
            <a:off x="7223760" y="1572768"/>
            <a:ext cx="1463040" cy="594360"/>
          </a:xfrm>
          <a:prstGeom prst="rect">
            <a:avLst/>
          </a:prstGeom>
          <a:noFill/>
          <a:ln/>
        </p:spPr>
        <p:txBody>
          <a:bodyPr wrap="square" lIns="0" tIns="0" rIns="0" bIns="0" rtlCol="0" anchor="ctr"/>
          <a:lstStyle/>
          <a:p>
            <a:pPr marL="0" indent="0" algn="ctr">
              <a:buNone/>
            </a:pPr>
            <a:r>
              <a:rPr lang="es-ES_tradnl" sz="2000" b="1" noProof="1">
                <a:solidFill>
                  <a:srgbClr val="FFFFFF"/>
                </a:solidFill>
              </a:rPr>
              <a:t>F5</a:t>
            </a:r>
            <a:endParaRPr lang="es-ES_tradnl" sz="2000" noProof="1"/>
          </a:p>
        </p:txBody>
      </p:sp>
      <p:sp>
        <p:nvSpPr>
          <p:cNvPr id="34" name="Text 32"/>
          <p:cNvSpPr/>
          <p:nvPr/>
        </p:nvSpPr>
        <p:spPr>
          <a:xfrm>
            <a:off x="7296912" y="2212848"/>
            <a:ext cx="1316736" cy="548640"/>
          </a:xfrm>
          <a:prstGeom prst="rect">
            <a:avLst/>
          </a:prstGeom>
          <a:noFill/>
          <a:ln/>
        </p:spPr>
        <p:txBody>
          <a:bodyPr wrap="square" rtlCol="0" anchor="ctr"/>
          <a:lstStyle/>
          <a:p>
            <a:pPr marL="0" indent="0">
              <a:buNone/>
            </a:pPr>
            <a:r>
              <a:rPr lang="es-ES_tradnl" sz="1000" b="1" noProof="1">
                <a:solidFill>
                  <a:srgbClr val="2E7D32"/>
                </a:solidFill>
              </a:rPr>
              <a:t>Validación</a:t>
            </a:r>
            <a:endParaRPr lang="es-ES_tradnl" sz="1000" noProof="1"/>
          </a:p>
        </p:txBody>
      </p:sp>
      <p:sp>
        <p:nvSpPr>
          <p:cNvPr id="35" name="Text 33"/>
          <p:cNvSpPr/>
          <p:nvPr/>
        </p:nvSpPr>
        <p:spPr>
          <a:xfrm>
            <a:off x="7296912" y="2788920"/>
            <a:ext cx="1316736" cy="2011680"/>
          </a:xfrm>
          <a:prstGeom prst="rect">
            <a:avLst/>
          </a:prstGeom>
          <a:noFill/>
          <a:ln/>
        </p:spPr>
        <p:txBody>
          <a:bodyPr wrap="square" rtlCol="0" anchor="ctr"/>
          <a:lstStyle/>
          <a:p>
            <a:pPr marL="0" indent="0">
              <a:buNone/>
            </a:pPr>
            <a:r>
              <a:rPr lang="es-ES_tradnl" sz="950" noProof="1">
                <a:solidFill>
                  <a:srgbClr val="1E293B"/>
                </a:solidFill>
              </a:rPr>
              <a:t>Matriz de Confusión y métricas de precisión vs. Adviser V.11 para comparación.</a:t>
            </a:r>
            <a:endParaRPr lang="es-ES_tradnl" sz="950" noProof="1"/>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565C0"/>
          </a:solidFill>
          <a:ln w="12700">
            <a:solidFill>
              <a:srgbClr val="1565C0"/>
            </a:solidFill>
            <a:prstDash val="solid"/>
          </a:ln>
        </p:spPr>
        <p:txBody>
          <a:bodyPr/>
          <a:lstStyle/>
          <a:p>
            <a:endParaRPr lang="es-ES_tradnl" noProof="1"/>
          </a:p>
        </p:txBody>
      </p:sp>
      <p:sp>
        <p:nvSpPr>
          <p:cNvPr id="3" name="Shape 1"/>
          <p:cNvSpPr/>
          <p:nvPr/>
        </p:nvSpPr>
        <p:spPr>
          <a:xfrm>
            <a:off x="0" y="0"/>
            <a:ext cx="164592" cy="822960"/>
          </a:xfrm>
          <a:prstGeom prst="rect">
            <a:avLst/>
          </a:prstGeom>
          <a:solidFill>
            <a:srgbClr val="00838F"/>
          </a:solidFill>
          <a:ln w="12700">
            <a:solidFill>
              <a:srgbClr val="00838F"/>
            </a:solidFill>
            <a:prstDash val="solid"/>
          </a:ln>
        </p:spPr>
        <p:txBody>
          <a:bodyPr/>
          <a:lstStyle/>
          <a:p>
            <a:endParaRPr lang="es-ES_tradnl" noProof="1"/>
          </a:p>
        </p:txBody>
      </p:sp>
      <p:sp>
        <p:nvSpPr>
          <p:cNvPr id="4" name="Text 2"/>
          <p:cNvSpPr/>
          <p:nvPr/>
        </p:nvSpPr>
        <p:spPr>
          <a:xfrm>
            <a:off x="320040" y="0"/>
            <a:ext cx="8503920" cy="822960"/>
          </a:xfrm>
          <a:prstGeom prst="rect">
            <a:avLst/>
          </a:prstGeom>
          <a:noFill/>
          <a:ln/>
        </p:spPr>
        <p:txBody>
          <a:bodyPr wrap="square" rtlCol="0" anchor="ctr"/>
          <a:lstStyle/>
          <a:p>
            <a:pPr marL="0" indent="0">
              <a:buNone/>
            </a:pPr>
            <a:r>
              <a:rPr lang="es-ES_tradnl" sz="2200" b="1" noProof="1">
                <a:solidFill>
                  <a:srgbClr val="FFFFFF"/>
                </a:solidFill>
              </a:rPr>
              <a:t>Matriz de Vigilancia Tecnológica</a:t>
            </a:r>
            <a:endParaRPr lang="es-ES_tradnl" sz="2200" noProof="1"/>
          </a:p>
        </p:txBody>
      </p:sp>
      <p:sp>
        <p:nvSpPr>
          <p:cNvPr id="5" name="Shape 3"/>
          <p:cNvSpPr/>
          <p:nvPr/>
        </p:nvSpPr>
        <p:spPr>
          <a:xfrm>
            <a:off x="137160" y="914400"/>
            <a:ext cx="1280160" cy="384048"/>
          </a:xfrm>
          <a:prstGeom prst="rect">
            <a:avLst/>
          </a:prstGeom>
          <a:solidFill>
            <a:srgbClr val="0D2B55"/>
          </a:solidFill>
          <a:ln w="12700">
            <a:solidFill>
              <a:srgbClr val="0D2B55"/>
            </a:solidFill>
            <a:prstDash val="solid"/>
          </a:ln>
        </p:spPr>
        <p:txBody>
          <a:bodyPr/>
          <a:lstStyle/>
          <a:p>
            <a:endParaRPr lang="es-ES_tradnl" noProof="1"/>
          </a:p>
        </p:txBody>
      </p:sp>
      <p:sp>
        <p:nvSpPr>
          <p:cNvPr id="6" name="Text 4"/>
          <p:cNvSpPr/>
          <p:nvPr/>
        </p:nvSpPr>
        <p:spPr>
          <a:xfrm>
            <a:off x="182880" y="914400"/>
            <a:ext cx="1188720" cy="384048"/>
          </a:xfrm>
          <a:prstGeom prst="rect">
            <a:avLst/>
          </a:prstGeom>
          <a:noFill/>
          <a:ln/>
        </p:spPr>
        <p:txBody>
          <a:bodyPr wrap="square" rtlCol="0" anchor="ctr"/>
          <a:lstStyle/>
          <a:p>
            <a:pPr marL="0" indent="0">
              <a:buNone/>
            </a:pPr>
            <a:r>
              <a:rPr lang="es-ES_tradnl" sz="1000" b="1" noProof="1">
                <a:solidFill>
                  <a:srgbClr val="FFFFFF"/>
                </a:solidFill>
              </a:rPr>
              <a:t>Fuente</a:t>
            </a:r>
            <a:endParaRPr lang="es-ES_tradnl" sz="1000" noProof="1"/>
          </a:p>
        </p:txBody>
      </p:sp>
      <p:sp>
        <p:nvSpPr>
          <p:cNvPr id="7" name="Shape 5"/>
          <p:cNvSpPr/>
          <p:nvPr/>
        </p:nvSpPr>
        <p:spPr>
          <a:xfrm>
            <a:off x="1417320" y="914400"/>
            <a:ext cx="1188720" cy="384048"/>
          </a:xfrm>
          <a:prstGeom prst="rect">
            <a:avLst/>
          </a:prstGeom>
          <a:solidFill>
            <a:srgbClr val="0D2B55"/>
          </a:solidFill>
          <a:ln w="12700">
            <a:solidFill>
              <a:srgbClr val="0D2B55"/>
            </a:solidFill>
            <a:prstDash val="solid"/>
          </a:ln>
        </p:spPr>
        <p:txBody>
          <a:bodyPr/>
          <a:lstStyle/>
          <a:p>
            <a:endParaRPr lang="es-ES_tradnl" noProof="1"/>
          </a:p>
        </p:txBody>
      </p:sp>
      <p:sp>
        <p:nvSpPr>
          <p:cNvPr id="8" name="Text 6"/>
          <p:cNvSpPr/>
          <p:nvPr/>
        </p:nvSpPr>
        <p:spPr>
          <a:xfrm>
            <a:off x="1463040" y="914400"/>
            <a:ext cx="1097280" cy="384048"/>
          </a:xfrm>
          <a:prstGeom prst="rect">
            <a:avLst/>
          </a:prstGeom>
          <a:noFill/>
          <a:ln/>
        </p:spPr>
        <p:txBody>
          <a:bodyPr wrap="square" rtlCol="0" anchor="ctr"/>
          <a:lstStyle/>
          <a:p>
            <a:pPr marL="0" indent="0">
              <a:buNone/>
            </a:pPr>
            <a:r>
              <a:rPr lang="es-ES_tradnl" sz="1000" b="1" noProof="1">
                <a:solidFill>
                  <a:srgbClr val="FFFFFF"/>
                </a:solidFill>
              </a:rPr>
              <a:t>Tecnología</a:t>
            </a:r>
            <a:endParaRPr lang="es-ES_tradnl" sz="1000" noProof="1"/>
          </a:p>
        </p:txBody>
      </p:sp>
      <p:sp>
        <p:nvSpPr>
          <p:cNvPr id="9" name="Shape 7"/>
          <p:cNvSpPr/>
          <p:nvPr/>
        </p:nvSpPr>
        <p:spPr>
          <a:xfrm>
            <a:off x="2606040" y="914400"/>
            <a:ext cx="2194560" cy="384048"/>
          </a:xfrm>
          <a:prstGeom prst="rect">
            <a:avLst/>
          </a:prstGeom>
          <a:solidFill>
            <a:srgbClr val="0D2B55"/>
          </a:solidFill>
          <a:ln w="12700">
            <a:solidFill>
              <a:srgbClr val="0D2B55"/>
            </a:solidFill>
            <a:prstDash val="solid"/>
          </a:ln>
        </p:spPr>
        <p:txBody>
          <a:bodyPr/>
          <a:lstStyle/>
          <a:p>
            <a:endParaRPr lang="es-ES_tradnl" noProof="1"/>
          </a:p>
        </p:txBody>
      </p:sp>
      <p:sp>
        <p:nvSpPr>
          <p:cNvPr id="10" name="Text 8"/>
          <p:cNvSpPr/>
          <p:nvPr/>
        </p:nvSpPr>
        <p:spPr>
          <a:xfrm>
            <a:off x="2651760" y="914400"/>
            <a:ext cx="2103120" cy="384048"/>
          </a:xfrm>
          <a:prstGeom prst="rect">
            <a:avLst/>
          </a:prstGeom>
          <a:noFill/>
          <a:ln/>
        </p:spPr>
        <p:txBody>
          <a:bodyPr wrap="square" rtlCol="0" anchor="ctr"/>
          <a:lstStyle/>
          <a:p>
            <a:pPr marL="0" indent="0">
              <a:buNone/>
            </a:pPr>
            <a:r>
              <a:rPr lang="es-ES_tradnl" sz="1000" b="1" noProof="1">
                <a:solidFill>
                  <a:srgbClr val="FFFFFF"/>
                </a:solidFill>
              </a:rPr>
              <a:t>Hallazgo Clave</a:t>
            </a:r>
            <a:endParaRPr lang="es-ES_tradnl" sz="1000" noProof="1"/>
          </a:p>
        </p:txBody>
      </p:sp>
      <p:sp>
        <p:nvSpPr>
          <p:cNvPr id="11" name="Shape 9"/>
          <p:cNvSpPr/>
          <p:nvPr/>
        </p:nvSpPr>
        <p:spPr>
          <a:xfrm>
            <a:off x="4800600" y="914400"/>
            <a:ext cx="2103120" cy="384048"/>
          </a:xfrm>
          <a:prstGeom prst="rect">
            <a:avLst/>
          </a:prstGeom>
          <a:solidFill>
            <a:srgbClr val="0D2B55"/>
          </a:solidFill>
          <a:ln w="12700">
            <a:solidFill>
              <a:srgbClr val="0D2B55"/>
            </a:solidFill>
            <a:prstDash val="solid"/>
          </a:ln>
        </p:spPr>
        <p:txBody>
          <a:bodyPr/>
          <a:lstStyle/>
          <a:p>
            <a:endParaRPr lang="es-ES_tradnl" noProof="1"/>
          </a:p>
        </p:txBody>
      </p:sp>
      <p:sp>
        <p:nvSpPr>
          <p:cNvPr id="12" name="Text 10"/>
          <p:cNvSpPr/>
          <p:nvPr/>
        </p:nvSpPr>
        <p:spPr>
          <a:xfrm>
            <a:off x="4846320" y="914400"/>
            <a:ext cx="2011680" cy="384048"/>
          </a:xfrm>
          <a:prstGeom prst="rect">
            <a:avLst/>
          </a:prstGeom>
          <a:noFill/>
          <a:ln/>
        </p:spPr>
        <p:txBody>
          <a:bodyPr wrap="square" rtlCol="0" anchor="ctr"/>
          <a:lstStyle/>
          <a:p>
            <a:pPr marL="0" indent="0">
              <a:buNone/>
            </a:pPr>
            <a:r>
              <a:rPr lang="es-ES_tradnl" sz="1000" b="1" noProof="1">
                <a:solidFill>
                  <a:srgbClr val="FFFFFF"/>
                </a:solidFill>
              </a:rPr>
              <a:t>Vacío Detectado</a:t>
            </a:r>
            <a:endParaRPr lang="es-ES_tradnl" sz="1000" noProof="1"/>
          </a:p>
        </p:txBody>
      </p:sp>
      <p:sp>
        <p:nvSpPr>
          <p:cNvPr id="13" name="Shape 11"/>
          <p:cNvSpPr/>
          <p:nvPr/>
        </p:nvSpPr>
        <p:spPr>
          <a:xfrm>
            <a:off x="6903720" y="914400"/>
            <a:ext cx="2103120" cy="384048"/>
          </a:xfrm>
          <a:prstGeom prst="rect">
            <a:avLst/>
          </a:prstGeom>
          <a:solidFill>
            <a:srgbClr val="0D2B55"/>
          </a:solidFill>
          <a:ln w="12700">
            <a:solidFill>
              <a:srgbClr val="0D2B55"/>
            </a:solidFill>
            <a:prstDash val="solid"/>
          </a:ln>
        </p:spPr>
        <p:txBody>
          <a:bodyPr/>
          <a:lstStyle/>
          <a:p>
            <a:endParaRPr lang="es-ES_tradnl" noProof="1"/>
          </a:p>
        </p:txBody>
      </p:sp>
      <p:sp>
        <p:nvSpPr>
          <p:cNvPr id="14" name="Text 12"/>
          <p:cNvSpPr/>
          <p:nvPr/>
        </p:nvSpPr>
        <p:spPr>
          <a:xfrm>
            <a:off x="6949440" y="914400"/>
            <a:ext cx="2011680" cy="384048"/>
          </a:xfrm>
          <a:prstGeom prst="rect">
            <a:avLst/>
          </a:prstGeom>
          <a:noFill/>
          <a:ln/>
        </p:spPr>
        <p:txBody>
          <a:bodyPr wrap="square" rtlCol="0" anchor="ctr"/>
          <a:lstStyle/>
          <a:p>
            <a:pPr marL="0" indent="0">
              <a:buNone/>
            </a:pPr>
            <a:r>
              <a:rPr lang="es-ES_tradnl" sz="1000" b="1" noProof="1">
                <a:solidFill>
                  <a:srgbClr val="FFFFFF"/>
                </a:solidFill>
              </a:rPr>
              <a:t>Implicación</a:t>
            </a:r>
            <a:endParaRPr lang="es-ES_tradnl" sz="1000" noProof="1"/>
          </a:p>
        </p:txBody>
      </p:sp>
      <p:sp>
        <p:nvSpPr>
          <p:cNvPr id="15" name="Shape 13"/>
          <p:cNvSpPr/>
          <p:nvPr/>
        </p:nvSpPr>
        <p:spPr>
          <a:xfrm>
            <a:off x="137160" y="1298448"/>
            <a:ext cx="1280160" cy="548640"/>
          </a:xfrm>
          <a:prstGeom prst="rect">
            <a:avLst/>
          </a:prstGeom>
          <a:solidFill>
            <a:srgbClr val="FFFFFF"/>
          </a:solidFill>
          <a:ln w="6350">
            <a:solidFill>
              <a:srgbClr val="D1D5DB"/>
            </a:solidFill>
            <a:prstDash val="solid"/>
          </a:ln>
        </p:spPr>
        <p:txBody>
          <a:bodyPr/>
          <a:lstStyle/>
          <a:p>
            <a:endParaRPr lang="es-ES_tradnl" noProof="1"/>
          </a:p>
        </p:txBody>
      </p:sp>
      <p:sp>
        <p:nvSpPr>
          <p:cNvPr id="16" name="Text 14"/>
          <p:cNvSpPr/>
          <p:nvPr/>
        </p:nvSpPr>
        <p:spPr>
          <a:xfrm>
            <a:off x="192024" y="1298448"/>
            <a:ext cx="1170432" cy="548640"/>
          </a:xfrm>
          <a:prstGeom prst="rect">
            <a:avLst/>
          </a:prstGeom>
          <a:noFill/>
          <a:ln/>
        </p:spPr>
        <p:txBody>
          <a:bodyPr wrap="square" rtlCol="0" anchor="ctr"/>
          <a:lstStyle/>
          <a:p>
            <a:pPr marL="0" indent="0">
              <a:buNone/>
            </a:pPr>
            <a:r>
              <a:rPr lang="es-ES_tradnl" sz="900" noProof="1">
                <a:solidFill>
                  <a:srgbClr val="1E293B"/>
                </a:solidFill>
              </a:rPr>
              <a:t>ETITC Planeación</a:t>
            </a:r>
            <a:endParaRPr lang="es-ES_tradnl" sz="900" noProof="1"/>
          </a:p>
        </p:txBody>
      </p:sp>
      <p:sp>
        <p:nvSpPr>
          <p:cNvPr id="17" name="Shape 15"/>
          <p:cNvSpPr/>
          <p:nvPr/>
        </p:nvSpPr>
        <p:spPr>
          <a:xfrm>
            <a:off x="1417320" y="1298448"/>
            <a:ext cx="1188720" cy="548640"/>
          </a:xfrm>
          <a:prstGeom prst="rect">
            <a:avLst/>
          </a:prstGeom>
          <a:solidFill>
            <a:srgbClr val="FFFFFF"/>
          </a:solidFill>
          <a:ln w="6350">
            <a:solidFill>
              <a:srgbClr val="D1D5DB"/>
            </a:solidFill>
            <a:prstDash val="solid"/>
          </a:ln>
        </p:spPr>
        <p:txBody>
          <a:bodyPr/>
          <a:lstStyle/>
          <a:p>
            <a:endParaRPr lang="es-ES_tradnl" noProof="1"/>
          </a:p>
        </p:txBody>
      </p:sp>
      <p:sp>
        <p:nvSpPr>
          <p:cNvPr id="18" name="Text 16"/>
          <p:cNvSpPr/>
          <p:nvPr/>
        </p:nvSpPr>
        <p:spPr>
          <a:xfrm>
            <a:off x="1472184" y="1298448"/>
            <a:ext cx="1078992" cy="548640"/>
          </a:xfrm>
          <a:prstGeom prst="rect">
            <a:avLst/>
          </a:prstGeom>
          <a:noFill/>
          <a:ln/>
        </p:spPr>
        <p:txBody>
          <a:bodyPr wrap="square" rtlCol="0" anchor="ctr"/>
          <a:lstStyle/>
          <a:p>
            <a:pPr marL="0" indent="0">
              <a:buNone/>
            </a:pPr>
            <a:r>
              <a:rPr lang="es-ES_tradnl" sz="900" noProof="1">
                <a:solidFill>
                  <a:srgbClr val="1E293B"/>
                </a:solidFill>
              </a:rPr>
              <a:t>Tasa deserción</a:t>
            </a:r>
            <a:endParaRPr lang="es-ES_tradnl" sz="900" noProof="1"/>
          </a:p>
        </p:txBody>
      </p:sp>
      <p:sp>
        <p:nvSpPr>
          <p:cNvPr id="19" name="Shape 17"/>
          <p:cNvSpPr/>
          <p:nvPr/>
        </p:nvSpPr>
        <p:spPr>
          <a:xfrm>
            <a:off x="2606040" y="1298448"/>
            <a:ext cx="2194560" cy="548640"/>
          </a:xfrm>
          <a:prstGeom prst="rect">
            <a:avLst/>
          </a:prstGeom>
          <a:solidFill>
            <a:srgbClr val="FFFFFF"/>
          </a:solidFill>
          <a:ln w="6350">
            <a:solidFill>
              <a:srgbClr val="D1D5DB"/>
            </a:solidFill>
            <a:prstDash val="solid"/>
          </a:ln>
        </p:spPr>
        <p:txBody>
          <a:bodyPr/>
          <a:lstStyle/>
          <a:p>
            <a:endParaRPr lang="es-ES_tradnl" noProof="1"/>
          </a:p>
        </p:txBody>
      </p:sp>
      <p:sp>
        <p:nvSpPr>
          <p:cNvPr id="20" name="Text 18"/>
          <p:cNvSpPr/>
          <p:nvPr/>
        </p:nvSpPr>
        <p:spPr>
          <a:xfrm>
            <a:off x="2660904" y="1298448"/>
            <a:ext cx="2084832" cy="548640"/>
          </a:xfrm>
          <a:prstGeom prst="rect">
            <a:avLst/>
          </a:prstGeom>
          <a:noFill/>
          <a:ln/>
        </p:spPr>
        <p:txBody>
          <a:bodyPr wrap="square" rtlCol="0" anchor="ctr"/>
          <a:lstStyle/>
          <a:p>
            <a:pPr marL="0" indent="0">
              <a:buNone/>
            </a:pPr>
            <a:r>
              <a:rPr lang="es-ES_tradnl" sz="900" noProof="1">
                <a:solidFill>
                  <a:srgbClr val="1E293B"/>
                </a:solidFill>
              </a:rPr>
              <a:t>Meta PDI: -2.5 %</a:t>
            </a:r>
            <a:endParaRPr lang="es-ES_tradnl" sz="900" noProof="1"/>
          </a:p>
        </p:txBody>
      </p:sp>
      <p:sp>
        <p:nvSpPr>
          <p:cNvPr id="21" name="Shape 19"/>
          <p:cNvSpPr/>
          <p:nvPr/>
        </p:nvSpPr>
        <p:spPr>
          <a:xfrm>
            <a:off x="4800600" y="1298448"/>
            <a:ext cx="2103120" cy="548640"/>
          </a:xfrm>
          <a:prstGeom prst="rect">
            <a:avLst/>
          </a:prstGeom>
          <a:solidFill>
            <a:srgbClr val="FFFFFF"/>
          </a:solidFill>
          <a:ln w="6350">
            <a:solidFill>
              <a:srgbClr val="D1D5DB"/>
            </a:solidFill>
            <a:prstDash val="solid"/>
          </a:ln>
        </p:spPr>
        <p:txBody>
          <a:bodyPr/>
          <a:lstStyle/>
          <a:p>
            <a:endParaRPr lang="es-ES_tradnl" noProof="1"/>
          </a:p>
        </p:txBody>
      </p:sp>
      <p:sp>
        <p:nvSpPr>
          <p:cNvPr id="22" name="Text 20"/>
          <p:cNvSpPr/>
          <p:nvPr/>
        </p:nvSpPr>
        <p:spPr>
          <a:xfrm>
            <a:off x="4855464" y="1298448"/>
            <a:ext cx="1993392" cy="548640"/>
          </a:xfrm>
          <a:prstGeom prst="rect">
            <a:avLst/>
          </a:prstGeom>
          <a:noFill/>
          <a:ln/>
        </p:spPr>
        <p:txBody>
          <a:bodyPr wrap="square" rtlCol="0" anchor="ctr"/>
          <a:lstStyle/>
          <a:p>
            <a:pPr marL="0" indent="0">
              <a:buNone/>
            </a:pPr>
            <a:r>
              <a:rPr lang="es-ES_tradnl" sz="900" noProof="1">
                <a:solidFill>
                  <a:srgbClr val="1E293B"/>
                </a:solidFill>
              </a:rPr>
              <a:t>Sin motor automatizado</a:t>
            </a:r>
            <a:endParaRPr lang="es-ES_tradnl" sz="900" noProof="1"/>
          </a:p>
        </p:txBody>
      </p:sp>
      <p:sp>
        <p:nvSpPr>
          <p:cNvPr id="23" name="Shape 21"/>
          <p:cNvSpPr/>
          <p:nvPr/>
        </p:nvSpPr>
        <p:spPr>
          <a:xfrm>
            <a:off x="6903720" y="1298448"/>
            <a:ext cx="2103120" cy="548640"/>
          </a:xfrm>
          <a:prstGeom prst="rect">
            <a:avLst/>
          </a:prstGeom>
          <a:solidFill>
            <a:srgbClr val="FFFFFF"/>
          </a:solidFill>
          <a:ln w="6350">
            <a:solidFill>
              <a:srgbClr val="D1D5DB"/>
            </a:solidFill>
            <a:prstDash val="solid"/>
          </a:ln>
        </p:spPr>
        <p:txBody>
          <a:bodyPr/>
          <a:lstStyle/>
          <a:p>
            <a:endParaRPr lang="es-ES_tradnl" noProof="1"/>
          </a:p>
        </p:txBody>
      </p:sp>
      <p:sp>
        <p:nvSpPr>
          <p:cNvPr id="24" name="Text 22"/>
          <p:cNvSpPr/>
          <p:nvPr/>
        </p:nvSpPr>
        <p:spPr>
          <a:xfrm>
            <a:off x="6958584" y="1298448"/>
            <a:ext cx="1993392" cy="548640"/>
          </a:xfrm>
          <a:prstGeom prst="rect">
            <a:avLst/>
          </a:prstGeom>
          <a:noFill/>
          <a:ln/>
        </p:spPr>
        <p:txBody>
          <a:bodyPr wrap="square" rtlCol="0" anchor="ctr"/>
          <a:lstStyle/>
          <a:p>
            <a:pPr marL="0" indent="0">
              <a:buNone/>
            </a:pPr>
            <a:r>
              <a:rPr lang="es-ES_tradnl" sz="900" noProof="1">
                <a:solidFill>
                  <a:srgbClr val="1E293B"/>
                </a:solidFill>
              </a:rPr>
              <a:t>Marco estratégico y meta</a:t>
            </a:r>
            <a:endParaRPr lang="es-ES_tradnl" sz="900" noProof="1"/>
          </a:p>
        </p:txBody>
      </p:sp>
      <p:sp>
        <p:nvSpPr>
          <p:cNvPr id="25" name="Shape 23"/>
          <p:cNvSpPr/>
          <p:nvPr/>
        </p:nvSpPr>
        <p:spPr>
          <a:xfrm>
            <a:off x="137160" y="1856232"/>
            <a:ext cx="1280160" cy="548640"/>
          </a:xfrm>
          <a:prstGeom prst="rect">
            <a:avLst/>
          </a:prstGeom>
          <a:solidFill>
            <a:srgbClr val="E3F2FD"/>
          </a:solidFill>
          <a:ln w="6350">
            <a:solidFill>
              <a:srgbClr val="D1D5DB"/>
            </a:solidFill>
            <a:prstDash val="solid"/>
          </a:ln>
        </p:spPr>
        <p:txBody>
          <a:bodyPr/>
          <a:lstStyle/>
          <a:p>
            <a:endParaRPr lang="es-ES_tradnl" noProof="1"/>
          </a:p>
        </p:txBody>
      </p:sp>
      <p:sp>
        <p:nvSpPr>
          <p:cNvPr id="26" name="Text 24"/>
          <p:cNvSpPr/>
          <p:nvPr/>
        </p:nvSpPr>
        <p:spPr>
          <a:xfrm>
            <a:off x="192024" y="1856232"/>
            <a:ext cx="1170432" cy="548640"/>
          </a:xfrm>
          <a:prstGeom prst="rect">
            <a:avLst/>
          </a:prstGeom>
          <a:noFill/>
          <a:ln/>
        </p:spPr>
        <p:txBody>
          <a:bodyPr wrap="square" rtlCol="0" anchor="ctr"/>
          <a:lstStyle/>
          <a:p>
            <a:pPr marL="0" indent="0">
              <a:buNone/>
            </a:pPr>
            <a:r>
              <a:rPr lang="es-ES_tradnl" sz="900" noProof="1">
                <a:solidFill>
                  <a:srgbClr val="1E293B"/>
                </a:solidFill>
              </a:rPr>
              <a:t>Bersoft</a:t>
            </a:r>
            <a:endParaRPr lang="es-ES_tradnl" sz="900" noProof="1"/>
          </a:p>
        </p:txBody>
      </p:sp>
      <p:sp>
        <p:nvSpPr>
          <p:cNvPr id="27" name="Shape 25"/>
          <p:cNvSpPr/>
          <p:nvPr/>
        </p:nvSpPr>
        <p:spPr>
          <a:xfrm>
            <a:off x="1417320" y="1856232"/>
            <a:ext cx="1188720" cy="548640"/>
          </a:xfrm>
          <a:prstGeom prst="rect">
            <a:avLst/>
          </a:prstGeom>
          <a:solidFill>
            <a:srgbClr val="E3F2FD"/>
          </a:solidFill>
          <a:ln w="6350">
            <a:solidFill>
              <a:srgbClr val="D1D5DB"/>
            </a:solidFill>
            <a:prstDash val="solid"/>
          </a:ln>
        </p:spPr>
        <p:txBody>
          <a:bodyPr/>
          <a:lstStyle/>
          <a:p>
            <a:endParaRPr lang="es-ES_tradnl" noProof="1"/>
          </a:p>
        </p:txBody>
      </p:sp>
      <p:sp>
        <p:nvSpPr>
          <p:cNvPr id="28" name="Text 26"/>
          <p:cNvSpPr/>
          <p:nvPr/>
        </p:nvSpPr>
        <p:spPr>
          <a:xfrm>
            <a:off x="1472184" y="1856232"/>
            <a:ext cx="1078992" cy="548640"/>
          </a:xfrm>
          <a:prstGeom prst="rect">
            <a:avLst/>
          </a:prstGeom>
          <a:noFill/>
          <a:ln/>
        </p:spPr>
        <p:txBody>
          <a:bodyPr wrap="square" rtlCol="0" anchor="ctr"/>
          <a:lstStyle/>
          <a:p>
            <a:pPr marL="0" indent="0">
              <a:buNone/>
            </a:pPr>
            <a:r>
              <a:rPr lang="es-ES_tradnl" sz="900" noProof="1">
                <a:solidFill>
                  <a:srgbClr val="1E293B"/>
                </a:solidFill>
              </a:rPr>
              <a:t>ML Multifactorial</a:t>
            </a:r>
            <a:endParaRPr lang="es-ES_tradnl" sz="900" noProof="1"/>
          </a:p>
        </p:txBody>
      </p:sp>
      <p:sp>
        <p:nvSpPr>
          <p:cNvPr id="29" name="Shape 27"/>
          <p:cNvSpPr/>
          <p:nvPr/>
        </p:nvSpPr>
        <p:spPr>
          <a:xfrm>
            <a:off x="2606040" y="1856232"/>
            <a:ext cx="2194560" cy="548640"/>
          </a:xfrm>
          <a:prstGeom prst="rect">
            <a:avLst/>
          </a:prstGeom>
          <a:solidFill>
            <a:srgbClr val="E3F2FD"/>
          </a:solidFill>
          <a:ln w="6350">
            <a:solidFill>
              <a:srgbClr val="D1D5DB"/>
            </a:solidFill>
            <a:prstDash val="solid"/>
          </a:ln>
        </p:spPr>
        <p:txBody>
          <a:bodyPr/>
          <a:lstStyle/>
          <a:p>
            <a:endParaRPr lang="es-ES_tradnl" noProof="1"/>
          </a:p>
        </p:txBody>
      </p:sp>
      <p:sp>
        <p:nvSpPr>
          <p:cNvPr id="30" name="Text 28"/>
          <p:cNvSpPr/>
          <p:nvPr/>
        </p:nvSpPr>
        <p:spPr>
          <a:xfrm>
            <a:off x="2660904" y="1856232"/>
            <a:ext cx="2084832" cy="548640"/>
          </a:xfrm>
          <a:prstGeom prst="rect">
            <a:avLst/>
          </a:prstGeom>
          <a:noFill/>
          <a:ln/>
        </p:spPr>
        <p:txBody>
          <a:bodyPr wrap="square" rtlCol="0" anchor="ctr"/>
          <a:lstStyle/>
          <a:p>
            <a:pPr marL="0" indent="0">
              <a:buNone/>
            </a:pPr>
            <a:r>
              <a:rPr lang="es-ES_tradnl" sz="900" noProof="1">
                <a:solidFill>
                  <a:srgbClr val="1E293B"/>
                </a:solidFill>
              </a:rPr>
              <a:t>Datos estáticos (inicio semestre)</a:t>
            </a:r>
            <a:endParaRPr lang="es-ES_tradnl" sz="900" noProof="1"/>
          </a:p>
        </p:txBody>
      </p:sp>
      <p:sp>
        <p:nvSpPr>
          <p:cNvPr id="31" name="Shape 29"/>
          <p:cNvSpPr/>
          <p:nvPr/>
        </p:nvSpPr>
        <p:spPr>
          <a:xfrm>
            <a:off x="4800600" y="1856232"/>
            <a:ext cx="2103120" cy="548640"/>
          </a:xfrm>
          <a:prstGeom prst="rect">
            <a:avLst/>
          </a:prstGeom>
          <a:solidFill>
            <a:srgbClr val="E3F2FD"/>
          </a:solidFill>
          <a:ln w="6350">
            <a:solidFill>
              <a:srgbClr val="D1D5DB"/>
            </a:solidFill>
            <a:prstDash val="solid"/>
          </a:ln>
        </p:spPr>
        <p:txBody>
          <a:bodyPr/>
          <a:lstStyle/>
          <a:p>
            <a:endParaRPr lang="es-ES_tradnl" noProof="1"/>
          </a:p>
        </p:txBody>
      </p:sp>
      <p:sp>
        <p:nvSpPr>
          <p:cNvPr id="32" name="Text 30"/>
          <p:cNvSpPr/>
          <p:nvPr/>
        </p:nvSpPr>
        <p:spPr>
          <a:xfrm>
            <a:off x="4855464" y="1856232"/>
            <a:ext cx="1993392" cy="548640"/>
          </a:xfrm>
          <a:prstGeom prst="rect">
            <a:avLst/>
          </a:prstGeom>
          <a:noFill/>
          <a:ln/>
        </p:spPr>
        <p:txBody>
          <a:bodyPr wrap="square" rtlCol="0" anchor="ctr"/>
          <a:lstStyle/>
          <a:p>
            <a:pPr marL="0" indent="0">
              <a:buNone/>
            </a:pPr>
            <a:r>
              <a:rPr lang="es-ES_tradnl" sz="900" noProof="1">
                <a:solidFill>
                  <a:srgbClr val="1E293B"/>
                </a:solidFill>
              </a:rPr>
              <a:t>Sin flujos dinámicos semanales</a:t>
            </a:r>
            <a:endParaRPr lang="es-ES_tradnl" sz="900" noProof="1"/>
          </a:p>
        </p:txBody>
      </p:sp>
      <p:sp>
        <p:nvSpPr>
          <p:cNvPr id="33" name="Shape 31"/>
          <p:cNvSpPr/>
          <p:nvPr/>
        </p:nvSpPr>
        <p:spPr>
          <a:xfrm>
            <a:off x="6903720" y="1856232"/>
            <a:ext cx="2103120" cy="548640"/>
          </a:xfrm>
          <a:prstGeom prst="rect">
            <a:avLst/>
          </a:prstGeom>
          <a:solidFill>
            <a:srgbClr val="E3F2FD"/>
          </a:solidFill>
          <a:ln w="6350">
            <a:solidFill>
              <a:srgbClr val="D1D5DB"/>
            </a:solidFill>
            <a:prstDash val="solid"/>
          </a:ln>
        </p:spPr>
        <p:txBody>
          <a:bodyPr/>
          <a:lstStyle/>
          <a:p>
            <a:endParaRPr lang="es-ES_tradnl" noProof="1"/>
          </a:p>
        </p:txBody>
      </p:sp>
      <p:sp>
        <p:nvSpPr>
          <p:cNvPr id="34" name="Text 32"/>
          <p:cNvSpPr/>
          <p:nvPr/>
        </p:nvSpPr>
        <p:spPr>
          <a:xfrm>
            <a:off x="6958584" y="1856232"/>
            <a:ext cx="1993392" cy="548640"/>
          </a:xfrm>
          <a:prstGeom prst="rect">
            <a:avLst/>
          </a:prstGeom>
          <a:noFill/>
          <a:ln/>
        </p:spPr>
        <p:txBody>
          <a:bodyPr wrap="square" rtlCol="0" anchor="ctr"/>
          <a:lstStyle/>
          <a:p>
            <a:pPr marL="0" indent="0">
              <a:buNone/>
            </a:pPr>
            <a:r>
              <a:rPr lang="es-ES_tradnl" sz="900" noProof="1">
                <a:solidFill>
                  <a:srgbClr val="1E293B"/>
                </a:solidFill>
              </a:rPr>
              <a:t>Benchmarking de precisión</a:t>
            </a:r>
            <a:endParaRPr lang="es-ES_tradnl" sz="900" noProof="1"/>
          </a:p>
        </p:txBody>
      </p:sp>
      <p:sp>
        <p:nvSpPr>
          <p:cNvPr id="35" name="Shape 33"/>
          <p:cNvSpPr/>
          <p:nvPr/>
        </p:nvSpPr>
        <p:spPr>
          <a:xfrm>
            <a:off x="137160" y="2414016"/>
            <a:ext cx="1280160" cy="548640"/>
          </a:xfrm>
          <a:prstGeom prst="rect">
            <a:avLst/>
          </a:prstGeom>
          <a:solidFill>
            <a:srgbClr val="FFFFFF"/>
          </a:solidFill>
          <a:ln w="6350">
            <a:solidFill>
              <a:srgbClr val="D1D5DB"/>
            </a:solidFill>
            <a:prstDash val="solid"/>
          </a:ln>
        </p:spPr>
        <p:txBody>
          <a:bodyPr/>
          <a:lstStyle/>
          <a:p>
            <a:endParaRPr lang="es-ES_tradnl" noProof="1"/>
          </a:p>
        </p:txBody>
      </p:sp>
      <p:sp>
        <p:nvSpPr>
          <p:cNvPr id="36" name="Text 34"/>
          <p:cNvSpPr/>
          <p:nvPr/>
        </p:nvSpPr>
        <p:spPr>
          <a:xfrm>
            <a:off x="192024" y="2414016"/>
            <a:ext cx="1170432" cy="548640"/>
          </a:xfrm>
          <a:prstGeom prst="rect">
            <a:avLst/>
          </a:prstGeom>
          <a:noFill/>
          <a:ln/>
        </p:spPr>
        <p:txBody>
          <a:bodyPr wrap="square" rtlCol="0" anchor="ctr"/>
          <a:lstStyle/>
          <a:p>
            <a:pPr marL="0" indent="0">
              <a:buNone/>
            </a:pPr>
            <a:r>
              <a:rPr lang="es-ES_tradnl" sz="900" noProof="1">
                <a:solidFill>
                  <a:srgbClr val="1E293B"/>
                </a:solidFill>
              </a:rPr>
              <a:t>ETITC Bienestar</a:t>
            </a:r>
            <a:endParaRPr lang="es-ES_tradnl" sz="900" noProof="1"/>
          </a:p>
        </p:txBody>
      </p:sp>
      <p:sp>
        <p:nvSpPr>
          <p:cNvPr id="37" name="Shape 35"/>
          <p:cNvSpPr/>
          <p:nvPr/>
        </p:nvSpPr>
        <p:spPr>
          <a:xfrm>
            <a:off x="1417320" y="2414016"/>
            <a:ext cx="1188720" cy="548640"/>
          </a:xfrm>
          <a:prstGeom prst="rect">
            <a:avLst/>
          </a:prstGeom>
          <a:solidFill>
            <a:srgbClr val="FFFFFF"/>
          </a:solidFill>
          <a:ln w="6350">
            <a:solidFill>
              <a:srgbClr val="D1D5DB"/>
            </a:solidFill>
            <a:prstDash val="solid"/>
          </a:ln>
        </p:spPr>
        <p:txBody>
          <a:bodyPr/>
          <a:lstStyle/>
          <a:p>
            <a:endParaRPr lang="es-ES_tradnl" noProof="1"/>
          </a:p>
        </p:txBody>
      </p:sp>
      <p:sp>
        <p:nvSpPr>
          <p:cNvPr id="38" name="Text 36"/>
          <p:cNvSpPr/>
          <p:nvPr/>
        </p:nvSpPr>
        <p:spPr>
          <a:xfrm>
            <a:off x="1472184" y="2414016"/>
            <a:ext cx="1078992" cy="548640"/>
          </a:xfrm>
          <a:prstGeom prst="rect">
            <a:avLst/>
          </a:prstGeom>
          <a:noFill/>
          <a:ln/>
        </p:spPr>
        <p:txBody>
          <a:bodyPr wrap="square" rtlCol="0" anchor="ctr"/>
          <a:lstStyle/>
          <a:p>
            <a:pPr marL="0" indent="0">
              <a:buNone/>
            </a:pPr>
            <a:r>
              <a:rPr lang="es-ES_tradnl" sz="900" noProof="1">
                <a:solidFill>
                  <a:srgbClr val="1E293B"/>
                </a:solidFill>
              </a:rPr>
              <a:t>Analítica Descriptiva</a:t>
            </a:r>
            <a:endParaRPr lang="es-ES_tradnl" sz="900" noProof="1"/>
          </a:p>
        </p:txBody>
      </p:sp>
      <p:sp>
        <p:nvSpPr>
          <p:cNvPr id="39" name="Shape 37"/>
          <p:cNvSpPr/>
          <p:nvPr/>
        </p:nvSpPr>
        <p:spPr>
          <a:xfrm>
            <a:off x="2606040" y="2414016"/>
            <a:ext cx="2194560" cy="548640"/>
          </a:xfrm>
          <a:prstGeom prst="rect">
            <a:avLst/>
          </a:prstGeom>
          <a:solidFill>
            <a:srgbClr val="FFFFFF"/>
          </a:solidFill>
          <a:ln w="6350">
            <a:solidFill>
              <a:srgbClr val="D1D5DB"/>
            </a:solidFill>
            <a:prstDash val="solid"/>
          </a:ln>
        </p:spPr>
        <p:txBody>
          <a:bodyPr/>
          <a:lstStyle/>
          <a:p>
            <a:endParaRPr lang="es-ES_tradnl" noProof="1"/>
          </a:p>
        </p:txBody>
      </p:sp>
      <p:sp>
        <p:nvSpPr>
          <p:cNvPr id="40" name="Text 38"/>
          <p:cNvSpPr/>
          <p:nvPr/>
        </p:nvSpPr>
        <p:spPr>
          <a:xfrm>
            <a:off x="2660904" y="2414016"/>
            <a:ext cx="2084832" cy="548640"/>
          </a:xfrm>
          <a:prstGeom prst="rect">
            <a:avLst/>
          </a:prstGeom>
          <a:noFill/>
          <a:ln/>
        </p:spPr>
        <p:txBody>
          <a:bodyPr wrap="square" rtlCol="0" anchor="ctr"/>
          <a:lstStyle/>
          <a:p>
            <a:pPr marL="0" indent="0">
              <a:buNone/>
            </a:pPr>
            <a:r>
              <a:rPr lang="es-ES_tradnl" sz="900" noProof="1">
                <a:solidFill>
                  <a:srgbClr val="1E293B"/>
                </a:solidFill>
              </a:rPr>
              <a:t>Estudiante-trabajador con fatiga alta</a:t>
            </a:r>
            <a:endParaRPr lang="es-ES_tradnl" sz="900" noProof="1"/>
          </a:p>
        </p:txBody>
      </p:sp>
      <p:sp>
        <p:nvSpPr>
          <p:cNvPr id="41" name="Shape 39"/>
          <p:cNvSpPr/>
          <p:nvPr/>
        </p:nvSpPr>
        <p:spPr>
          <a:xfrm>
            <a:off x="4800600" y="2414016"/>
            <a:ext cx="2103120" cy="548640"/>
          </a:xfrm>
          <a:prstGeom prst="rect">
            <a:avLst/>
          </a:prstGeom>
          <a:solidFill>
            <a:srgbClr val="FFFFFF"/>
          </a:solidFill>
          <a:ln w="6350">
            <a:solidFill>
              <a:srgbClr val="D1D5DB"/>
            </a:solidFill>
            <a:prstDash val="solid"/>
          </a:ln>
        </p:spPr>
        <p:txBody>
          <a:bodyPr/>
          <a:lstStyle/>
          <a:p>
            <a:endParaRPr lang="es-ES_tradnl" noProof="1"/>
          </a:p>
        </p:txBody>
      </p:sp>
      <p:sp>
        <p:nvSpPr>
          <p:cNvPr id="42" name="Text 40"/>
          <p:cNvSpPr/>
          <p:nvPr/>
        </p:nvSpPr>
        <p:spPr>
          <a:xfrm>
            <a:off x="4855464" y="2414016"/>
            <a:ext cx="1993392" cy="548640"/>
          </a:xfrm>
          <a:prstGeom prst="rect">
            <a:avLst/>
          </a:prstGeom>
          <a:noFill/>
          <a:ln/>
        </p:spPr>
        <p:txBody>
          <a:bodyPr wrap="square" rtlCol="0" anchor="ctr"/>
          <a:lstStyle/>
          <a:p>
            <a:pPr marL="0" indent="0">
              <a:buNone/>
            </a:pPr>
            <a:r>
              <a:rPr lang="es-ES_tradnl" sz="900" noProof="1">
                <a:solidFill>
                  <a:srgbClr val="1E293B"/>
                </a:solidFill>
              </a:rPr>
              <a:t>Sub-registro (encuestas manuales)</a:t>
            </a:r>
            <a:endParaRPr lang="es-ES_tradnl" sz="900" noProof="1"/>
          </a:p>
        </p:txBody>
      </p:sp>
      <p:sp>
        <p:nvSpPr>
          <p:cNvPr id="43" name="Shape 41"/>
          <p:cNvSpPr/>
          <p:nvPr/>
        </p:nvSpPr>
        <p:spPr>
          <a:xfrm>
            <a:off x="6903720" y="2414016"/>
            <a:ext cx="2103120" cy="548640"/>
          </a:xfrm>
          <a:prstGeom prst="rect">
            <a:avLst/>
          </a:prstGeom>
          <a:solidFill>
            <a:srgbClr val="FFFFFF"/>
          </a:solidFill>
          <a:ln w="6350">
            <a:solidFill>
              <a:srgbClr val="D1D5DB"/>
            </a:solidFill>
            <a:prstDash val="solid"/>
          </a:ln>
        </p:spPr>
        <p:txBody>
          <a:bodyPr/>
          <a:lstStyle/>
          <a:p>
            <a:endParaRPr lang="es-ES_tradnl" noProof="1"/>
          </a:p>
        </p:txBody>
      </p:sp>
      <p:sp>
        <p:nvSpPr>
          <p:cNvPr id="44" name="Text 42"/>
          <p:cNvSpPr/>
          <p:nvPr/>
        </p:nvSpPr>
        <p:spPr>
          <a:xfrm>
            <a:off x="6958584" y="2414016"/>
            <a:ext cx="1993392" cy="548640"/>
          </a:xfrm>
          <a:prstGeom prst="rect">
            <a:avLst/>
          </a:prstGeom>
          <a:noFill/>
          <a:ln/>
        </p:spPr>
        <p:txBody>
          <a:bodyPr wrap="square" rtlCol="0" anchor="ctr"/>
          <a:lstStyle/>
          <a:p>
            <a:pPr marL="0" indent="0">
              <a:buNone/>
            </a:pPr>
            <a:r>
              <a:rPr lang="es-ES_tradnl" sz="900" noProof="1">
                <a:solidFill>
                  <a:srgbClr val="1E293B"/>
                </a:solidFill>
              </a:rPr>
              <a:t>Variables humanas dinámicas</a:t>
            </a:r>
            <a:endParaRPr lang="es-ES_tradnl" sz="900" noProof="1"/>
          </a:p>
        </p:txBody>
      </p:sp>
      <p:sp>
        <p:nvSpPr>
          <p:cNvPr id="45" name="Shape 43"/>
          <p:cNvSpPr/>
          <p:nvPr/>
        </p:nvSpPr>
        <p:spPr>
          <a:xfrm>
            <a:off x="137160" y="2971800"/>
            <a:ext cx="1280160" cy="548640"/>
          </a:xfrm>
          <a:prstGeom prst="rect">
            <a:avLst/>
          </a:prstGeom>
          <a:solidFill>
            <a:srgbClr val="E3F2FD"/>
          </a:solidFill>
          <a:ln w="6350">
            <a:solidFill>
              <a:srgbClr val="D1D5DB"/>
            </a:solidFill>
            <a:prstDash val="solid"/>
          </a:ln>
        </p:spPr>
        <p:txBody>
          <a:bodyPr/>
          <a:lstStyle/>
          <a:p>
            <a:endParaRPr lang="es-ES_tradnl" noProof="1"/>
          </a:p>
        </p:txBody>
      </p:sp>
      <p:sp>
        <p:nvSpPr>
          <p:cNvPr id="46" name="Text 44"/>
          <p:cNvSpPr/>
          <p:nvPr/>
        </p:nvSpPr>
        <p:spPr>
          <a:xfrm>
            <a:off x="192024" y="2971800"/>
            <a:ext cx="1170432" cy="548640"/>
          </a:xfrm>
          <a:prstGeom prst="rect">
            <a:avLst/>
          </a:prstGeom>
          <a:noFill/>
          <a:ln/>
        </p:spPr>
        <p:txBody>
          <a:bodyPr wrap="square" rtlCol="0" anchor="ctr"/>
          <a:lstStyle/>
          <a:p>
            <a:pPr marL="0" indent="0">
              <a:buNone/>
            </a:pPr>
            <a:r>
              <a:rPr lang="es-ES_tradnl" sz="900" noProof="1">
                <a:solidFill>
                  <a:srgbClr val="1E293B"/>
                </a:solidFill>
              </a:rPr>
              <a:t>Arias et al.</a:t>
            </a:r>
            <a:endParaRPr lang="es-ES_tradnl" sz="900" noProof="1"/>
          </a:p>
        </p:txBody>
      </p:sp>
      <p:sp>
        <p:nvSpPr>
          <p:cNvPr id="47" name="Shape 45"/>
          <p:cNvSpPr/>
          <p:nvPr/>
        </p:nvSpPr>
        <p:spPr>
          <a:xfrm>
            <a:off x="1417320" y="2971800"/>
            <a:ext cx="1188720" cy="548640"/>
          </a:xfrm>
          <a:prstGeom prst="rect">
            <a:avLst/>
          </a:prstGeom>
          <a:solidFill>
            <a:srgbClr val="E3F2FD"/>
          </a:solidFill>
          <a:ln w="6350">
            <a:solidFill>
              <a:srgbClr val="D1D5DB"/>
            </a:solidFill>
            <a:prstDash val="solid"/>
          </a:ln>
        </p:spPr>
        <p:txBody>
          <a:bodyPr/>
          <a:lstStyle/>
          <a:p>
            <a:endParaRPr lang="es-ES_tradnl" noProof="1"/>
          </a:p>
        </p:txBody>
      </p:sp>
      <p:sp>
        <p:nvSpPr>
          <p:cNvPr id="48" name="Text 46"/>
          <p:cNvSpPr/>
          <p:nvPr/>
        </p:nvSpPr>
        <p:spPr>
          <a:xfrm>
            <a:off x="1472184" y="2971800"/>
            <a:ext cx="1078992" cy="548640"/>
          </a:xfrm>
          <a:prstGeom prst="rect">
            <a:avLst/>
          </a:prstGeom>
          <a:noFill/>
          <a:ln/>
        </p:spPr>
        <p:txBody>
          <a:bodyPr wrap="square" rtlCol="0" anchor="ctr"/>
          <a:lstStyle/>
          <a:p>
            <a:pPr marL="0" indent="0">
              <a:buNone/>
            </a:pPr>
            <a:r>
              <a:rPr lang="es-ES_tradnl" sz="900" noProof="1">
                <a:solidFill>
                  <a:srgbClr val="1E293B"/>
                </a:solidFill>
              </a:rPr>
              <a:t>Cuantitativa</a:t>
            </a:r>
            <a:endParaRPr lang="es-ES_tradnl" sz="900" noProof="1"/>
          </a:p>
        </p:txBody>
      </p:sp>
      <p:sp>
        <p:nvSpPr>
          <p:cNvPr id="49" name="Shape 47"/>
          <p:cNvSpPr/>
          <p:nvPr/>
        </p:nvSpPr>
        <p:spPr>
          <a:xfrm>
            <a:off x="2606040" y="2971800"/>
            <a:ext cx="2194560" cy="548640"/>
          </a:xfrm>
          <a:prstGeom prst="rect">
            <a:avLst/>
          </a:prstGeom>
          <a:solidFill>
            <a:srgbClr val="E3F2FD"/>
          </a:solidFill>
          <a:ln w="6350">
            <a:solidFill>
              <a:srgbClr val="D1D5DB"/>
            </a:solidFill>
            <a:prstDash val="solid"/>
          </a:ln>
        </p:spPr>
        <p:txBody>
          <a:bodyPr/>
          <a:lstStyle/>
          <a:p>
            <a:endParaRPr lang="es-ES_tradnl" noProof="1"/>
          </a:p>
        </p:txBody>
      </p:sp>
      <p:sp>
        <p:nvSpPr>
          <p:cNvPr id="50" name="Text 48"/>
          <p:cNvSpPr/>
          <p:nvPr/>
        </p:nvSpPr>
        <p:spPr>
          <a:xfrm>
            <a:off x="2660904" y="2971800"/>
            <a:ext cx="2084832" cy="548640"/>
          </a:xfrm>
          <a:prstGeom prst="rect">
            <a:avLst/>
          </a:prstGeom>
          <a:noFill/>
          <a:ln/>
        </p:spPr>
        <p:txBody>
          <a:bodyPr wrap="square" rtlCol="0" anchor="ctr"/>
          <a:lstStyle/>
          <a:p>
            <a:pPr marL="0" indent="0">
              <a:buNone/>
            </a:pPr>
            <a:r>
              <a:rPr lang="es-ES_tradnl" sz="900" noProof="1">
                <a:solidFill>
                  <a:srgbClr val="1E293B"/>
                </a:solidFill>
              </a:rPr>
              <a:t>Conflicto trabajo-estudio = predictor #1</a:t>
            </a:r>
            <a:endParaRPr lang="es-ES_tradnl" sz="900" noProof="1"/>
          </a:p>
        </p:txBody>
      </p:sp>
      <p:sp>
        <p:nvSpPr>
          <p:cNvPr id="51" name="Shape 49"/>
          <p:cNvSpPr/>
          <p:nvPr/>
        </p:nvSpPr>
        <p:spPr>
          <a:xfrm>
            <a:off x="4800600" y="2971800"/>
            <a:ext cx="2103120" cy="548640"/>
          </a:xfrm>
          <a:prstGeom prst="rect">
            <a:avLst/>
          </a:prstGeom>
          <a:solidFill>
            <a:srgbClr val="E3F2FD"/>
          </a:solidFill>
          <a:ln w="6350">
            <a:solidFill>
              <a:srgbClr val="D1D5DB"/>
            </a:solidFill>
            <a:prstDash val="solid"/>
          </a:ln>
        </p:spPr>
        <p:txBody>
          <a:bodyPr/>
          <a:lstStyle/>
          <a:p>
            <a:endParaRPr lang="es-ES_tradnl" noProof="1"/>
          </a:p>
        </p:txBody>
      </p:sp>
      <p:sp>
        <p:nvSpPr>
          <p:cNvPr id="52" name="Text 50"/>
          <p:cNvSpPr/>
          <p:nvPr/>
        </p:nvSpPr>
        <p:spPr>
          <a:xfrm>
            <a:off x="4855464" y="2971800"/>
            <a:ext cx="1993392" cy="548640"/>
          </a:xfrm>
          <a:prstGeom prst="rect">
            <a:avLst/>
          </a:prstGeom>
          <a:noFill/>
          <a:ln/>
        </p:spPr>
        <p:txBody>
          <a:bodyPr wrap="square" rtlCol="0" anchor="ctr"/>
          <a:lstStyle/>
          <a:p>
            <a:pPr marL="0" indent="0">
              <a:buNone/>
            </a:pPr>
            <a:r>
              <a:rPr lang="es-ES_tradnl" sz="900" noProof="1">
                <a:solidFill>
                  <a:srgbClr val="1E293B"/>
                </a:solidFill>
              </a:rPr>
              <a:t>No integrado en monitoreo continuo</a:t>
            </a:r>
            <a:endParaRPr lang="es-ES_tradnl" sz="900" noProof="1"/>
          </a:p>
        </p:txBody>
      </p:sp>
      <p:sp>
        <p:nvSpPr>
          <p:cNvPr id="53" name="Shape 51"/>
          <p:cNvSpPr/>
          <p:nvPr/>
        </p:nvSpPr>
        <p:spPr>
          <a:xfrm>
            <a:off x="6903720" y="2971800"/>
            <a:ext cx="2103120" cy="548640"/>
          </a:xfrm>
          <a:prstGeom prst="rect">
            <a:avLst/>
          </a:prstGeom>
          <a:solidFill>
            <a:srgbClr val="E3F2FD"/>
          </a:solidFill>
          <a:ln w="6350">
            <a:solidFill>
              <a:srgbClr val="D1D5DB"/>
            </a:solidFill>
            <a:prstDash val="solid"/>
          </a:ln>
        </p:spPr>
        <p:txBody>
          <a:bodyPr/>
          <a:lstStyle/>
          <a:p>
            <a:endParaRPr lang="es-ES_tradnl" noProof="1"/>
          </a:p>
        </p:txBody>
      </p:sp>
      <p:sp>
        <p:nvSpPr>
          <p:cNvPr id="54" name="Text 52"/>
          <p:cNvSpPr/>
          <p:nvPr/>
        </p:nvSpPr>
        <p:spPr>
          <a:xfrm>
            <a:off x="6958584" y="2971800"/>
            <a:ext cx="1993392" cy="548640"/>
          </a:xfrm>
          <a:prstGeom prst="rect">
            <a:avLst/>
          </a:prstGeom>
          <a:noFill/>
          <a:ln/>
        </p:spPr>
        <p:txBody>
          <a:bodyPr wrap="square" rtlCol="0" anchor="ctr"/>
          <a:lstStyle/>
          <a:p>
            <a:pPr marL="0" indent="0">
              <a:buNone/>
            </a:pPr>
            <a:r>
              <a:rPr lang="es-ES_tradnl" sz="900" noProof="1">
                <a:solidFill>
                  <a:srgbClr val="1E293B"/>
                </a:solidFill>
              </a:rPr>
              <a:t>Sustenta Elasticidad Laboral</a:t>
            </a:r>
            <a:endParaRPr lang="es-ES_tradnl" sz="900" noProof="1"/>
          </a:p>
        </p:txBody>
      </p:sp>
      <p:sp>
        <p:nvSpPr>
          <p:cNvPr id="55" name="Shape 53"/>
          <p:cNvSpPr/>
          <p:nvPr/>
        </p:nvSpPr>
        <p:spPr>
          <a:xfrm>
            <a:off x="137160" y="3529584"/>
            <a:ext cx="1280160" cy="548640"/>
          </a:xfrm>
          <a:prstGeom prst="rect">
            <a:avLst/>
          </a:prstGeom>
          <a:solidFill>
            <a:srgbClr val="FFFFFF"/>
          </a:solidFill>
          <a:ln w="6350">
            <a:solidFill>
              <a:srgbClr val="D1D5DB"/>
            </a:solidFill>
            <a:prstDash val="solid"/>
          </a:ln>
        </p:spPr>
        <p:txBody>
          <a:bodyPr/>
          <a:lstStyle/>
          <a:p>
            <a:endParaRPr lang="es-ES_tradnl" noProof="1"/>
          </a:p>
        </p:txBody>
      </p:sp>
      <p:sp>
        <p:nvSpPr>
          <p:cNvPr id="56" name="Text 54"/>
          <p:cNvSpPr/>
          <p:nvPr/>
        </p:nvSpPr>
        <p:spPr>
          <a:xfrm>
            <a:off x="192024" y="3529584"/>
            <a:ext cx="1170432" cy="548640"/>
          </a:xfrm>
          <a:prstGeom prst="rect">
            <a:avLst/>
          </a:prstGeom>
          <a:noFill/>
          <a:ln/>
        </p:spPr>
        <p:txBody>
          <a:bodyPr wrap="square" rtlCol="0" anchor="ctr"/>
          <a:lstStyle/>
          <a:p>
            <a:pPr marL="0" indent="0">
              <a:buNone/>
            </a:pPr>
            <a:r>
              <a:rPr lang="es-ES_tradnl" sz="900" noProof="1">
                <a:solidFill>
                  <a:srgbClr val="1E293B"/>
                </a:solidFill>
              </a:rPr>
              <a:t>Bernal, J.</a:t>
            </a:r>
            <a:endParaRPr lang="es-ES_tradnl" sz="900" noProof="1"/>
          </a:p>
        </p:txBody>
      </p:sp>
      <p:sp>
        <p:nvSpPr>
          <p:cNvPr id="57" name="Shape 55"/>
          <p:cNvSpPr/>
          <p:nvPr/>
        </p:nvSpPr>
        <p:spPr>
          <a:xfrm>
            <a:off x="1417320" y="3529584"/>
            <a:ext cx="1188720" cy="548640"/>
          </a:xfrm>
          <a:prstGeom prst="rect">
            <a:avLst/>
          </a:prstGeom>
          <a:solidFill>
            <a:srgbClr val="FFFFFF"/>
          </a:solidFill>
          <a:ln w="6350">
            <a:solidFill>
              <a:srgbClr val="D1D5DB"/>
            </a:solidFill>
            <a:prstDash val="solid"/>
          </a:ln>
        </p:spPr>
        <p:txBody>
          <a:bodyPr/>
          <a:lstStyle/>
          <a:p>
            <a:endParaRPr lang="es-ES_tradnl" noProof="1"/>
          </a:p>
        </p:txBody>
      </p:sp>
      <p:sp>
        <p:nvSpPr>
          <p:cNvPr id="58" name="Text 56"/>
          <p:cNvSpPr/>
          <p:nvPr/>
        </p:nvSpPr>
        <p:spPr>
          <a:xfrm>
            <a:off x="1472184" y="3529584"/>
            <a:ext cx="1078992" cy="548640"/>
          </a:xfrm>
          <a:prstGeom prst="rect">
            <a:avLst/>
          </a:prstGeom>
          <a:noFill/>
          <a:ln/>
        </p:spPr>
        <p:txBody>
          <a:bodyPr wrap="square" rtlCol="0" anchor="ctr"/>
          <a:lstStyle/>
          <a:p>
            <a:pPr marL="0" indent="0">
              <a:buNone/>
            </a:pPr>
            <a:r>
              <a:rPr lang="es-ES_tradnl" sz="900" noProof="1">
                <a:solidFill>
                  <a:srgbClr val="1E293B"/>
                </a:solidFill>
              </a:rPr>
              <a:t>ML Integrador</a:t>
            </a:r>
            <a:endParaRPr lang="es-ES_tradnl" sz="900" noProof="1"/>
          </a:p>
        </p:txBody>
      </p:sp>
      <p:sp>
        <p:nvSpPr>
          <p:cNvPr id="59" name="Shape 57"/>
          <p:cNvSpPr/>
          <p:nvPr/>
        </p:nvSpPr>
        <p:spPr>
          <a:xfrm>
            <a:off x="2606040" y="3529584"/>
            <a:ext cx="2194560" cy="548640"/>
          </a:xfrm>
          <a:prstGeom prst="rect">
            <a:avLst/>
          </a:prstGeom>
          <a:solidFill>
            <a:srgbClr val="FFFFFF"/>
          </a:solidFill>
          <a:ln w="6350">
            <a:solidFill>
              <a:srgbClr val="D1D5DB"/>
            </a:solidFill>
            <a:prstDash val="solid"/>
          </a:ln>
        </p:spPr>
        <p:txBody>
          <a:bodyPr/>
          <a:lstStyle/>
          <a:p>
            <a:endParaRPr lang="es-ES_tradnl" noProof="1"/>
          </a:p>
        </p:txBody>
      </p:sp>
      <p:sp>
        <p:nvSpPr>
          <p:cNvPr id="60" name="Text 58"/>
          <p:cNvSpPr/>
          <p:nvPr/>
        </p:nvSpPr>
        <p:spPr>
          <a:xfrm>
            <a:off x="2660904" y="3529584"/>
            <a:ext cx="2084832" cy="548640"/>
          </a:xfrm>
          <a:prstGeom prst="rect">
            <a:avLst/>
          </a:prstGeom>
          <a:noFill/>
          <a:ln/>
        </p:spPr>
        <p:txBody>
          <a:bodyPr wrap="square" rtlCol="0" anchor="ctr"/>
          <a:lstStyle/>
          <a:p>
            <a:pPr marL="0" indent="0">
              <a:buNone/>
            </a:pPr>
            <a:r>
              <a:rPr lang="es-ES_tradnl" sz="900" noProof="1">
                <a:solidFill>
                  <a:srgbClr val="1E293B"/>
                </a:solidFill>
              </a:rPr>
              <a:t>+14% precisión con datos exógenos</a:t>
            </a:r>
            <a:endParaRPr lang="es-ES_tradnl" sz="900" noProof="1"/>
          </a:p>
        </p:txBody>
      </p:sp>
      <p:sp>
        <p:nvSpPr>
          <p:cNvPr id="61" name="Shape 59"/>
          <p:cNvSpPr/>
          <p:nvPr/>
        </p:nvSpPr>
        <p:spPr>
          <a:xfrm>
            <a:off x="4800600" y="3529584"/>
            <a:ext cx="2103120" cy="548640"/>
          </a:xfrm>
          <a:prstGeom prst="rect">
            <a:avLst/>
          </a:prstGeom>
          <a:solidFill>
            <a:srgbClr val="FFFFFF"/>
          </a:solidFill>
          <a:ln w="6350">
            <a:solidFill>
              <a:srgbClr val="D1D5DB"/>
            </a:solidFill>
            <a:prstDash val="solid"/>
          </a:ln>
        </p:spPr>
        <p:txBody>
          <a:bodyPr/>
          <a:lstStyle/>
          <a:p>
            <a:endParaRPr lang="es-ES_tradnl" noProof="1"/>
          </a:p>
        </p:txBody>
      </p:sp>
      <p:sp>
        <p:nvSpPr>
          <p:cNvPr id="62" name="Text 60"/>
          <p:cNvSpPr/>
          <p:nvPr/>
        </p:nvSpPr>
        <p:spPr>
          <a:xfrm>
            <a:off x="4855464" y="3529584"/>
            <a:ext cx="1993392" cy="548640"/>
          </a:xfrm>
          <a:prstGeom prst="rect">
            <a:avLst/>
          </a:prstGeom>
          <a:noFill/>
          <a:ln/>
        </p:spPr>
        <p:txBody>
          <a:bodyPr wrap="square" rtlCol="0" anchor="ctr"/>
          <a:lstStyle/>
          <a:p>
            <a:pPr marL="0" indent="0">
              <a:buNone/>
            </a:pPr>
            <a:r>
              <a:rPr lang="es-ES_tradnl" sz="900" noProof="1">
                <a:solidFill>
                  <a:srgbClr val="1E293B"/>
                </a:solidFill>
              </a:rPr>
              <a:t>Sin enfoque en movilidad Bogotá</a:t>
            </a:r>
            <a:endParaRPr lang="es-ES_tradnl" sz="900" noProof="1"/>
          </a:p>
        </p:txBody>
      </p:sp>
      <p:sp>
        <p:nvSpPr>
          <p:cNvPr id="63" name="Shape 61"/>
          <p:cNvSpPr/>
          <p:nvPr/>
        </p:nvSpPr>
        <p:spPr>
          <a:xfrm>
            <a:off x="6903720" y="3529584"/>
            <a:ext cx="2103120" cy="548640"/>
          </a:xfrm>
          <a:prstGeom prst="rect">
            <a:avLst/>
          </a:prstGeom>
          <a:solidFill>
            <a:srgbClr val="FFFFFF"/>
          </a:solidFill>
          <a:ln w="6350">
            <a:solidFill>
              <a:srgbClr val="D1D5DB"/>
            </a:solidFill>
            <a:prstDash val="solid"/>
          </a:ln>
        </p:spPr>
        <p:txBody>
          <a:bodyPr/>
          <a:lstStyle/>
          <a:p>
            <a:endParaRPr lang="es-ES_tradnl" noProof="1"/>
          </a:p>
        </p:txBody>
      </p:sp>
      <p:sp>
        <p:nvSpPr>
          <p:cNvPr id="64" name="Text 62"/>
          <p:cNvSpPr/>
          <p:nvPr/>
        </p:nvSpPr>
        <p:spPr>
          <a:xfrm>
            <a:off x="6958584" y="3529584"/>
            <a:ext cx="1993392" cy="548640"/>
          </a:xfrm>
          <a:prstGeom prst="rect">
            <a:avLst/>
          </a:prstGeom>
          <a:noFill/>
          <a:ln/>
        </p:spPr>
        <p:txBody>
          <a:bodyPr wrap="square" rtlCol="0" anchor="ctr"/>
          <a:lstStyle/>
          <a:p>
            <a:pPr marL="0" indent="0">
              <a:buNone/>
            </a:pPr>
            <a:r>
              <a:rPr lang="es-ES_tradnl" sz="900" noProof="1">
                <a:solidFill>
                  <a:srgbClr val="1E293B"/>
                </a:solidFill>
              </a:rPr>
              <a:t>Justifica APIs de movilidad</a:t>
            </a:r>
            <a:endParaRPr lang="es-ES_tradnl" sz="900" noProof="1"/>
          </a:p>
        </p:txBody>
      </p:sp>
      <p:sp>
        <p:nvSpPr>
          <p:cNvPr id="65" name="Shape 63"/>
          <p:cNvSpPr/>
          <p:nvPr/>
        </p:nvSpPr>
        <p:spPr>
          <a:xfrm>
            <a:off x="137160" y="4087368"/>
            <a:ext cx="1280160" cy="548640"/>
          </a:xfrm>
          <a:prstGeom prst="rect">
            <a:avLst/>
          </a:prstGeom>
          <a:solidFill>
            <a:srgbClr val="E3F2FD"/>
          </a:solidFill>
          <a:ln w="6350">
            <a:solidFill>
              <a:srgbClr val="D1D5DB"/>
            </a:solidFill>
            <a:prstDash val="solid"/>
          </a:ln>
        </p:spPr>
        <p:txBody>
          <a:bodyPr/>
          <a:lstStyle/>
          <a:p>
            <a:endParaRPr lang="es-ES_tradnl" noProof="1"/>
          </a:p>
        </p:txBody>
      </p:sp>
      <p:sp>
        <p:nvSpPr>
          <p:cNvPr id="66" name="Text 64"/>
          <p:cNvSpPr/>
          <p:nvPr/>
        </p:nvSpPr>
        <p:spPr>
          <a:xfrm>
            <a:off x="192024" y="4087368"/>
            <a:ext cx="1170432" cy="548640"/>
          </a:xfrm>
          <a:prstGeom prst="rect">
            <a:avLst/>
          </a:prstGeom>
          <a:noFill/>
          <a:ln/>
        </p:spPr>
        <p:txBody>
          <a:bodyPr wrap="square" rtlCol="0" anchor="ctr"/>
          <a:lstStyle/>
          <a:p>
            <a:pPr marL="0" indent="0">
              <a:buNone/>
            </a:pPr>
            <a:r>
              <a:rPr lang="es-ES_tradnl" sz="900" noProof="1">
                <a:solidFill>
                  <a:srgbClr val="1E293B"/>
                </a:solidFill>
              </a:rPr>
              <a:t>Obs. Movilidad</a:t>
            </a:r>
            <a:endParaRPr lang="es-ES_tradnl" sz="900" noProof="1"/>
          </a:p>
        </p:txBody>
      </p:sp>
      <p:sp>
        <p:nvSpPr>
          <p:cNvPr id="67" name="Shape 65"/>
          <p:cNvSpPr/>
          <p:nvPr/>
        </p:nvSpPr>
        <p:spPr>
          <a:xfrm>
            <a:off x="1417320" y="4087368"/>
            <a:ext cx="1188720" cy="548640"/>
          </a:xfrm>
          <a:prstGeom prst="rect">
            <a:avLst/>
          </a:prstGeom>
          <a:solidFill>
            <a:srgbClr val="E3F2FD"/>
          </a:solidFill>
          <a:ln w="6350">
            <a:solidFill>
              <a:srgbClr val="D1D5DB"/>
            </a:solidFill>
            <a:prstDash val="solid"/>
          </a:ln>
        </p:spPr>
        <p:txBody>
          <a:bodyPr/>
          <a:lstStyle/>
          <a:p>
            <a:endParaRPr lang="es-ES_tradnl" noProof="1"/>
          </a:p>
        </p:txBody>
      </p:sp>
      <p:sp>
        <p:nvSpPr>
          <p:cNvPr id="68" name="Text 66"/>
          <p:cNvSpPr/>
          <p:nvPr/>
        </p:nvSpPr>
        <p:spPr>
          <a:xfrm>
            <a:off x="1472184" y="4087368"/>
            <a:ext cx="1078992" cy="548640"/>
          </a:xfrm>
          <a:prstGeom prst="rect">
            <a:avLst/>
          </a:prstGeom>
          <a:noFill/>
          <a:ln/>
        </p:spPr>
        <p:txBody>
          <a:bodyPr wrap="square" rtlCol="0" anchor="ctr"/>
          <a:lstStyle/>
          <a:p>
            <a:pPr marL="0" indent="0">
              <a:buNone/>
            </a:pPr>
            <a:r>
              <a:rPr lang="es-ES_tradnl" sz="900" noProof="1">
                <a:solidFill>
                  <a:srgbClr val="1E293B"/>
                </a:solidFill>
              </a:rPr>
              <a:t>Tablero Percepción</a:t>
            </a:r>
            <a:endParaRPr lang="es-ES_tradnl" sz="900" noProof="1"/>
          </a:p>
        </p:txBody>
      </p:sp>
      <p:sp>
        <p:nvSpPr>
          <p:cNvPr id="69" name="Shape 67"/>
          <p:cNvSpPr/>
          <p:nvPr/>
        </p:nvSpPr>
        <p:spPr>
          <a:xfrm>
            <a:off x="2606040" y="4087368"/>
            <a:ext cx="2194560" cy="548640"/>
          </a:xfrm>
          <a:prstGeom prst="rect">
            <a:avLst/>
          </a:prstGeom>
          <a:solidFill>
            <a:srgbClr val="E3F2FD"/>
          </a:solidFill>
          <a:ln w="6350">
            <a:solidFill>
              <a:srgbClr val="D1D5DB"/>
            </a:solidFill>
            <a:prstDash val="solid"/>
          </a:ln>
        </p:spPr>
        <p:txBody>
          <a:bodyPr/>
          <a:lstStyle/>
          <a:p>
            <a:endParaRPr lang="es-ES_tradnl" noProof="1"/>
          </a:p>
        </p:txBody>
      </p:sp>
      <p:sp>
        <p:nvSpPr>
          <p:cNvPr id="70" name="Text 68"/>
          <p:cNvSpPr/>
          <p:nvPr/>
        </p:nvSpPr>
        <p:spPr>
          <a:xfrm>
            <a:off x="2660904" y="4087368"/>
            <a:ext cx="2084832" cy="548640"/>
          </a:xfrm>
          <a:prstGeom prst="rect">
            <a:avLst/>
          </a:prstGeom>
          <a:noFill/>
          <a:ln/>
        </p:spPr>
        <p:txBody>
          <a:bodyPr wrap="square" rtlCol="0" anchor="ctr"/>
          <a:lstStyle/>
          <a:p>
            <a:pPr marL="0" indent="0">
              <a:buNone/>
            </a:pPr>
            <a:r>
              <a:rPr lang="es-ES_tradnl" sz="900" noProof="1">
                <a:solidFill>
                  <a:srgbClr val="1E293B"/>
                </a:solidFill>
              </a:rPr>
              <a:t>Niveles críticos (1-3) impactan permanencia</a:t>
            </a:r>
            <a:endParaRPr lang="es-ES_tradnl" sz="900" noProof="1"/>
          </a:p>
        </p:txBody>
      </p:sp>
      <p:sp>
        <p:nvSpPr>
          <p:cNvPr id="71" name="Shape 69"/>
          <p:cNvSpPr/>
          <p:nvPr/>
        </p:nvSpPr>
        <p:spPr>
          <a:xfrm>
            <a:off x="4800600" y="4087368"/>
            <a:ext cx="2103120" cy="548640"/>
          </a:xfrm>
          <a:prstGeom prst="rect">
            <a:avLst/>
          </a:prstGeom>
          <a:solidFill>
            <a:srgbClr val="E3F2FD"/>
          </a:solidFill>
          <a:ln w="6350">
            <a:solidFill>
              <a:srgbClr val="D1D5DB"/>
            </a:solidFill>
            <a:prstDash val="solid"/>
          </a:ln>
        </p:spPr>
        <p:txBody>
          <a:bodyPr/>
          <a:lstStyle/>
          <a:p>
            <a:endParaRPr lang="es-ES_tradnl" noProof="1"/>
          </a:p>
        </p:txBody>
      </p:sp>
      <p:sp>
        <p:nvSpPr>
          <p:cNvPr id="72" name="Text 70"/>
          <p:cNvSpPr/>
          <p:nvPr/>
        </p:nvSpPr>
        <p:spPr>
          <a:xfrm>
            <a:off x="4855464" y="4087368"/>
            <a:ext cx="1993392" cy="548640"/>
          </a:xfrm>
          <a:prstGeom prst="rect">
            <a:avLst/>
          </a:prstGeom>
          <a:noFill/>
          <a:ln/>
        </p:spPr>
        <p:txBody>
          <a:bodyPr wrap="square" rtlCol="0" anchor="ctr"/>
          <a:lstStyle/>
          <a:p>
            <a:pPr marL="0" indent="0">
              <a:buNone/>
            </a:pPr>
            <a:r>
              <a:rPr lang="es-ES_tradnl" sz="900" noProof="1">
                <a:solidFill>
                  <a:srgbClr val="1E293B"/>
                </a:solidFill>
              </a:rPr>
              <a:t>Modelos ignoran fatiga urbana</a:t>
            </a:r>
            <a:endParaRPr lang="es-ES_tradnl" sz="900" noProof="1"/>
          </a:p>
        </p:txBody>
      </p:sp>
      <p:sp>
        <p:nvSpPr>
          <p:cNvPr id="73" name="Shape 71"/>
          <p:cNvSpPr/>
          <p:nvPr/>
        </p:nvSpPr>
        <p:spPr>
          <a:xfrm>
            <a:off x="6903720" y="4087368"/>
            <a:ext cx="2103120" cy="548640"/>
          </a:xfrm>
          <a:prstGeom prst="rect">
            <a:avLst/>
          </a:prstGeom>
          <a:solidFill>
            <a:srgbClr val="E3F2FD"/>
          </a:solidFill>
          <a:ln w="6350">
            <a:solidFill>
              <a:srgbClr val="D1D5DB"/>
            </a:solidFill>
            <a:prstDash val="solid"/>
          </a:ln>
        </p:spPr>
        <p:txBody>
          <a:bodyPr/>
          <a:lstStyle/>
          <a:p>
            <a:endParaRPr lang="es-ES_tradnl" noProof="1"/>
          </a:p>
        </p:txBody>
      </p:sp>
      <p:sp>
        <p:nvSpPr>
          <p:cNvPr id="74" name="Text 72"/>
          <p:cNvSpPr/>
          <p:nvPr/>
        </p:nvSpPr>
        <p:spPr>
          <a:xfrm>
            <a:off x="6958584" y="4087368"/>
            <a:ext cx="1993392" cy="548640"/>
          </a:xfrm>
          <a:prstGeom prst="rect">
            <a:avLst/>
          </a:prstGeom>
          <a:noFill/>
          <a:ln/>
        </p:spPr>
        <p:txBody>
          <a:bodyPr wrap="square" rtlCol="0" anchor="ctr"/>
          <a:lstStyle/>
          <a:p>
            <a:pPr marL="0" indent="0">
              <a:buNone/>
            </a:pPr>
            <a:r>
              <a:rPr lang="es-ES_tradnl" sz="900" noProof="1">
                <a:solidFill>
                  <a:srgbClr val="1E293B"/>
                </a:solidFill>
              </a:rPr>
              <a:t>Sensor de fatiga externa</a:t>
            </a:r>
            <a:endParaRPr lang="es-ES_tradnl" sz="900" noProof="1"/>
          </a:p>
        </p:txBody>
      </p:sp>
      <p:sp>
        <p:nvSpPr>
          <p:cNvPr id="75" name="Text 73"/>
          <p:cNvSpPr/>
          <p:nvPr/>
        </p:nvSpPr>
        <p:spPr>
          <a:xfrm>
            <a:off x="137160" y="4919472"/>
            <a:ext cx="8869680" cy="182880"/>
          </a:xfrm>
          <a:prstGeom prst="rect">
            <a:avLst/>
          </a:prstGeom>
          <a:noFill/>
          <a:ln/>
        </p:spPr>
        <p:txBody>
          <a:bodyPr wrap="square" rtlCol="0" anchor="ctr"/>
          <a:lstStyle/>
          <a:p>
            <a:pPr marL="0" indent="0">
              <a:buNone/>
            </a:pPr>
            <a:r>
              <a:rPr lang="es-ES_tradnl" sz="850" i="1" noProof="1">
                <a:solidFill>
                  <a:srgbClr val="546E7A"/>
                </a:solidFill>
              </a:rPr>
              <a:t>Fuente: Elaboración propia basada en referentes citados.</a:t>
            </a:r>
            <a:endParaRPr lang="es-ES_tradnl" sz="850" noProof="1"/>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0D2B55"/>
        </a:solidFill>
        <a:effectLst/>
      </p:bgPr>
    </p:bg>
    <p:spTree>
      <p:nvGrpSpPr>
        <p:cNvPr id="1" name=""/>
        <p:cNvGrpSpPr/>
        <p:nvPr/>
      </p:nvGrpSpPr>
      <p:grpSpPr>
        <a:xfrm>
          <a:off x="0" y="0"/>
          <a:ext cx="0" cy="0"/>
          <a:chOff x="0" y="0"/>
          <a:chExt cx="0" cy="0"/>
        </a:xfrm>
      </p:grpSpPr>
      <p:sp>
        <p:nvSpPr>
          <p:cNvPr id="2" name="Shape 0"/>
          <p:cNvSpPr/>
          <p:nvPr/>
        </p:nvSpPr>
        <p:spPr>
          <a:xfrm>
            <a:off x="5943600" y="2286000"/>
            <a:ext cx="4572000" cy="4572000"/>
          </a:xfrm>
          <a:prstGeom prst="ellipse">
            <a:avLst/>
          </a:prstGeom>
          <a:solidFill>
            <a:srgbClr val="1A3A6B">
              <a:alpha val="70000"/>
            </a:srgbClr>
          </a:solidFill>
          <a:ln w="12700">
            <a:solidFill>
              <a:srgbClr val="1A3A6B">
                <a:alpha val="70000"/>
              </a:srgbClr>
            </a:solidFill>
            <a:prstDash val="solid"/>
          </a:ln>
        </p:spPr>
        <p:txBody>
          <a:bodyPr/>
          <a:lstStyle/>
          <a:p>
            <a:endParaRPr lang="es-ES_tradnl" noProof="1"/>
          </a:p>
        </p:txBody>
      </p:sp>
      <p:sp>
        <p:nvSpPr>
          <p:cNvPr id="3" name="Shape 1"/>
          <p:cNvSpPr/>
          <p:nvPr/>
        </p:nvSpPr>
        <p:spPr>
          <a:xfrm>
            <a:off x="-914400" y="-914400"/>
            <a:ext cx="3200400" cy="3200400"/>
          </a:xfrm>
          <a:prstGeom prst="ellipse">
            <a:avLst/>
          </a:prstGeom>
          <a:solidFill>
            <a:srgbClr val="00838F">
              <a:alpha val="40000"/>
            </a:srgbClr>
          </a:solidFill>
          <a:ln w="12700">
            <a:solidFill>
              <a:srgbClr val="00838F">
                <a:alpha val="40000"/>
              </a:srgbClr>
            </a:solidFill>
            <a:prstDash val="solid"/>
          </a:ln>
        </p:spPr>
        <p:txBody>
          <a:bodyPr/>
          <a:lstStyle/>
          <a:p>
            <a:endParaRPr lang="es-ES_tradnl" noProof="1"/>
          </a:p>
        </p:txBody>
      </p:sp>
      <p:sp>
        <p:nvSpPr>
          <p:cNvPr id="4" name="Text 2"/>
          <p:cNvSpPr/>
          <p:nvPr/>
        </p:nvSpPr>
        <p:spPr>
          <a:xfrm>
            <a:off x="457200" y="320040"/>
            <a:ext cx="6400800" cy="1280160"/>
          </a:xfrm>
          <a:prstGeom prst="rect">
            <a:avLst/>
          </a:prstGeom>
          <a:noFill/>
          <a:ln/>
        </p:spPr>
        <p:txBody>
          <a:bodyPr wrap="square" rtlCol="0" anchor="ctr"/>
          <a:lstStyle/>
          <a:p>
            <a:pPr marL="0" indent="0">
              <a:buNone/>
            </a:pPr>
            <a:r>
              <a:rPr lang="es-ES_tradnl" sz="3400" b="1" noProof="1">
                <a:solidFill>
                  <a:srgbClr val="FFFFFF"/>
                </a:solidFill>
                <a:latin typeface="Calibri" pitchFamily="34" charset="0"/>
                <a:ea typeface="Calibri" pitchFamily="34" charset="-122"/>
                <a:cs typeface="Calibri" pitchFamily="34" charset="-120"/>
              </a:rPr>
              <a:t>Conclusiones y</a:t>
            </a:r>
            <a:endParaRPr lang="es-ES_tradnl" sz="3400" noProof="1"/>
          </a:p>
          <a:p>
            <a:pPr marL="0" indent="0">
              <a:buNone/>
            </a:pPr>
            <a:r>
              <a:rPr lang="es-ES_tradnl" sz="3400" b="1" noProof="1">
                <a:solidFill>
                  <a:srgbClr val="FFFFFF"/>
                </a:solidFill>
                <a:latin typeface="Calibri" pitchFamily="34" charset="0"/>
                <a:ea typeface="Calibri" pitchFamily="34" charset="-122"/>
                <a:cs typeface="Calibri" pitchFamily="34" charset="-120"/>
              </a:rPr>
              <a:t>Próximos Pasos</a:t>
            </a:r>
            <a:endParaRPr lang="es-ES_tradnl" sz="3400" noProof="1"/>
          </a:p>
        </p:txBody>
      </p:sp>
      <p:sp>
        <p:nvSpPr>
          <p:cNvPr id="5" name="Shape 3"/>
          <p:cNvSpPr/>
          <p:nvPr/>
        </p:nvSpPr>
        <p:spPr>
          <a:xfrm>
            <a:off x="457200" y="1691640"/>
            <a:ext cx="5486400" cy="0"/>
          </a:xfrm>
          <a:prstGeom prst="line">
            <a:avLst/>
          </a:prstGeom>
          <a:noFill/>
          <a:ln w="25400">
            <a:solidFill>
              <a:srgbClr val="00838F"/>
            </a:solidFill>
            <a:prstDash val="solid"/>
          </a:ln>
        </p:spPr>
        <p:txBody>
          <a:bodyPr/>
          <a:lstStyle/>
          <a:p>
            <a:endParaRPr lang="es-ES_tradnl" noProof="1"/>
          </a:p>
        </p:txBody>
      </p:sp>
      <p:sp>
        <p:nvSpPr>
          <p:cNvPr id="6" name="Text 4"/>
          <p:cNvSpPr/>
          <p:nvPr/>
        </p:nvSpPr>
        <p:spPr>
          <a:xfrm>
            <a:off x="457200" y="1828800"/>
            <a:ext cx="5943600" cy="502920"/>
          </a:xfrm>
          <a:prstGeom prst="rect">
            <a:avLst/>
          </a:prstGeom>
          <a:noFill/>
          <a:ln/>
        </p:spPr>
        <p:txBody>
          <a:bodyPr wrap="square" rtlCol="0" anchor="ctr"/>
          <a:lstStyle/>
          <a:p>
            <a:pPr marL="0" indent="0">
              <a:buNone/>
            </a:pPr>
            <a:r>
              <a:rPr lang="es-ES_tradnl" sz="1150" b="1" noProof="1">
                <a:solidFill>
                  <a:srgbClr val="00838F"/>
                </a:solidFill>
              </a:rPr>
              <a:t>1. </a:t>
            </a:r>
            <a:r>
              <a:rPr lang="es-ES_tradnl" sz="1150" noProof="1">
                <a:solidFill>
                  <a:srgbClr val="FFFFFF"/>
                </a:solidFill>
              </a:rPr>
              <a:t>El riesgo de deserción es dinámico y los sistemas estáticos actuales son insuficientes para la jornada nocturna.</a:t>
            </a:r>
            <a:endParaRPr lang="es-ES_tradnl" sz="1150" noProof="1"/>
          </a:p>
        </p:txBody>
      </p:sp>
      <p:sp>
        <p:nvSpPr>
          <p:cNvPr id="7" name="Text 5"/>
          <p:cNvSpPr/>
          <p:nvPr/>
        </p:nvSpPr>
        <p:spPr>
          <a:xfrm>
            <a:off x="457200" y="2395728"/>
            <a:ext cx="5943600" cy="502920"/>
          </a:xfrm>
          <a:prstGeom prst="rect">
            <a:avLst/>
          </a:prstGeom>
          <a:noFill/>
          <a:ln/>
        </p:spPr>
        <p:txBody>
          <a:bodyPr wrap="square" rtlCol="0" anchor="ctr"/>
          <a:lstStyle/>
          <a:p>
            <a:pPr marL="0" indent="0">
              <a:buNone/>
            </a:pPr>
            <a:r>
              <a:rPr lang="es-ES_tradnl" sz="1150" b="1" noProof="1">
                <a:solidFill>
                  <a:srgbClr val="00838F"/>
                </a:solidFill>
              </a:rPr>
              <a:t>2. </a:t>
            </a:r>
            <a:r>
              <a:rPr lang="es-ES_tradnl" sz="1150" noProof="1">
                <a:solidFill>
                  <a:srgbClr val="FFFFFF"/>
                </a:solidFill>
              </a:rPr>
              <a:t>La integración de huella digital LMS + elasticidad laboral + fatiga urbana es la clave diferencial del prototipo.</a:t>
            </a:r>
            <a:endParaRPr lang="es-ES_tradnl" sz="1150" noProof="1"/>
          </a:p>
        </p:txBody>
      </p:sp>
      <p:sp>
        <p:nvSpPr>
          <p:cNvPr id="8" name="Text 6"/>
          <p:cNvSpPr/>
          <p:nvPr/>
        </p:nvSpPr>
        <p:spPr>
          <a:xfrm>
            <a:off x="457200" y="2962656"/>
            <a:ext cx="5943600" cy="502920"/>
          </a:xfrm>
          <a:prstGeom prst="rect">
            <a:avLst/>
          </a:prstGeom>
          <a:noFill/>
          <a:ln/>
        </p:spPr>
        <p:txBody>
          <a:bodyPr wrap="square" rtlCol="0" anchor="ctr"/>
          <a:lstStyle/>
          <a:p>
            <a:pPr marL="0" indent="0">
              <a:buNone/>
            </a:pPr>
            <a:r>
              <a:rPr lang="es-ES_tradnl" sz="1150" b="1" noProof="1">
                <a:solidFill>
                  <a:srgbClr val="00838F"/>
                </a:solidFill>
              </a:rPr>
              <a:t>3. </a:t>
            </a:r>
            <a:r>
              <a:rPr lang="es-ES_tradnl" sz="1150" noProof="1">
                <a:solidFill>
                  <a:srgbClr val="FFFFFF"/>
                </a:solidFill>
              </a:rPr>
              <a:t>El proyecto se alinea con la meta PDI 2025-2032 de reducción del 2.5% en deserción.</a:t>
            </a:r>
            <a:endParaRPr lang="es-ES_tradnl" sz="1150" noProof="1"/>
          </a:p>
        </p:txBody>
      </p:sp>
      <p:sp>
        <p:nvSpPr>
          <p:cNvPr id="9" name="Text 7"/>
          <p:cNvSpPr/>
          <p:nvPr/>
        </p:nvSpPr>
        <p:spPr>
          <a:xfrm>
            <a:off x="457200" y="3566160"/>
            <a:ext cx="5486400" cy="320040"/>
          </a:xfrm>
          <a:prstGeom prst="rect">
            <a:avLst/>
          </a:prstGeom>
          <a:noFill/>
          <a:ln/>
        </p:spPr>
        <p:txBody>
          <a:bodyPr wrap="square" rtlCol="0" anchor="ctr"/>
          <a:lstStyle/>
          <a:p>
            <a:pPr marL="0" indent="0">
              <a:buNone/>
            </a:pPr>
            <a:r>
              <a:rPr lang="es-ES_tradnl" sz="1200" b="1" noProof="1">
                <a:solidFill>
                  <a:srgbClr val="00838F"/>
                </a:solidFill>
              </a:rPr>
              <a:t>Próximas fases:</a:t>
            </a:r>
            <a:endParaRPr lang="es-ES_tradnl" sz="1200" noProof="1"/>
          </a:p>
        </p:txBody>
      </p:sp>
      <p:sp>
        <p:nvSpPr>
          <p:cNvPr id="10" name="Shape 8"/>
          <p:cNvSpPr/>
          <p:nvPr/>
        </p:nvSpPr>
        <p:spPr>
          <a:xfrm>
            <a:off x="457200" y="3931920"/>
            <a:ext cx="1783080" cy="594360"/>
          </a:xfrm>
          <a:prstGeom prst="rect">
            <a:avLst/>
          </a:prstGeom>
          <a:solidFill>
            <a:srgbClr val="0A1F3D"/>
          </a:solidFill>
          <a:ln w="19050">
            <a:solidFill>
              <a:srgbClr val="00838F"/>
            </a:solidFill>
            <a:prstDash val="solid"/>
          </a:ln>
          <a:effectLst>
            <a:outerShdw blurRad="76200" dist="25400" dir="8100000" algn="bl" rotWithShape="0">
              <a:srgbClr val="000000">
                <a:alpha val="12000"/>
              </a:srgbClr>
            </a:outerShdw>
          </a:effectLst>
        </p:spPr>
        <p:txBody>
          <a:bodyPr/>
          <a:lstStyle/>
          <a:p>
            <a:endParaRPr lang="es-ES_tradnl" noProof="1"/>
          </a:p>
        </p:txBody>
      </p:sp>
      <p:sp>
        <p:nvSpPr>
          <p:cNvPr id="11" name="Text 9"/>
          <p:cNvSpPr/>
          <p:nvPr/>
        </p:nvSpPr>
        <p:spPr>
          <a:xfrm>
            <a:off x="457200" y="3931920"/>
            <a:ext cx="1783080" cy="594360"/>
          </a:xfrm>
          <a:prstGeom prst="rect">
            <a:avLst/>
          </a:prstGeom>
          <a:noFill/>
          <a:ln/>
        </p:spPr>
        <p:txBody>
          <a:bodyPr wrap="square" lIns="0" tIns="0" rIns="0" bIns="0" rtlCol="0" anchor="ctr"/>
          <a:lstStyle/>
          <a:p>
            <a:pPr marL="0" indent="0" algn="ctr">
              <a:buNone/>
            </a:pPr>
            <a:r>
              <a:rPr lang="es-ES_tradnl" sz="1000" b="1" noProof="1">
                <a:solidFill>
                  <a:srgbClr val="FFFFFF"/>
                </a:solidFill>
              </a:rPr>
              <a:t>Fase 1: Gestión Institucional</a:t>
            </a:r>
            <a:endParaRPr lang="es-ES_tradnl" sz="1000" noProof="1"/>
          </a:p>
        </p:txBody>
      </p:sp>
      <p:sp>
        <p:nvSpPr>
          <p:cNvPr id="12" name="Shape 10"/>
          <p:cNvSpPr/>
          <p:nvPr/>
        </p:nvSpPr>
        <p:spPr>
          <a:xfrm>
            <a:off x="2423160" y="3931920"/>
            <a:ext cx="1783080" cy="594360"/>
          </a:xfrm>
          <a:prstGeom prst="rect">
            <a:avLst/>
          </a:prstGeom>
          <a:solidFill>
            <a:srgbClr val="0A1F3D"/>
          </a:solidFill>
          <a:ln w="19050">
            <a:solidFill>
              <a:srgbClr val="00838F"/>
            </a:solidFill>
            <a:prstDash val="solid"/>
          </a:ln>
          <a:effectLst>
            <a:outerShdw blurRad="76200" dist="25400" dir="8100000" algn="bl" rotWithShape="0">
              <a:srgbClr val="000000">
                <a:alpha val="12000"/>
              </a:srgbClr>
            </a:outerShdw>
          </a:effectLst>
        </p:spPr>
        <p:txBody>
          <a:bodyPr/>
          <a:lstStyle/>
          <a:p>
            <a:endParaRPr lang="es-ES_tradnl" noProof="1"/>
          </a:p>
        </p:txBody>
      </p:sp>
      <p:sp>
        <p:nvSpPr>
          <p:cNvPr id="13" name="Text 11"/>
          <p:cNvSpPr/>
          <p:nvPr/>
        </p:nvSpPr>
        <p:spPr>
          <a:xfrm>
            <a:off x="2423160" y="3931920"/>
            <a:ext cx="1783080" cy="594360"/>
          </a:xfrm>
          <a:prstGeom prst="rect">
            <a:avLst/>
          </a:prstGeom>
          <a:noFill/>
          <a:ln/>
        </p:spPr>
        <p:txBody>
          <a:bodyPr wrap="square" lIns="0" tIns="0" rIns="0" bIns="0" rtlCol="0" anchor="ctr"/>
          <a:lstStyle/>
          <a:p>
            <a:pPr marL="0" indent="0" algn="ctr">
              <a:buNone/>
            </a:pPr>
            <a:r>
              <a:rPr lang="es-ES_tradnl" sz="1000" b="1" noProof="1">
                <a:solidFill>
                  <a:srgbClr val="FFFFFF"/>
                </a:solidFill>
              </a:rPr>
              <a:t>Fase 2: Ingesta de Datos</a:t>
            </a:r>
            <a:endParaRPr lang="es-ES_tradnl" sz="1000" noProof="1"/>
          </a:p>
        </p:txBody>
      </p:sp>
      <p:sp>
        <p:nvSpPr>
          <p:cNvPr id="14" name="Shape 12"/>
          <p:cNvSpPr/>
          <p:nvPr/>
        </p:nvSpPr>
        <p:spPr>
          <a:xfrm>
            <a:off x="4389120" y="3931920"/>
            <a:ext cx="1783080" cy="594360"/>
          </a:xfrm>
          <a:prstGeom prst="rect">
            <a:avLst/>
          </a:prstGeom>
          <a:solidFill>
            <a:srgbClr val="0A1F3D"/>
          </a:solidFill>
          <a:ln w="19050">
            <a:solidFill>
              <a:srgbClr val="00838F"/>
            </a:solidFill>
            <a:prstDash val="solid"/>
          </a:ln>
          <a:effectLst>
            <a:outerShdw blurRad="76200" dist="25400" dir="8100000" algn="bl" rotWithShape="0">
              <a:srgbClr val="000000">
                <a:alpha val="12000"/>
              </a:srgbClr>
            </a:outerShdw>
          </a:effectLst>
        </p:spPr>
        <p:txBody>
          <a:bodyPr/>
          <a:lstStyle/>
          <a:p>
            <a:endParaRPr lang="es-ES_tradnl" noProof="1"/>
          </a:p>
        </p:txBody>
      </p:sp>
      <p:sp>
        <p:nvSpPr>
          <p:cNvPr id="15" name="Text 13"/>
          <p:cNvSpPr/>
          <p:nvPr/>
        </p:nvSpPr>
        <p:spPr>
          <a:xfrm>
            <a:off x="4389120" y="3931920"/>
            <a:ext cx="1783080" cy="594360"/>
          </a:xfrm>
          <a:prstGeom prst="rect">
            <a:avLst/>
          </a:prstGeom>
          <a:noFill/>
          <a:ln/>
        </p:spPr>
        <p:txBody>
          <a:bodyPr wrap="square" lIns="0" tIns="0" rIns="0" bIns="0" rtlCol="0" anchor="ctr"/>
          <a:lstStyle/>
          <a:p>
            <a:pPr marL="0" indent="0" algn="ctr">
              <a:buNone/>
            </a:pPr>
            <a:r>
              <a:rPr lang="es-ES_tradnl" sz="1000" b="1" noProof="1">
                <a:solidFill>
                  <a:srgbClr val="FFFFFF"/>
                </a:solidFill>
              </a:rPr>
              <a:t>Fase 3: Desarrollo del Modelo</a:t>
            </a:r>
            <a:endParaRPr lang="es-ES_tradnl" sz="1000" noProof="1"/>
          </a:p>
        </p:txBody>
      </p:sp>
      <p:sp>
        <p:nvSpPr>
          <p:cNvPr id="16" name="Text 14"/>
          <p:cNvSpPr/>
          <p:nvPr/>
        </p:nvSpPr>
        <p:spPr>
          <a:xfrm>
            <a:off x="457200" y="4709160"/>
            <a:ext cx="5486400" cy="320040"/>
          </a:xfrm>
          <a:prstGeom prst="rect">
            <a:avLst/>
          </a:prstGeom>
          <a:noFill/>
          <a:ln/>
        </p:spPr>
        <p:txBody>
          <a:bodyPr wrap="square" rtlCol="0" anchor="ctr"/>
          <a:lstStyle/>
          <a:p>
            <a:pPr marL="0" indent="0">
              <a:buNone/>
            </a:pPr>
            <a:r>
              <a:rPr lang="es-ES_tradnl" sz="1300" b="1" i="1" noProof="1">
                <a:solidFill>
                  <a:srgbClr val="00838F"/>
                </a:solidFill>
              </a:rPr>
              <a:t>¡Gracias por su atención!</a:t>
            </a:r>
            <a:endParaRPr lang="es-ES_tradnl" sz="1300" noProof="1"/>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TotalTime>
  <Words>967</Words>
  <Application>Microsoft Macintosh PowerPoint</Application>
  <PresentationFormat>On-screen Show (16:9)</PresentationFormat>
  <Paragraphs>149</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Sistema de Analítica Predictiva - ETITC</dc:title>
  <dc:subject>PptxGenJS Presentation</dc:subject>
  <dc:creator>Jhon Correal &amp; Rafael Guzmán</dc:creator>
  <cp:lastModifiedBy>JHON ALEJANDRO CORREAL MARTINEZ</cp:lastModifiedBy>
  <cp:revision>3</cp:revision>
  <dcterms:created xsi:type="dcterms:W3CDTF">2026-04-28T01:51:27Z</dcterms:created>
  <dcterms:modified xsi:type="dcterms:W3CDTF">2026-04-28T02:24:30Z</dcterms:modified>
</cp:coreProperties>
</file>