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/>
    <p:restoredTop sz="94678"/>
  </p:normalViewPr>
  <p:slideViewPr>
    <p:cSldViewPr snapToGrid="0" snapToObjects="1">
      <p:cViewPr>
        <p:scale>
          <a:sx n="240" d="100"/>
          <a:sy n="240" d="100"/>
        </p:scale>
        <p:origin x="1808" y="-70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4B440-2E32-A647-96F5-5DED5B548553}" type="datetimeFigureOut">
              <a:rPr lang="es-ES_tradnl" smtClean="0"/>
              <a:t>13/5/26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64A1E-FC78-BF43-94CA-1F08F11A5EFC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9825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64A1E-FC78-BF43-94CA-1F08F11A5EFC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60944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858000" cy="1783080"/>
          </a:xfrm>
          <a:prstGeom prst="rect">
            <a:avLst/>
          </a:prstGeom>
          <a:solidFill>
            <a:srgbClr val="1A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0" cy="1783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5" name="TextBox 4"/>
          <p:cNvSpPr txBox="1"/>
          <p:nvPr/>
        </p:nvSpPr>
        <p:spPr>
          <a:xfrm>
            <a:off x="64008" y="1261872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2000" b="1" i="0" noProof="1">
                <a:solidFill>
                  <a:srgbClr val="FFFFFF"/>
                </a:solidFill>
                <a:latin typeface="Calibri"/>
              </a:rPr>
              <a:t>ETITC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905021"/>
            <a:ext cx="132588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550" b="0" i="0" noProof="1">
                <a:solidFill>
                  <a:srgbClr val="CCFFCC"/>
                </a:solidFill>
                <a:latin typeface="Calibri"/>
              </a:rPr>
              <a:t>ESCUELA TECNOLÓGICA
INSTITUTO TÉCNICO CENTRAL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37160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8" name="TextBox 7"/>
          <p:cNvSpPr txBox="1"/>
          <p:nvPr/>
        </p:nvSpPr>
        <p:spPr>
          <a:xfrm>
            <a:off x="1463040" y="94254"/>
            <a:ext cx="52578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1400" b="1" i="0" noProof="1">
                <a:solidFill>
                  <a:srgbClr val="FFFFFF"/>
                </a:solidFill>
                <a:latin typeface="Calibri"/>
              </a:rPr>
              <a:t>Sistema de Analítica Predictiva para
la Detección Temprana de Deserción: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804672"/>
            <a:ext cx="52578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1300" b="1" i="0" noProof="1">
                <a:solidFill>
                  <a:srgbClr val="52B788"/>
                </a:solidFill>
                <a:latin typeface="Calibri"/>
              </a:rPr>
              <a:t>Caso Jornada Nocturna ETITC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188720"/>
            <a:ext cx="52578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800" b="0" i="0" noProof="1">
                <a:solidFill>
                  <a:srgbClr val="CCEEDD"/>
                </a:solidFill>
                <a:latin typeface="Calibri"/>
              </a:rPr>
              <a:t>Investigación aplicada: Machine Learning y variables dinámicas
para una intervención preventiva</a:t>
            </a:r>
          </a:p>
        </p:txBody>
      </p:sp>
      <p:sp>
        <p:nvSpPr>
          <p:cNvPr id="11" name="Rectangle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154" y="1852428"/>
            <a:ext cx="3246120" cy="38610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2" name="Rectangle 11"/>
          <p:cNvSpPr/>
          <p:nvPr/>
        </p:nvSpPr>
        <p:spPr>
          <a:xfrm>
            <a:off x="137160" y="1874519"/>
            <a:ext cx="3246120" cy="292608"/>
          </a:xfrm>
          <a:prstGeom prst="rect">
            <a:avLst/>
          </a:prstGeom>
          <a:solidFill>
            <a:srgbClr val="1A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3" name="TextBox 12"/>
          <p:cNvSpPr txBox="1"/>
          <p:nvPr/>
        </p:nvSpPr>
        <p:spPr>
          <a:xfrm>
            <a:off x="182880" y="1883664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1000" b="1" i="0" noProof="1">
                <a:solidFill>
                  <a:srgbClr val="FFFFFF"/>
                </a:solidFill>
                <a:latin typeface="Calibri"/>
              </a:rPr>
              <a:t>Resumen del Proyecto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31136"/>
            <a:ext cx="306324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5" name="TextBox 14"/>
          <p:cNvSpPr txBox="1"/>
          <p:nvPr/>
        </p:nvSpPr>
        <p:spPr>
          <a:xfrm>
            <a:off x="401474" y="2241726"/>
            <a:ext cx="3063240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800" b="1" i="0" noProof="1">
                <a:solidFill>
                  <a:srgbClr val="2D6A4F"/>
                </a:solidFill>
                <a:latin typeface="Calibri"/>
              </a:rPr>
              <a:t>Machine Learning para reducir la deserción estudiantil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" y="2459736"/>
            <a:ext cx="3017520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_tradnl" sz="700" noProof="1">
                <a:solidFill>
                  <a:srgbClr val="333333"/>
                </a:solidFill>
              </a:rPr>
              <a:t>Este proyecto propone un sistema de analítica basado en Machine Learning para detectar prematuramente el riesgo de abandono escolar en la jornada nocturna. A diferencia de modelos estáticos (como Adviser o RUSIA), esta investigación integra variables dinámicas: déficit de disponibilidad horaria academica, interacción en el LMS (Moodle) y fatiga por movilidad urbana en Bogotá. El objetivo es transformar la respuesta institucional de un modelo reactivo a uno preventivo, alineándose con la meta de reducir la deserción en 2.5 puntos porcentuales para el 2032.</a:t>
            </a:r>
            <a:endParaRPr lang="es-ES_tradnl" sz="700" b="0" i="0" noProof="1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4888" y="3526766"/>
            <a:ext cx="30632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800" b="1" i="0" noProof="1">
                <a:solidFill>
                  <a:srgbClr val="1A4A2E"/>
                </a:solidFill>
                <a:latin typeface="Calibri"/>
              </a:rPr>
              <a:t>El Enfoque de Variables Dinámicas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4888" y="3709646"/>
            <a:ext cx="960120" cy="64008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9" name="TextBox 18"/>
          <p:cNvSpPr txBox="1"/>
          <p:nvPr/>
        </p:nvSpPr>
        <p:spPr>
          <a:xfrm>
            <a:off x="216025" y="4156764"/>
            <a:ext cx="992125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700" b="1" noProof="1">
                <a:solidFill>
                  <a:srgbClr val="1A4A2E"/>
                </a:solidFill>
                <a:latin typeface="Calibri"/>
              </a:rPr>
              <a:t>Limitación</a:t>
            </a:r>
            <a:r>
              <a:rPr lang="es-ES_tradnl" sz="700" b="1" i="0" noProof="1">
                <a:solidFill>
                  <a:srgbClr val="1A4A2E"/>
                </a:solidFill>
                <a:latin typeface="Calibri"/>
              </a:rPr>
              <a:t> de tiempo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79016" y="3709646"/>
            <a:ext cx="960120" cy="640080"/>
          </a:xfrm>
          <a:prstGeom prst="rect">
            <a:avLst/>
          </a:prstGeom>
          <a:solidFill>
            <a:srgbClr val="D0E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1" name="TextBox 20"/>
          <p:cNvSpPr txBox="1"/>
          <p:nvPr/>
        </p:nvSpPr>
        <p:spPr>
          <a:xfrm>
            <a:off x="1316119" y="4140191"/>
            <a:ext cx="880069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700" b="1" i="0" noProof="1">
                <a:solidFill>
                  <a:srgbClr val="1A4A2E"/>
                </a:solidFill>
                <a:latin typeface="Calibri"/>
              </a:rPr>
              <a:t>Interacción LMS</a:t>
            </a:r>
          </a:p>
          <a:p>
            <a:pPr algn="ctr"/>
            <a:r>
              <a:rPr lang="es-ES_tradnl" sz="400" b="1" noProof="1">
                <a:solidFill>
                  <a:srgbClr val="1A4A2E"/>
                </a:solidFill>
                <a:latin typeface="Calibri"/>
              </a:rPr>
              <a:t>(Learning Management System)</a:t>
            </a:r>
            <a:endParaRPr lang="es-ES_tradnl" sz="400" b="1" i="0" noProof="1">
              <a:solidFill>
                <a:srgbClr val="1A4A2E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303144" y="3709646"/>
            <a:ext cx="960120" cy="640080"/>
          </a:xfrm>
          <a:prstGeom prst="rect">
            <a:avLst/>
          </a:prstGeom>
          <a:solidFill>
            <a:srgbClr val="B8D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3" name="TextBox 22"/>
          <p:cNvSpPr txBox="1"/>
          <p:nvPr/>
        </p:nvSpPr>
        <p:spPr>
          <a:xfrm>
            <a:off x="2321432" y="4139414"/>
            <a:ext cx="923544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700" b="1" i="0" noProof="1">
                <a:solidFill>
                  <a:srgbClr val="1A4A2E"/>
                </a:solidFill>
                <a:latin typeface="Calibri"/>
              </a:rPr>
              <a:t>Fatiga Urbana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888" y="4395445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700" b="0" i="0" noProof="1">
                <a:solidFill>
                  <a:srgbClr val="333333"/>
                </a:solidFill>
                <a:latin typeface="Calibri"/>
              </a:rPr>
              <a:t>Integración de datos de "pobreza de tiempo", interacción en el LMS y fatiga por movilidad urbana.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519" y="5009983"/>
            <a:ext cx="3063240" cy="36576"/>
          </a:xfrm>
          <a:prstGeom prst="rect">
            <a:avLst/>
          </a:prstGeom>
          <a:solidFill>
            <a:srgbClr val="C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7" name="TextBox 26"/>
          <p:cNvSpPr txBox="1"/>
          <p:nvPr/>
        </p:nvSpPr>
        <p:spPr>
          <a:xfrm>
            <a:off x="189737" y="5255237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700" b="0" i="0" noProof="1">
                <a:solidFill>
                  <a:srgbClr val="333333"/>
                </a:solidFill>
                <a:latin typeface="Calibri"/>
              </a:rPr>
              <a:t>Alineación con el Plan de Desarrollo 2025-2032 para reducir la deserción en 2,5 puntos porcentuales.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1874519"/>
            <a:ext cx="3246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9" name="Rectangle 28"/>
          <p:cNvSpPr/>
          <p:nvPr/>
        </p:nvSpPr>
        <p:spPr>
          <a:xfrm>
            <a:off x="3474720" y="1874519"/>
            <a:ext cx="3246120" cy="2926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30" name="TextBox 29"/>
          <p:cNvSpPr txBox="1"/>
          <p:nvPr/>
        </p:nvSpPr>
        <p:spPr>
          <a:xfrm>
            <a:off x="3520440" y="1883664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1000" b="1" i="0" noProof="1">
                <a:solidFill>
                  <a:srgbClr val="FFFFFF"/>
                </a:solidFill>
                <a:latin typeface="Calibri"/>
              </a:rPr>
              <a:t>Situación Actual y Problemática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59" y="2846551"/>
            <a:ext cx="777240" cy="777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33" name="Rectangle 32"/>
          <p:cNvSpPr/>
          <p:nvPr/>
        </p:nvSpPr>
        <p:spPr>
          <a:xfrm>
            <a:off x="5257799" y="2572231"/>
            <a:ext cx="777240" cy="10515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34" name="TextBox 33"/>
          <p:cNvSpPr txBox="1"/>
          <p:nvPr/>
        </p:nvSpPr>
        <p:spPr>
          <a:xfrm>
            <a:off x="4023359" y="2636239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800" b="1" i="0" noProof="1">
                <a:solidFill>
                  <a:srgbClr val="2D6A4F"/>
                </a:solidFill>
                <a:latin typeface="Calibri"/>
              </a:rPr>
              <a:t>8,5%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799" y="2361919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800" b="1" i="0" noProof="1">
                <a:solidFill>
                  <a:srgbClr val="8B1A1A"/>
                </a:solidFill>
                <a:latin typeface="Calibri"/>
              </a:rPr>
              <a:t>12,05%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199" y="3623791"/>
            <a:ext cx="237744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37" name="TextBox 36"/>
          <p:cNvSpPr txBox="1"/>
          <p:nvPr/>
        </p:nvSpPr>
        <p:spPr>
          <a:xfrm>
            <a:off x="3977638" y="364207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Media
Nacional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364207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ETITC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3984159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Sistemas actuales no logran mitigar esta diferencia.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4235619"/>
            <a:ext cx="301752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1" name="TextBox 40"/>
          <p:cNvSpPr txBox="1"/>
          <p:nvPr/>
        </p:nvSpPr>
        <p:spPr>
          <a:xfrm>
            <a:off x="3566160" y="4272195"/>
            <a:ext cx="3017520" cy="2077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750" b="1" i="0" noProof="1">
                <a:solidFill>
                  <a:srgbClr val="1A4A2E"/>
                </a:solidFill>
                <a:latin typeface="Calibri"/>
              </a:rPr>
              <a:t>La Realidad del Estudiante Nocturno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473363"/>
            <a:ext cx="30175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700" b="0" i="0" noProof="1">
                <a:solidFill>
                  <a:srgbClr val="333333"/>
                </a:solidFill>
                <a:latin typeface="Calibri"/>
              </a:rPr>
              <a:t>- 66,49% vinculado laboralmente. </a:t>
            </a:r>
            <a:br>
              <a:rPr lang="es-ES_tradnl" sz="700" b="0" i="0" noProof="1">
                <a:solidFill>
                  <a:srgbClr val="333333"/>
                </a:solidFill>
                <a:latin typeface="Calibri"/>
              </a:rPr>
            </a:br>
            <a:r>
              <a:rPr lang="es-ES_tradnl" sz="700" b="0" i="0" noProof="1">
                <a:solidFill>
                  <a:srgbClr val="333333"/>
                </a:solidFill>
                <a:latin typeface="Calibri"/>
              </a:rPr>
              <a:t>- 52% manifiesta "pobreza de tiempo" para compromisos académicos.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5010912"/>
            <a:ext cx="3017520" cy="36576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4" name="TextBox 43"/>
          <p:cNvSpPr txBox="1"/>
          <p:nvPr/>
        </p:nvSpPr>
        <p:spPr>
          <a:xfrm>
            <a:off x="3566160" y="5047488"/>
            <a:ext cx="3017520" cy="2077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750" b="1" i="0" noProof="1">
                <a:solidFill>
                  <a:srgbClr val="8B1A1A"/>
                </a:solidFill>
                <a:latin typeface="Calibri"/>
              </a:rPr>
              <a:t>El Factor Movilidad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248656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700" b="0" i="0" noProof="1">
                <a:solidFill>
                  <a:srgbClr val="333333"/>
                </a:solidFill>
                <a:latin typeface="Calibri"/>
              </a:rPr>
              <a:t>54% de la población depende de TransMilenio, enfrentando niveles críticos de fatiga urbana como un "punto ciego" para la institución.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" y="5806440"/>
            <a:ext cx="205740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7" name="Rectangle 46"/>
          <p:cNvSpPr/>
          <p:nvPr/>
        </p:nvSpPr>
        <p:spPr>
          <a:xfrm>
            <a:off x="137160" y="5806440"/>
            <a:ext cx="205740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48" name="TextBox 47"/>
          <p:cNvSpPr txBox="1"/>
          <p:nvPr/>
        </p:nvSpPr>
        <p:spPr>
          <a:xfrm>
            <a:off x="182880" y="5815584"/>
            <a:ext cx="1965960" cy="2231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850" b="1" i="0" noProof="1">
                <a:solidFill>
                  <a:srgbClr val="FFFFFF"/>
                </a:solidFill>
                <a:latin typeface="Calibri"/>
              </a:rPr>
              <a:t>Pregunta Problema y Objetivos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6153912"/>
            <a:ext cx="1874519" cy="36576"/>
          </a:xfrm>
          <a:prstGeom prst="rect">
            <a:avLst/>
          </a:prstGeom>
          <a:solidFill>
            <a:srgbClr val="C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50" name="TextBox 49"/>
          <p:cNvSpPr txBox="1"/>
          <p:nvPr/>
        </p:nvSpPr>
        <p:spPr>
          <a:xfrm>
            <a:off x="228600" y="6190488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750" b="1" i="0" noProof="1">
                <a:solidFill>
                  <a:srgbClr val="2D6A4F"/>
                </a:solidFill>
                <a:latin typeface="Calibri"/>
              </a:rPr>
              <a:t>¿Cómo mejorar la detección temprana?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" y="6464808"/>
            <a:ext cx="1874519" cy="3924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650" b="0" i="1" noProof="1">
                <a:solidFill>
                  <a:srgbClr val="333333"/>
                </a:solidFill>
                <a:latin typeface="Calibri"/>
              </a:rPr>
              <a:t>¿De qué manera la integración de variables dinámicas de entorno permite el monitoreo del riesgo de deserción frente a los sistemas actuales?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4888" y="6966636"/>
            <a:ext cx="1874519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800" b="1" i="0" noProof="1">
                <a:solidFill>
                  <a:srgbClr val="1A4A2E"/>
                </a:solidFill>
                <a:latin typeface="Calibri"/>
              </a:rPr>
              <a:t>Objetivos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4888" y="7167804"/>
            <a:ext cx="1874519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700" b="1" i="0" noProof="1">
                <a:solidFill>
                  <a:srgbClr val="2D6A4F"/>
                </a:solidFill>
                <a:latin typeface="Calibri"/>
              </a:rPr>
              <a:t>General: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4888" y="7314107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Prototipar un modelo de analítica predictiva basado en Machine Learning que integre variables dinámicas para la jornada nocturna.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3177" y="7752948"/>
            <a:ext cx="1874519" cy="155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700" b="1" i="0" noProof="1">
                <a:solidFill>
                  <a:srgbClr val="2D6A4F"/>
                </a:solidFill>
                <a:latin typeface="Calibri"/>
              </a:rPr>
              <a:t>Específicos: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888" y="7972476"/>
            <a:ext cx="1874519" cy="5924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- Categorizar variables (LMS, movilidad, carga laboral) </a:t>
            </a:r>
            <a:br>
              <a:rPr lang="es-ES_tradnl" sz="650" b="0" i="0" noProof="1">
                <a:solidFill>
                  <a:srgbClr val="333333"/>
                </a:solidFill>
                <a:latin typeface="Calibri"/>
              </a:rPr>
            </a:br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- </a:t>
            </a:r>
            <a:r>
              <a:rPr lang="es-ES_tradnl" sz="650" noProof="1">
                <a:solidFill>
                  <a:srgbClr val="333333"/>
                </a:solidFill>
                <a:latin typeface="Calibri"/>
              </a:rPr>
              <a:t>D</a:t>
            </a:r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iseñar la arquitectura técnica </a:t>
            </a:r>
            <a:br>
              <a:rPr lang="es-ES_tradnl" sz="650" b="0" i="0" noProof="1">
                <a:solidFill>
                  <a:srgbClr val="333333"/>
                </a:solidFill>
                <a:latin typeface="Calibri"/>
              </a:rPr>
            </a:br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- Validar la precisión mediante pruebas de rendimiento.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8216" y="5804902"/>
            <a:ext cx="4434840" cy="15540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noProof="1"/>
              <a:t>Se realiza el entrenamiento técnico del modelo de analítica predictiva.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5806440"/>
            <a:ext cx="443484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59" name="TextBox 58"/>
          <p:cNvSpPr txBox="1"/>
          <p:nvPr/>
        </p:nvSpPr>
        <p:spPr>
          <a:xfrm>
            <a:off x="2331720" y="581558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1000" b="1" i="0" noProof="1">
                <a:solidFill>
                  <a:srgbClr val="FFFFFF"/>
                </a:solidFill>
                <a:latin typeface="Calibri"/>
              </a:rPr>
              <a:t>Metodología (Ciclo de Vida del Modelo)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01767" y="6144768"/>
            <a:ext cx="76809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50" b="1" i="0" noProof="1">
                <a:solidFill>
                  <a:srgbClr val="FFFFFF"/>
                </a:solidFill>
                <a:latin typeface="Calibri"/>
              </a:rPr>
              <a:t>Fase 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97747" y="6281096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1" i="0" noProof="1">
                <a:solidFill>
                  <a:srgbClr val="FFFFFF"/>
                </a:solidFill>
                <a:latin typeface="Calibri"/>
              </a:rPr>
              <a:t>Modelado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777EF8B-E7FB-E968-33A3-BF6CBE771153}"/>
              </a:ext>
            </a:extLst>
          </p:cNvPr>
          <p:cNvGrpSpPr/>
          <p:nvPr/>
        </p:nvGrpSpPr>
        <p:grpSpPr>
          <a:xfrm>
            <a:off x="5626099" y="6147111"/>
            <a:ext cx="1003301" cy="1114455"/>
            <a:chOff x="5645150" y="6144768"/>
            <a:chExt cx="1003301" cy="1114455"/>
          </a:xfrm>
        </p:grpSpPr>
        <p:sp>
          <p:nvSpPr>
            <p:cNvPr id="80" name="Rectangle 79"/>
            <p:cNvSpPr/>
            <p:nvPr/>
          </p:nvSpPr>
          <p:spPr>
            <a:xfrm>
              <a:off x="5651500" y="6144768"/>
              <a:ext cx="996951" cy="201168"/>
            </a:xfrm>
            <a:prstGeom prst="rect">
              <a:avLst/>
            </a:prstGeom>
            <a:solidFill>
              <a:srgbClr val="66AB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9C5BCB9-DB58-D7AB-9F9C-2C95159108A9}"/>
                </a:ext>
              </a:extLst>
            </p:cNvPr>
            <p:cNvGrpSpPr/>
            <p:nvPr/>
          </p:nvGrpSpPr>
          <p:grpSpPr>
            <a:xfrm>
              <a:off x="5645150" y="6149086"/>
              <a:ext cx="999878" cy="1110137"/>
              <a:chOff x="5846684" y="6149086"/>
              <a:chExt cx="807848" cy="1110137"/>
            </a:xfrm>
          </p:grpSpPr>
          <p:sp>
            <p:nvSpPr>
              <p:cNvPr id="73" name="Rectangle 72"/>
              <p:cNvSpPr/>
              <p:nvPr/>
            </p:nvSpPr>
            <p:spPr>
              <a:xfrm>
                <a:off x="5851814" y="6342474"/>
                <a:ext cx="802718" cy="916749"/>
              </a:xfrm>
              <a:prstGeom prst="rect">
                <a:avLst/>
              </a:prstGeom>
              <a:solidFill>
                <a:srgbClr val="E8F5E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s-ES_tradnl" sz="700" noProof="1">
                    <a:solidFill>
                      <a:schemeClr val="tx1"/>
                    </a:solidFill>
                  </a:rPr>
                  <a:t>Ejecutar el entrenamiento técnico y validar el modelo para la identificación de patrones de riesgo de deserción.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5846684" y="6149086"/>
                <a:ext cx="795221" cy="192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_tradnl" sz="650" b="1" i="0" noProof="1">
                    <a:solidFill>
                      <a:srgbClr val="FFFFFF"/>
                    </a:solidFill>
                    <a:latin typeface="Calibri"/>
                  </a:rPr>
                  <a:t>Fase 4 -  Modelado</a:t>
                </a:r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A294A03-E6FB-6839-CE4E-A2E73C194119}"/>
              </a:ext>
            </a:extLst>
          </p:cNvPr>
          <p:cNvGrpSpPr>
            <a:grpSpLocks/>
          </p:cNvGrpSpPr>
          <p:nvPr/>
        </p:nvGrpSpPr>
        <p:grpSpPr>
          <a:xfrm>
            <a:off x="137160" y="8961120"/>
            <a:ext cx="6583680" cy="1568903"/>
            <a:chOff x="137160" y="8961120"/>
            <a:chExt cx="6583680" cy="1568903"/>
          </a:xfrm>
        </p:grpSpPr>
        <p:sp>
          <p:nvSpPr>
            <p:cNvPr id="85" name="Rectangle 84"/>
            <p:cNvSpPr>
              <a:spLocks/>
            </p:cNvSpPr>
            <p:nvPr/>
          </p:nvSpPr>
          <p:spPr>
            <a:xfrm>
              <a:off x="137160" y="8961120"/>
              <a:ext cx="6583680" cy="15689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86" name="Rectangle 85"/>
            <p:cNvSpPr>
              <a:spLocks/>
            </p:cNvSpPr>
            <p:nvPr/>
          </p:nvSpPr>
          <p:spPr>
            <a:xfrm>
              <a:off x="137160" y="8961120"/>
              <a:ext cx="6583680" cy="211542"/>
            </a:xfrm>
            <a:prstGeom prst="rect">
              <a:avLst/>
            </a:prstGeom>
            <a:solidFill>
              <a:srgbClr val="1A4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1497955" y="8928110"/>
            <a:ext cx="386209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1100" b="1" i="0" noProof="1">
                <a:solidFill>
                  <a:srgbClr val="FFFFFF"/>
                </a:solidFill>
                <a:latin typeface="Calibri"/>
              </a:rPr>
              <a:t>Resultados (Vigilancia Tecnológica)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1030" y="9227230"/>
            <a:ext cx="1143000" cy="384048"/>
          </a:xfrm>
          <a:prstGeom prst="rect">
            <a:avLst/>
          </a:prstGeom>
          <a:solidFill>
            <a:srgbClr val="1A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99" name="TextBox 98"/>
          <p:cNvSpPr txBox="1"/>
          <p:nvPr/>
        </p:nvSpPr>
        <p:spPr>
          <a:xfrm>
            <a:off x="488462" y="9227230"/>
            <a:ext cx="108813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1" i="0" noProof="1">
                <a:solidFill>
                  <a:srgbClr val="FFFFFF"/>
                </a:solidFill>
                <a:latin typeface="Calibri"/>
              </a:rPr>
              <a:t>Fuente de
Vigilancia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22318" y="9227230"/>
            <a:ext cx="1188720" cy="384048"/>
          </a:xfrm>
          <a:prstGeom prst="rect">
            <a:avLst/>
          </a:prstGeom>
          <a:solidFill>
            <a:srgbClr val="1A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1" name="TextBox 100"/>
          <p:cNvSpPr txBox="1"/>
          <p:nvPr/>
        </p:nvSpPr>
        <p:spPr>
          <a:xfrm>
            <a:off x="1649750" y="9227230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1" i="0" noProof="1">
                <a:solidFill>
                  <a:srgbClr val="FFFFFF"/>
                </a:solidFill>
                <a:latin typeface="Calibri"/>
              </a:rPr>
              <a:t>ETITC
Planeación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829326" y="9227230"/>
            <a:ext cx="1188720" cy="384048"/>
          </a:xfrm>
          <a:prstGeom prst="rect">
            <a:avLst/>
          </a:prstGeom>
          <a:solidFill>
            <a:srgbClr val="1A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3" name="TextBox 102"/>
          <p:cNvSpPr txBox="1"/>
          <p:nvPr/>
        </p:nvSpPr>
        <p:spPr>
          <a:xfrm>
            <a:off x="2856758" y="9227230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1" i="0" noProof="1">
                <a:solidFill>
                  <a:srgbClr val="FFFFFF"/>
                </a:solidFill>
                <a:latin typeface="Calibri"/>
              </a:rPr>
              <a:t>Modelos ML
Estáticos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36334" y="9227230"/>
            <a:ext cx="1188720" cy="384048"/>
          </a:xfrm>
          <a:prstGeom prst="rect">
            <a:avLst/>
          </a:prstGeom>
          <a:solidFill>
            <a:srgbClr val="1A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5" name="TextBox 104"/>
          <p:cNvSpPr txBox="1"/>
          <p:nvPr/>
        </p:nvSpPr>
        <p:spPr>
          <a:xfrm>
            <a:off x="4063766" y="9227230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1" i="0" noProof="1">
                <a:solidFill>
                  <a:srgbClr val="FFFFFF"/>
                </a:solidFill>
                <a:latin typeface="Calibri"/>
              </a:rPr>
              <a:t>Arias-Velandia
et al.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243342" y="9227230"/>
            <a:ext cx="1188720" cy="384048"/>
          </a:xfrm>
          <a:prstGeom prst="rect">
            <a:avLst/>
          </a:prstGeom>
          <a:solidFill>
            <a:srgbClr val="1A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7" name="TextBox 106"/>
          <p:cNvSpPr txBox="1"/>
          <p:nvPr/>
        </p:nvSpPr>
        <p:spPr>
          <a:xfrm>
            <a:off x="5270774" y="9227230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1" i="0" noProof="1">
                <a:solidFill>
                  <a:srgbClr val="FFFFFF"/>
                </a:solidFill>
                <a:latin typeface="Calibri"/>
              </a:rPr>
              <a:t>Observatorio
Movilidad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1030" y="9620422"/>
            <a:ext cx="1143000" cy="38404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09" name="TextBox 108"/>
          <p:cNvSpPr txBox="1"/>
          <p:nvPr/>
        </p:nvSpPr>
        <p:spPr>
          <a:xfrm>
            <a:off x="488462" y="9620422"/>
            <a:ext cx="108813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0" i="0" noProof="1">
                <a:solidFill>
                  <a:srgbClr val="333333"/>
                </a:solidFill>
                <a:latin typeface="Calibri"/>
              </a:rPr>
              <a:t>Hallazgo
Clave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622318" y="9620422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11" name="TextBox 110"/>
          <p:cNvSpPr txBox="1"/>
          <p:nvPr/>
        </p:nvSpPr>
        <p:spPr>
          <a:xfrm>
            <a:off x="1649750" y="9620422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0" i="0" noProof="1">
                <a:solidFill>
                  <a:srgbClr val="333333"/>
                </a:solidFill>
                <a:latin typeface="Calibri"/>
              </a:rPr>
              <a:t>Meta PDI:
Reducir 2.5%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829326" y="9620422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13" name="TextBox 112"/>
          <p:cNvSpPr txBox="1"/>
          <p:nvPr/>
        </p:nvSpPr>
        <p:spPr>
          <a:xfrm>
            <a:off x="2856758" y="9620422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0" i="0" noProof="1">
                <a:solidFill>
                  <a:srgbClr val="333333"/>
                </a:solidFill>
                <a:latin typeface="Calibri"/>
              </a:rPr>
              <a:t>Basados en
"fotografías"
iniciales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036334" y="9620422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15" name="TextBox 114"/>
          <p:cNvSpPr txBox="1"/>
          <p:nvPr/>
        </p:nvSpPr>
        <p:spPr>
          <a:xfrm>
            <a:off x="4063766" y="9620422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0" i="0" noProof="1">
                <a:solidFill>
                  <a:srgbClr val="333333"/>
                </a:solidFill>
                <a:latin typeface="Calibri"/>
              </a:rPr>
              <a:t>Carga laboral
como predictor
#1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43342" y="9620422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17" name="TextBox 116"/>
          <p:cNvSpPr txBox="1"/>
          <p:nvPr/>
        </p:nvSpPr>
        <p:spPr>
          <a:xfrm>
            <a:off x="5270774" y="9620422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0" i="0" noProof="1">
                <a:solidFill>
                  <a:srgbClr val="333333"/>
                </a:solidFill>
                <a:latin typeface="Calibri"/>
              </a:rPr>
              <a:t>Niveles críticos
de insatisfacción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1030" y="10013614"/>
            <a:ext cx="1143000" cy="4572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19" name="TextBox 118"/>
          <p:cNvSpPr txBox="1"/>
          <p:nvPr/>
        </p:nvSpPr>
        <p:spPr>
          <a:xfrm>
            <a:off x="488462" y="10013614"/>
            <a:ext cx="1088136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0" i="0" noProof="1">
                <a:solidFill>
                  <a:srgbClr val="333333"/>
                </a:solidFill>
                <a:latin typeface="Calibri"/>
              </a:rPr>
              <a:t>Implicación
para el
Proyecto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22318" y="10013614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21" name="TextBox 120"/>
          <p:cNvSpPr txBox="1"/>
          <p:nvPr/>
        </p:nvSpPr>
        <p:spPr>
          <a:xfrm>
            <a:off x="1649750" y="10013614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0" i="0" noProof="1">
                <a:solidFill>
                  <a:srgbClr val="333333"/>
                </a:solidFill>
                <a:latin typeface="Calibri"/>
              </a:rPr>
              <a:t>Define el marco
estratégico y
meta de precisión.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829326" y="10013614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23" name="TextBox 122"/>
          <p:cNvSpPr txBox="1"/>
          <p:nvPr/>
        </p:nvSpPr>
        <p:spPr>
          <a:xfrm>
            <a:off x="2856758" y="10013614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0" i="0" noProof="1">
                <a:solidFill>
                  <a:srgbClr val="333333"/>
                </a:solidFill>
                <a:latin typeface="Calibri"/>
              </a:rPr>
              <a:t>Justifica la
necesidad de
procesar flujos.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036334" y="10013614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25" name="TextBox 124"/>
          <p:cNvSpPr txBox="1"/>
          <p:nvPr/>
        </p:nvSpPr>
        <p:spPr>
          <a:xfrm>
            <a:off x="4063766" y="10013614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0" i="0" noProof="1">
                <a:solidFill>
                  <a:srgbClr val="333333"/>
                </a:solidFill>
                <a:latin typeface="Calibri"/>
              </a:rPr>
              <a:t>Sustenta la
Elasticidad
Laboral como
sensor crítico.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243342" y="10013614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27" name="TextBox 126"/>
          <p:cNvSpPr txBox="1"/>
          <p:nvPr/>
        </p:nvSpPr>
        <p:spPr>
          <a:xfrm>
            <a:off x="5270774" y="10013614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600" b="0" i="0" noProof="1">
                <a:solidFill>
                  <a:srgbClr val="333333"/>
                </a:solidFill>
                <a:latin typeface="Calibri"/>
              </a:rPr>
              <a:t>Justifica el
sensor de fatiga
por desgaste
externo.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11859768"/>
            <a:ext cx="6858000" cy="329184"/>
          </a:xfrm>
          <a:prstGeom prst="rect">
            <a:avLst/>
          </a:prstGeom>
          <a:solidFill>
            <a:srgbClr val="1A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29" name="TextBox 128"/>
          <p:cNvSpPr txBox="1"/>
          <p:nvPr/>
        </p:nvSpPr>
        <p:spPr>
          <a:xfrm>
            <a:off x="91440" y="11859768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650" b="0" i="0" noProof="1">
                <a:solidFill>
                  <a:srgbClr val="FFFFFF"/>
                </a:solidFill>
                <a:latin typeface="Calibri"/>
              </a:rPr>
              <a:t>Jhon Alejandro Correal Martínez  |  Rafael Andrés Guzmán Rodríguez  |  Docente: Doris Constanza Alvarado Mariño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12080" y="11859768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s-ES_tradnl" sz="650" b="0" i="0" noProof="1">
                <a:solidFill>
                  <a:srgbClr val="52B788"/>
                </a:solidFill>
                <a:latin typeface="Calibri"/>
              </a:rPr>
              <a:t>Bogotá, Abril 2026</a:t>
            </a:r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0382CA56-C5F4-3A1B-AB7A-736367DE9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92" y="67281"/>
            <a:ext cx="820615" cy="819452"/>
          </a:xfrm>
          <a:prstGeom prst="rect">
            <a:avLst/>
          </a:prstGeom>
        </p:spPr>
      </p:pic>
      <p:pic>
        <p:nvPicPr>
          <p:cNvPr id="1028" name="Picture 4" descr="Diseño PNG Y SVG De Blanco De Tiro Con Arco Con Una Flecha Para Camisetas">
            <a:extLst>
              <a:ext uri="{FF2B5EF4-FFF2-40B4-BE49-F238E27FC236}">
                <a16:creationId xmlns:a16="http://schemas.microsoft.com/office/drawing/2014/main" id="{9C876722-804E-31D1-2CB3-56AABB39B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83" y="5066866"/>
            <a:ext cx="251992" cy="2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inámica digital interfaz dibujos animados imagen 48970826 PNG">
            <a:extLst>
              <a:ext uri="{FF2B5EF4-FFF2-40B4-BE49-F238E27FC236}">
                <a16:creationId xmlns:a16="http://schemas.microsoft.com/office/drawing/2014/main" id="{DCA64D14-8023-431F-DF0B-597421386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327" y="3771191"/>
            <a:ext cx="531936" cy="425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amino Senalador Ilustraciones – Descarga Gratis en SVG, PNG">
            <a:extLst>
              <a:ext uri="{FF2B5EF4-FFF2-40B4-BE49-F238E27FC236}">
                <a16:creationId xmlns:a16="http://schemas.microsoft.com/office/drawing/2014/main" id="{3C988105-85CE-282E-A047-8D2C0BCBB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963" y="3773653"/>
            <a:ext cx="407049" cy="40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l Icono Del Despertador Suena Fuerte Por La Mañana Para Despertarse De La  Cama PNG ,dibujos Reloj, Despertador, Icono Del Reloj PNG y Vector para  Descargar Gratis | Pngtree">
            <a:extLst>
              <a:ext uri="{FF2B5EF4-FFF2-40B4-BE49-F238E27FC236}">
                <a16:creationId xmlns:a16="http://schemas.microsoft.com/office/drawing/2014/main" id="{F3C6EED2-8620-9E30-FEA7-0FFEF5436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31" y="3706486"/>
            <a:ext cx="557559" cy="55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0ED8C96A-3319-3085-D0F8-8B29DC3D2E35}"/>
              </a:ext>
            </a:extLst>
          </p:cNvPr>
          <p:cNvSpPr txBox="1"/>
          <p:nvPr/>
        </p:nvSpPr>
        <p:spPr>
          <a:xfrm>
            <a:off x="531627" y="5073140"/>
            <a:ext cx="99946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800" b="1" i="0" noProof="1">
                <a:solidFill>
                  <a:srgbClr val="2D6A4F"/>
                </a:solidFill>
                <a:latin typeface="Calibri"/>
              </a:rPr>
              <a:t>Meta institucional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2D54852-0434-F5ED-8095-8CA3488D95FB}"/>
              </a:ext>
            </a:extLst>
          </p:cNvPr>
          <p:cNvSpPr/>
          <p:nvPr/>
        </p:nvSpPr>
        <p:spPr>
          <a:xfrm>
            <a:off x="2299715" y="7415783"/>
            <a:ext cx="4434840" cy="14538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4381DFE-8F0D-8D21-3608-4113192B9A6B}"/>
              </a:ext>
            </a:extLst>
          </p:cNvPr>
          <p:cNvSpPr/>
          <p:nvPr/>
        </p:nvSpPr>
        <p:spPr>
          <a:xfrm>
            <a:off x="2299715" y="7432960"/>
            <a:ext cx="443484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D95299E-2EBA-DD21-355B-AB7705044945}"/>
              </a:ext>
            </a:extLst>
          </p:cNvPr>
          <p:cNvGrpSpPr/>
          <p:nvPr/>
        </p:nvGrpSpPr>
        <p:grpSpPr>
          <a:xfrm>
            <a:off x="5431535" y="7786809"/>
            <a:ext cx="1207007" cy="347472"/>
            <a:chOff x="4581144" y="9308592"/>
            <a:chExt cx="1207007" cy="347472"/>
          </a:xfrm>
        </p:grpSpPr>
        <p:sp>
          <p:nvSpPr>
            <p:cNvPr id="94" name="Rectangle 93"/>
            <p:cNvSpPr/>
            <p:nvPr/>
          </p:nvSpPr>
          <p:spPr>
            <a:xfrm>
              <a:off x="4581144" y="9308592"/>
              <a:ext cx="1207007" cy="347472"/>
            </a:xfrm>
            <a:prstGeom prst="rect">
              <a:avLst/>
            </a:prstGeom>
            <a:solidFill>
              <a:srgbClr val="8B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743796" y="9342274"/>
              <a:ext cx="9254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s-ES_tradnl" sz="700" b="1" i="0" noProof="1">
                  <a:solidFill>
                    <a:srgbClr val="FFFFFF"/>
                  </a:solidFill>
                  <a:latin typeface="Calibri"/>
                </a:rPr>
                <a:t>Superación de Modelos Genéricos</a:t>
              </a: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810B343C-FB33-61AB-7BB3-5DFC47AFEC75}"/>
              </a:ext>
            </a:extLst>
          </p:cNvPr>
          <p:cNvSpPr txBox="1"/>
          <p:nvPr/>
        </p:nvSpPr>
        <p:spPr>
          <a:xfrm>
            <a:off x="2409995" y="7464829"/>
            <a:ext cx="4343400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1000" b="1" noProof="1">
                <a:solidFill>
                  <a:srgbClr val="FFFFFF"/>
                </a:solidFill>
              </a:rPr>
              <a:t>Discusión (Vigilancia Tecnológica)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7819" y="8174179"/>
            <a:ext cx="1234440" cy="5924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Los modelos actuales (Adviser V.11, RUSIA) no conte</a:t>
            </a:r>
            <a:r>
              <a:rPr lang="es-ES_tradnl" sz="650" noProof="1">
                <a:solidFill>
                  <a:srgbClr val="333333"/>
                </a:solidFill>
                <a:latin typeface="Calibri"/>
              </a:rPr>
              <a:t>mplan todas las variables dinámicas ya que se basa </a:t>
            </a:r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en fotografías estáticas.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EA1D2C6-0D73-957D-71ED-08D9DB17A2A3}"/>
              </a:ext>
            </a:extLst>
          </p:cNvPr>
          <p:cNvGrpSpPr/>
          <p:nvPr/>
        </p:nvGrpSpPr>
        <p:grpSpPr>
          <a:xfrm>
            <a:off x="3874837" y="7786809"/>
            <a:ext cx="1200082" cy="347472"/>
            <a:chOff x="2404872" y="9308592"/>
            <a:chExt cx="1200082" cy="347472"/>
          </a:xfrm>
        </p:grpSpPr>
        <p:sp>
          <p:nvSpPr>
            <p:cNvPr id="91" name="Rectangle 90"/>
            <p:cNvSpPr/>
            <p:nvPr/>
          </p:nvSpPr>
          <p:spPr>
            <a:xfrm>
              <a:off x="2404872" y="9308592"/>
              <a:ext cx="1200082" cy="347472"/>
            </a:xfrm>
            <a:prstGeom prst="rect">
              <a:avLst/>
            </a:prstGeom>
            <a:solidFill>
              <a:srgbClr val="C885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408192" y="9382300"/>
              <a:ext cx="1196762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s-ES_tradnl" sz="700" b="1" i="0" noProof="1">
                  <a:solidFill>
                    <a:srgbClr val="FFFFFF"/>
                  </a:solidFill>
                  <a:latin typeface="Calibri"/>
                </a:rPr>
                <a:t>Incrementodel 44%</a:t>
              </a:r>
            </a:p>
          </p:txBody>
        </p:sp>
      </p:grpSp>
      <p:sp>
        <p:nvSpPr>
          <p:cNvPr id="93" name="TextBox 92"/>
          <p:cNvSpPr txBox="1"/>
          <p:nvPr/>
        </p:nvSpPr>
        <p:spPr>
          <a:xfrm>
            <a:off x="3844497" y="8189707"/>
            <a:ext cx="1317845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Según referentes (Bernal et al., 2024), la integración de factores exógenos aumenta la precisión predictiva.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A24C067-DEF5-1B7B-795C-2A42C23094C4}"/>
              </a:ext>
            </a:extLst>
          </p:cNvPr>
          <p:cNvGrpSpPr/>
          <p:nvPr/>
        </p:nvGrpSpPr>
        <p:grpSpPr>
          <a:xfrm>
            <a:off x="2354074" y="7786809"/>
            <a:ext cx="1259607" cy="347472"/>
            <a:chOff x="144213" y="9308592"/>
            <a:chExt cx="1529416" cy="347472"/>
          </a:xfrm>
        </p:grpSpPr>
        <p:sp>
          <p:nvSpPr>
            <p:cNvPr id="88" name="Rectangle 87"/>
            <p:cNvSpPr/>
            <p:nvPr/>
          </p:nvSpPr>
          <p:spPr>
            <a:xfrm>
              <a:off x="228600" y="9308592"/>
              <a:ext cx="1445029" cy="347472"/>
            </a:xfrm>
            <a:prstGeom prst="rect">
              <a:avLst/>
            </a:prstGeom>
            <a:solidFill>
              <a:srgbClr val="2D6A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44213" y="9382300"/>
              <a:ext cx="147943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s-ES_tradnl" sz="700" b="1" i="0" noProof="1">
                  <a:solidFill>
                    <a:srgbClr val="FFFFFF"/>
                  </a:solidFill>
                  <a:latin typeface="Calibri"/>
                </a:rPr>
                <a:t>El Conflicto Trabajo-Estudio</a:t>
              </a: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2415262" y="8187760"/>
            <a:ext cx="1246909" cy="5924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650" b="0" i="0" noProof="1">
                <a:solidFill>
                  <a:srgbClr val="333333"/>
                </a:solidFill>
                <a:latin typeface="Calibri"/>
              </a:rPr>
              <a:t>La vigilancia tecnológica confirma que la carga laboral es el predictor número 1 de abandono, no integrado en monitoreos continuos.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9CD5020-8999-9753-5447-2A62F31C31A1}"/>
              </a:ext>
            </a:extLst>
          </p:cNvPr>
          <p:cNvGrpSpPr/>
          <p:nvPr/>
        </p:nvGrpSpPr>
        <p:grpSpPr>
          <a:xfrm>
            <a:off x="139820" y="10607793"/>
            <a:ext cx="3243460" cy="1210295"/>
            <a:chOff x="137160" y="8961120"/>
            <a:chExt cx="6583680" cy="1568903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5135A94-876D-11E1-7498-0517267F645C}"/>
                </a:ext>
              </a:extLst>
            </p:cNvPr>
            <p:cNvSpPr>
              <a:spLocks/>
            </p:cNvSpPr>
            <p:nvPr/>
          </p:nvSpPr>
          <p:spPr>
            <a:xfrm>
              <a:off x="137160" y="8961120"/>
              <a:ext cx="6583680" cy="15689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E50CAE0-FA7D-1261-28C4-A23DDDA7956A}"/>
                </a:ext>
              </a:extLst>
            </p:cNvPr>
            <p:cNvSpPr/>
            <p:nvPr/>
          </p:nvSpPr>
          <p:spPr>
            <a:xfrm>
              <a:off x="137160" y="8961120"/>
              <a:ext cx="6583680" cy="211542"/>
            </a:xfrm>
            <a:prstGeom prst="rect">
              <a:avLst/>
            </a:prstGeom>
            <a:solidFill>
              <a:srgbClr val="1A4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71780C43-97E9-7978-B3E3-048CC9C1C9E4}"/>
              </a:ext>
            </a:extLst>
          </p:cNvPr>
          <p:cNvSpPr txBox="1"/>
          <p:nvPr/>
        </p:nvSpPr>
        <p:spPr>
          <a:xfrm>
            <a:off x="1109811" y="10554644"/>
            <a:ext cx="962591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1100" b="1" i="0" noProof="1">
                <a:solidFill>
                  <a:srgbClr val="FFFFFF"/>
                </a:solidFill>
                <a:latin typeface="Calibri"/>
              </a:rPr>
              <a:t>Referencias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7478CFF-2739-1083-FE3F-4794DE51DD84}"/>
              </a:ext>
            </a:extLst>
          </p:cNvPr>
          <p:cNvSpPr txBox="1"/>
          <p:nvPr/>
        </p:nvSpPr>
        <p:spPr>
          <a:xfrm>
            <a:off x="82727" y="10754502"/>
            <a:ext cx="3309266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ES_tradnl" sz="500" b="0" i="0" noProof="1">
                <a:solidFill>
                  <a:srgbClr val="333333"/>
                </a:solidFill>
                <a:latin typeface="Calibri"/>
              </a:rPr>
              <a:t>- Arias-Velandia, N., Vergel-Ortega, M., &amp; Huertas-Díaz, O. (2018). Aprendizaje, deserción y factores asociados en instituciones de educación superior de formación técnica y tecnológica (TyT) en Colombia.</a:t>
            </a:r>
          </a:p>
          <a:p>
            <a:pPr algn="l"/>
            <a:r>
              <a:rPr lang="es-ES_tradnl" sz="500" b="0" i="0" noProof="1">
                <a:solidFill>
                  <a:srgbClr val="333333"/>
                </a:solidFill>
                <a:latin typeface="Calibri"/>
              </a:rPr>
              <a:t>- Bernal, J., et al. (2024). Machine Learning multifactorial para la retención estudiantil: Integración de variables exógenas (inf. téc.). Documento Técnico de Investigación. </a:t>
            </a:r>
          </a:p>
          <a:p>
            <a:pPr algn="l"/>
            <a:r>
              <a:rPr lang="es-ES_tradnl" sz="500" b="0" i="0" noProof="1">
                <a:solidFill>
                  <a:srgbClr val="333333"/>
                </a:solidFill>
                <a:latin typeface="Calibri"/>
              </a:rPr>
              <a:t>- Congreso de la República de Colombia. (2012). Ley 1581 de 2012: Por la cual se dictan disposiciones generales para la protección de datos personales [Diario Oficial No. 48.587]. </a:t>
            </a:r>
          </a:p>
          <a:p>
            <a:pPr algn="l"/>
            <a:r>
              <a:rPr lang="es-ES_tradnl" sz="500" b="0" i="0" noProof="1">
                <a:solidFill>
                  <a:srgbClr val="333333"/>
                </a:solidFill>
                <a:latin typeface="Calibri"/>
              </a:rPr>
              <a:t>- Ministerio de Educación Nacional. (2025). Estadísticas de deserción y permanencia en educación superior SPADIES 3.0. - - Observatorio de Movilidad de Bogotá. (2024). Tablero de Percepción Ciudadana de la Movilidad. Secretaría Distrital de Movilidad. </a:t>
            </a:r>
          </a:p>
          <a:p>
            <a:pPr algn="l"/>
            <a:r>
              <a:rPr lang="es-ES_tradnl" sz="500" b="0" i="0" noProof="1">
                <a:solidFill>
                  <a:srgbClr val="333333"/>
                </a:solidFill>
                <a:latin typeface="Calibri"/>
              </a:rPr>
              <a:t>- ETITC. (2025a). Informe de Caracterización Estudiantil 2025-1. Bienestar Universitario. </a:t>
            </a:r>
            <a:br>
              <a:rPr lang="es-ES_tradnl" sz="500" b="0" i="0" noProof="1">
                <a:solidFill>
                  <a:srgbClr val="333333"/>
                </a:solidFill>
                <a:latin typeface="Calibri"/>
              </a:rPr>
            </a:br>
            <a:r>
              <a:rPr lang="es-ES_tradnl" sz="500" b="0" i="0" noProof="1">
                <a:solidFill>
                  <a:srgbClr val="333333"/>
                </a:solidFill>
                <a:latin typeface="Calibri"/>
              </a:rPr>
              <a:t>- ETITC. (2025b). Plan de Desarrollo Institucional 2025-2032 (Resolución 216 de 2025). Escuela Tecnológica Instituto Técnico Central. 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D1D06DB-E64B-59B0-22A6-3D9EDE7BC122}"/>
              </a:ext>
            </a:extLst>
          </p:cNvPr>
          <p:cNvGrpSpPr/>
          <p:nvPr/>
        </p:nvGrpSpPr>
        <p:grpSpPr>
          <a:xfrm>
            <a:off x="3429000" y="10605048"/>
            <a:ext cx="3291840" cy="1213388"/>
            <a:chOff x="137160" y="8961120"/>
            <a:chExt cx="6583680" cy="1568903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6602801A-E701-BA23-972C-FE6D01CEC57C}"/>
                </a:ext>
              </a:extLst>
            </p:cNvPr>
            <p:cNvSpPr>
              <a:spLocks/>
            </p:cNvSpPr>
            <p:nvPr/>
          </p:nvSpPr>
          <p:spPr>
            <a:xfrm>
              <a:off x="137160" y="8961120"/>
              <a:ext cx="6583680" cy="15689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D90149C-6165-682C-A588-C17F8D08C32B}"/>
                </a:ext>
              </a:extLst>
            </p:cNvPr>
            <p:cNvSpPr/>
            <p:nvPr/>
          </p:nvSpPr>
          <p:spPr>
            <a:xfrm>
              <a:off x="137160" y="8961120"/>
              <a:ext cx="6583680" cy="211542"/>
            </a:xfrm>
            <a:prstGeom prst="rect">
              <a:avLst/>
            </a:prstGeom>
            <a:solidFill>
              <a:srgbClr val="1A4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1B4E6D85-AB8A-9641-F712-297A4F8FB2E6}"/>
              </a:ext>
            </a:extLst>
          </p:cNvPr>
          <p:cNvSpPr txBox="1"/>
          <p:nvPr/>
        </p:nvSpPr>
        <p:spPr>
          <a:xfrm>
            <a:off x="3429000" y="10802406"/>
            <a:ext cx="3246120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_tradnl" sz="600" noProof="1"/>
              <a:t>La integración de variables dinámicas no es solo una evolución técnica, es una respuesta a la equidad social. El proyecto permite ver al estudiante como un ser integral (trabajador/estudiante). La perspectiva futura es transitar de una </a:t>
            </a:r>
            <a:r>
              <a:rPr lang="es-ES_tradnl" sz="600" b="1" noProof="1"/>
              <a:t>"gestión forense"</a:t>
            </a:r>
            <a:r>
              <a:rPr lang="es-ES_tradnl" sz="600" noProof="1"/>
              <a:t> (analizar por qué se fue el alumno cuando ya desertó) a una </a:t>
            </a:r>
            <a:r>
              <a:rPr lang="es-ES_tradnl" sz="600" b="1" noProof="1"/>
              <a:t>"retención prospectiva"</a:t>
            </a:r>
            <a:r>
              <a:rPr lang="es-ES_tradnl" sz="600" noProof="1"/>
              <a:t> (actuar antes de que suceda) basada en la "huella digital" como sensor de compromiso. </a:t>
            </a:r>
            <a:endParaRPr lang="es-ES_tradnl" sz="100" b="0" i="0" noProof="1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4D8BF3-1A3D-F4AE-51E0-070C32F6D741}"/>
              </a:ext>
            </a:extLst>
          </p:cNvPr>
          <p:cNvSpPr txBox="1"/>
          <p:nvPr/>
        </p:nvSpPr>
        <p:spPr>
          <a:xfrm>
            <a:off x="4516451" y="10558547"/>
            <a:ext cx="962591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_tradnl" sz="1100" b="1" i="0" noProof="1">
                <a:solidFill>
                  <a:srgbClr val="FFFFFF"/>
                </a:solidFill>
                <a:latin typeface="Calibri"/>
              </a:rPr>
              <a:t>Discusión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0ACB81A6-A70D-6B4D-554B-7FAD39B10F56}"/>
              </a:ext>
            </a:extLst>
          </p:cNvPr>
          <p:cNvGrpSpPr/>
          <p:nvPr/>
        </p:nvGrpSpPr>
        <p:grpSpPr>
          <a:xfrm>
            <a:off x="4537712" y="6127357"/>
            <a:ext cx="1023619" cy="1135006"/>
            <a:chOff x="5624832" y="6124217"/>
            <a:chExt cx="1023619" cy="1135006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E1CB62E-963E-F491-49BA-5C67D00DAA2A}"/>
                </a:ext>
              </a:extLst>
            </p:cNvPr>
            <p:cNvSpPr/>
            <p:nvPr/>
          </p:nvSpPr>
          <p:spPr>
            <a:xfrm>
              <a:off x="5651500" y="6144768"/>
              <a:ext cx="996951" cy="201168"/>
            </a:xfrm>
            <a:prstGeom prst="rect">
              <a:avLst/>
            </a:prstGeom>
            <a:solidFill>
              <a:srgbClr val="66AB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C1C15D0D-81AE-CD0C-A665-ED1C83E392AA}"/>
                </a:ext>
              </a:extLst>
            </p:cNvPr>
            <p:cNvGrpSpPr/>
            <p:nvPr/>
          </p:nvGrpSpPr>
          <p:grpSpPr>
            <a:xfrm>
              <a:off x="5624832" y="6124217"/>
              <a:ext cx="1020199" cy="1135006"/>
              <a:chOff x="5830266" y="6124217"/>
              <a:chExt cx="824266" cy="1135006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6113EF65-9B43-FE88-A7DB-AAAD29D5D826}"/>
                  </a:ext>
                </a:extLst>
              </p:cNvPr>
              <p:cNvSpPr/>
              <p:nvPr/>
            </p:nvSpPr>
            <p:spPr>
              <a:xfrm>
                <a:off x="5851814" y="6342474"/>
                <a:ext cx="802718" cy="916749"/>
              </a:xfrm>
              <a:prstGeom prst="rect">
                <a:avLst/>
              </a:prstGeom>
              <a:solidFill>
                <a:srgbClr val="E8F5E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s-ES_tradnl" sz="600" noProof="1">
                    <a:solidFill>
                      <a:schemeClr val="tx1"/>
                    </a:solidFill>
                  </a:rPr>
                  <a:t>Generar índices dinámicos de Fatiga Urbana y Desvinculación Digital para obtener variables con alto valor predictivo.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AC7FEF5-4CD0-1B49-2EBB-3DD529C6E79E}"/>
                  </a:ext>
                </a:extLst>
              </p:cNvPr>
              <p:cNvSpPr txBox="1"/>
              <p:nvPr/>
            </p:nvSpPr>
            <p:spPr>
              <a:xfrm>
                <a:off x="5830266" y="6124217"/>
                <a:ext cx="806509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_tradnl" sz="500" b="1" i="0" noProof="1">
                    <a:solidFill>
                      <a:srgbClr val="FFFFFF"/>
                    </a:solidFill>
                    <a:latin typeface="Calibri"/>
                  </a:rPr>
                  <a:t>Fase </a:t>
                </a:r>
                <a:r>
                  <a:rPr lang="es-ES_tradnl" sz="500" b="1" noProof="1">
                    <a:solidFill>
                      <a:srgbClr val="FFFFFF"/>
                    </a:solidFill>
                    <a:latin typeface="Calibri"/>
                  </a:rPr>
                  <a:t>3</a:t>
                </a:r>
                <a:r>
                  <a:rPr lang="es-ES_tradnl" sz="500" b="1" i="0" noProof="1">
                    <a:solidFill>
                      <a:srgbClr val="FFFFFF"/>
                    </a:solidFill>
                    <a:latin typeface="Calibri"/>
                  </a:rPr>
                  <a:t> -  </a:t>
                </a:r>
                <a:r>
                  <a:rPr lang="es-ES_tradnl" sz="500" b="1" noProof="1">
                    <a:solidFill>
                      <a:srgbClr val="FFFFFF"/>
                    </a:solidFill>
                  </a:rPr>
                  <a:t>Ingeniería de
Características</a:t>
                </a:r>
              </a:p>
              <a:p>
                <a:pPr algn="ctr"/>
                <a:endParaRPr lang="es-ES_tradnl" sz="500" b="1" i="0" noProof="1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9784D9E-6049-CD39-C632-F124B7C3380A}"/>
              </a:ext>
            </a:extLst>
          </p:cNvPr>
          <p:cNvGrpSpPr/>
          <p:nvPr/>
        </p:nvGrpSpPr>
        <p:grpSpPr>
          <a:xfrm>
            <a:off x="3442968" y="6129757"/>
            <a:ext cx="1023622" cy="1135006"/>
            <a:chOff x="5624829" y="6124217"/>
            <a:chExt cx="1023622" cy="1135006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514BF1A8-6FEC-9977-B754-F703711C0BAB}"/>
                </a:ext>
              </a:extLst>
            </p:cNvPr>
            <p:cNvSpPr/>
            <p:nvPr/>
          </p:nvSpPr>
          <p:spPr>
            <a:xfrm>
              <a:off x="5651500" y="6144768"/>
              <a:ext cx="996951" cy="201168"/>
            </a:xfrm>
            <a:prstGeom prst="rect">
              <a:avLst/>
            </a:prstGeom>
            <a:solidFill>
              <a:srgbClr val="66AB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F7712546-072D-3FA0-A109-B51F6E88DDA5}"/>
                </a:ext>
              </a:extLst>
            </p:cNvPr>
            <p:cNvGrpSpPr/>
            <p:nvPr/>
          </p:nvGrpSpPr>
          <p:grpSpPr>
            <a:xfrm>
              <a:off x="5624829" y="6124217"/>
              <a:ext cx="1020201" cy="1135006"/>
              <a:chOff x="5830266" y="6124217"/>
              <a:chExt cx="824268" cy="1135006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13C6B05F-EC36-014F-1ADD-EFA46E657C9B}"/>
                  </a:ext>
                </a:extLst>
              </p:cNvPr>
              <p:cNvSpPr/>
              <p:nvPr/>
            </p:nvSpPr>
            <p:spPr>
              <a:xfrm>
                <a:off x="5851816" y="6342474"/>
                <a:ext cx="802718" cy="916749"/>
              </a:xfrm>
              <a:prstGeom prst="rect">
                <a:avLst/>
              </a:prstGeom>
              <a:solidFill>
                <a:srgbClr val="E8F5E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s-ES_tradnl" sz="600" noProof="1">
                    <a:solidFill>
                      <a:schemeClr val="tx1"/>
                    </a:solidFill>
                  </a:rPr>
                  <a:t>Consolidar el histórico académico de 10 semestres e integrar logs de actividad digital para capturar el comportamiento dinámico del estudiante.</a:t>
                </a:r>
                <a:endParaRPr lang="es-ES_tradnl" sz="600" noProof="1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95693EAC-270D-135E-9D75-41D7D76D1A6F}"/>
                  </a:ext>
                </a:extLst>
              </p:cNvPr>
              <p:cNvSpPr txBox="1"/>
              <p:nvPr/>
            </p:nvSpPr>
            <p:spPr>
              <a:xfrm>
                <a:off x="5830266" y="6124217"/>
                <a:ext cx="80650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_tradnl" sz="500" b="1" i="0" noProof="1">
                    <a:solidFill>
                      <a:srgbClr val="FFFFFF"/>
                    </a:solidFill>
                    <a:latin typeface="Calibri"/>
                  </a:rPr>
                  <a:t>Fase 2</a:t>
                </a:r>
                <a:r>
                  <a:rPr lang="es-ES_tradnl" sz="500" b="1" noProof="1">
                    <a:solidFill>
                      <a:srgbClr val="FFFFFF"/>
                    </a:solidFill>
                  </a:rPr>
                  <a:t> -  Ingesta de
Datos</a:t>
                </a:r>
              </a:p>
              <a:p>
                <a:pPr algn="ctr"/>
                <a:endParaRPr lang="es-ES_tradnl" sz="500" b="1" noProof="1">
                  <a:solidFill>
                    <a:srgbClr val="FFFFFF"/>
                  </a:solidFill>
                </a:endParaRPr>
              </a:p>
              <a:p>
                <a:pPr algn="ctr"/>
                <a:endParaRPr lang="es-ES_tradnl" sz="500" b="1" i="0" noProof="1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D98C217-DC08-9881-F437-AD147E32E4A8}"/>
              </a:ext>
            </a:extLst>
          </p:cNvPr>
          <p:cNvGrpSpPr/>
          <p:nvPr/>
        </p:nvGrpSpPr>
        <p:grpSpPr>
          <a:xfrm>
            <a:off x="2361968" y="6127090"/>
            <a:ext cx="1023619" cy="1135006"/>
            <a:chOff x="5624832" y="6124217"/>
            <a:chExt cx="1023619" cy="1135006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884D759E-56C8-A157-4702-947D865A553F}"/>
                </a:ext>
              </a:extLst>
            </p:cNvPr>
            <p:cNvSpPr/>
            <p:nvPr/>
          </p:nvSpPr>
          <p:spPr>
            <a:xfrm>
              <a:off x="5651500" y="6144768"/>
              <a:ext cx="996951" cy="201168"/>
            </a:xfrm>
            <a:prstGeom prst="rect">
              <a:avLst/>
            </a:prstGeom>
            <a:solidFill>
              <a:srgbClr val="66AB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1FD60112-0074-14E3-35FD-0F1CAC9D42CC}"/>
                </a:ext>
              </a:extLst>
            </p:cNvPr>
            <p:cNvGrpSpPr/>
            <p:nvPr/>
          </p:nvGrpSpPr>
          <p:grpSpPr>
            <a:xfrm>
              <a:off x="5624832" y="6124217"/>
              <a:ext cx="1020199" cy="1135006"/>
              <a:chOff x="5830266" y="6124217"/>
              <a:chExt cx="824266" cy="1135006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C4F093E7-58AD-4BA1-897F-4D0230122E25}"/>
                  </a:ext>
                </a:extLst>
              </p:cNvPr>
              <p:cNvSpPr/>
              <p:nvPr/>
            </p:nvSpPr>
            <p:spPr>
              <a:xfrm>
                <a:off x="5851814" y="6342474"/>
                <a:ext cx="802718" cy="916749"/>
              </a:xfrm>
              <a:prstGeom prst="rect">
                <a:avLst/>
              </a:prstGeom>
              <a:solidFill>
                <a:srgbClr val="E8F5E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700" noProof="1">
                    <a:solidFill>
                      <a:schemeClr val="tx1"/>
                    </a:solidFill>
                  </a:rPr>
                  <a:t>Definir las estructuras de datos y establecer protocolos de privacidad y tratamiento de información bajo la Ley 1581 de 2012.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4BF8ED3A-1CC5-E75D-9B9F-465F35102FD5}"/>
                  </a:ext>
                </a:extLst>
              </p:cNvPr>
              <p:cNvSpPr txBox="1"/>
              <p:nvPr/>
            </p:nvSpPr>
            <p:spPr>
              <a:xfrm>
                <a:off x="5830266" y="6124217"/>
                <a:ext cx="806509" cy="477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_tradnl" sz="500" b="1" i="0" noProof="1">
                    <a:solidFill>
                      <a:srgbClr val="FFFFFF"/>
                    </a:solidFill>
                    <a:latin typeface="Calibri"/>
                  </a:rPr>
                  <a:t>Fase </a:t>
                </a:r>
                <a:r>
                  <a:rPr lang="es-ES_tradnl" sz="500" b="1" noProof="1">
                    <a:solidFill>
                      <a:srgbClr val="FFFFFF"/>
                    </a:solidFill>
                    <a:latin typeface="Calibri"/>
                  </a:rPr>
                  <a:t>1</a:t>
                </a:r>
                <a:r>
                  <a:rPr lang="es-ES_tradnl" sz="500" b="1" noProof="1">
                    <a:solidFill>
                      <a:srgbClr val="FFFFFF"/>
                    </a:solidFill>
                  </a:rPr>
                  <a:t> -  Gestión
Institucional</a:t>
                </a:r>
              </a:p>
              <a:p>
                <a:pPr algn="ctr"/>
                <a:endParaRPr lang="es-ES_tradnl" sz="500" b="1" noProof="1">
                  <a:solidFill>
                    <a:srgbClr val="FFFFFF"/>
                  </a:solidFill>
                </a:endParaRPr>
              </a:p>
              <a:p>
                <a:pPr algn="ctr"/>
                <a:endParaRPr lang="es-ES_tradnl" sz="500" b="1" noProof="1">
                  <a:solidFill>
                    <a:srgbClr val="FFFFFF"/>
                  </a:solidFill>
                </a:endParaRPr>
              </a:p>
              <a:p>
                <a:pPr algn="ctr"/>
                <a:endParaRPr lang="es-ES_tradnl" sz="500" b="1" i="0" noProof="1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957</Words>
  <Application>Microsoft Macintosh PowerPoint</Application>
  <PresentationFormat>Custom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JHON ALEJANDRO CORREAL MARTINEZ</cp:lastModifiedBy>
  <cp:revision>5</cp:revision>
  <dcterms:created xsi:type="dcterms:W3CDTF">2013-01-27T09:14:16Z</dcterms:created>
  <dcterms:modified xsi:type="dcterms:W3CDTF">2026-05-13T23:54:27Z</dcterms:modified>
  <cp:category/>
</cp:coreProperties>
</file>