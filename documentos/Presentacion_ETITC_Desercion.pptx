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p:restoredTop sz="94678"/>
  </p:normalViewPr>
  <p:slideViewPr>
    <p:cSldViewPr snapToGrid="0" snapToObjects="1">
      <p:cViewPr>
        <p:scale>
          <a:sx n="173" d="100"/>
          <a:sy n="173" d="100"/>
        </p:scale>
        <p:origin x="-88" y="-5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0"/>
            <a:ext cx="12188952" cy="91440"/>
          </a:xfrm>
          <a:prstGeom prst="rect">
            <a:avLst/>
          </a:prstGeom>
          <a:solidFill>
            <a:srgbClr val="94C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92608"/>
            <a:ext cx="7315200" cy="365760"/>
          </a:xfrm>
          <a:prstGeom prst="rect">
            <a:avLst/>
          </a:prstGeom>
          <a:noFill/>
        </p:spPr>
        <p:txBody>
          <a:bodyPr wrap="square">
            <a:spAutoFit/>
          </a:bodyPr>
          <a:lstStyle/>
          <a:p>
            <a:pPr algn="l"/>
            <a:r>
              <a:rPr sz="1100" b="1">
                <a:solidFill>
                  <a:srgbClr val="94C121"/>
                </a:solidFill>
                <a:latin typeface="Century Gothic"/>
              </a:rPr>
              <a:t>ESCUELA TECNOLÓGICA INSTITUTO TÉCNICO CENTRAL</a:t>
            </a:r>
          </a:p>
        </p:txBody>
      </p:sp>
      <p:sp>
        <p:nvSpPr>
          <p:cNvPr id="5" name="TextBox 4"/>
          <p:cNvSpPr txBox="1"/>
          <p:nvPr/>
        </p:nvSpPr>
        <p:spPr>
          <a:xfrm>
            <a:off x="365760" y="621792"/>
            <a:ext cx="7315200" cy="274320"/>
          </a:xfrm>
          <a:prstGeom prst="rect">
            <a:avLst/>
          </a:prstGeom>
          <a:noFill/>
        </p:spPr>
        <p:txBody>
          <a:bodyPr wrap="square">
            <a:spAutoFit/>
          </a:bodyPr>
          <a:lstStyle/>
          <a:p>
            <a:pPr algn="l"/>
            <a:r>
              <a:rPr sz="1000" b="0">
                <a:solidFill>
                  <a:srgbClr val="FFFFFF"/>
                </a:solidFill>
                <a:latin typeface="Century Gothic"/>
              </a:rPr>
              <a:t>Facultad de Ingeniería de Sistemas  ·  PI-II</a:t>
            </a:r>
          </a:p>
        </p:txBody>
      </p:sp>
      <p:sp>
        <p:nvSpPr>
          <p:cNvPr id="6" name="TextBox 5"/>
          <p:cNvSpPr txBox="1"/>
          <p:nvPr/>
        </p:nvSpPr>
        <p:spPr>
          <a:xfrm>
            <a:off x="365760" y="1234440"/>
            <a:ext cx="11430000" cy="1005840"/>
          </a:xfrm>
          <a:prstGeom prst="rect">
            <a:avLst/>
          </a:prstGeom>
          <a:noFill/>
        </p:spPr>
        <p:txBody>
          <a:bodyPr wrap="square">
            <a:spAutoFit/>
          </a:bodyPr>
          <a:lstStyle/>
          <a:p>
            <a:pPr algn="l"/>
            <a:r>
              <a:rPr sz="3600" b="1">
                <a:solidFill>
                  <a:srgbClr val="FFFFFF"/>
                </a:solidFill>
                <a:latin typeface="Century Gothic"/>
              </a:rPr>
              <a:t>Sistema de Analítica Predictiva
para la Detección Temprana de Deserción</a:t>
            </a:r>
          </a:p>
        </p:txBody>
      </p:sp>
      <p:sp>
        <p:nvSpPr>
          <p:cNvPr id="7" name="TextBox 6"/>
          <p:cNvSpPr txBox="1"/>
          <p:nvPr/>
        </p:nvSpPr>
        <p:spPr>
          <a:xfrm>
            <a:off x="365760" y="2359152"/>
            <a:ext cx="11430000" cy="457200"/>
          </a:xfrm>
          <a:prstGeom prst="rect">
            <a:avLst/>
          </a:prstGeom>
          <a:noFill/>
        </p:spPr>
        <p:txBody>
          <a:bodyPr wrap="square">
            <a:spAutoFit/>
          </a:bodyPr>
          <a:lstStyle/>
          <a:p>
            <a:pPr algn="l"/>
            <a:r>
              <a:rPr sz="1800" b="0">
                <a:solidFill>
                  <a:srgbClr val="94C121"/>
                </a:solidFill>
                <a:latin typeface="Century Gothic"/>
              </a:rPr>
              <a:t>Caso: Jornada Nocturna — ETITC Sede Centro · Bogotá</a:t>
            </a:r>
          </a:p>
        </p:txBody>
      </p:sp>
      <p:sp>
        <p:nvSpPr>
          <p:cNvPr id="8" name="Rectangle 7"/>
          <p:cNvSpPr/>
          <p:nvPr/>
        </p:nvSpPr>
        <p:spPr>
          <a:xfrm>
            <a:off x="365760" y="2907792"/>
            <a:ext cx="3017520" cy="347472"/>
          </a:xfrm>
          <a:prstGeom prst="rect">
            <a:avLst/>
          </a:prstGeom>
          <a:solidFill>
            <a:srgbClr val="DFD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488" y="2944368"/>
            <a:ext cx="2816352" cy="274320"/>
          </a:xfrm>
          <a:prstGeom prst="rect">
            <a:avLst/>
          </a:prstGeom>
          <a:noFill/>
        </p:spPr>
        <p:txBody>
          <a:bodyPr wrap="square">
            <a:spAutoFit/>
          </a:bodyPr>
          <a:lstStyle/>
          <a:p>
            <a:pPr algn="l"/>
            <a:r>
              <a:rPr sz="1100" b="1">
                <a:solidFill>
                  <a:srgbClr val="000000"/>
                </a:solidFill>
                <a:latin typeface="Century Gothic"/>
              </a:rPr>
              <a:t>Proyecto de Investigación — PI-II</a:t>
            </a:r>
          </a:p>
        </p:txBody>
      </p:sp>
      <p:sp>
        <p:nvSpPr>
          <p:cNvPr id="10" name="TextBox 9"/>
          <p:cNvSpPr txBox="1"/>
          <p:nvPr/>
        </p:nvSpPr>
        <p:spPr>
          <a:xfrm>
            <a:off x="365760" y="3456432"/>
            <a:ext cx="10972800" cy="320040"/>
          </a:xfrm>
          <a:prstGeom prst="rect">
            <a:avLst/>
          </a:prstGeom>
          <a:noFill/>
        </p:spPr>
        <p:txBody>
          <a:bodyPr wrap="square">
            <a:spAutoFit/>
          </a:bodyPr>
          <a:lstStyle/>
          <a:p>
            <a:pPr algn="l"/>
            <a:r>
              <a:rPr sz="1300" b="0">
                <a:solidFill>
                  <a:srgbClr val="FFFFFF"/>
                </a:solidFill>
                <a:latin typeface="Century Gothic"/>
              </a:rPr>
              <a:t>Jhon Alejandro Correal Martínez  ·  Rafael Andrés Guzmán Rodríguez</a:t>
            </a:r>
          </a:p>
        </p:txBody>
      </p:sp>
      <p:sp>
        <p:nvSpPr>
          <p:cNvPr id="11" name="TextBox 10"/>
          <p:cNvSpPr txBox="1"/>
          <p:nvPr/>
        </p:nvSpPr>
        <p:spPr>
          <a:xfrm>
            <a:off x="365760" y="3776472"/>
            <a:ext cx="10972800" cy="274320"/>
          </a:xfrm>
          <a:prstGeom prst="rect">
            <a:avLst/>
          </a:prstGeom>
          <a:noFill/>
        </p:spPr>
        <p:txBody>
          <a:bodyPr wrap="square">
            <a:spAutoFit/>
          </a:bodyPr>
          <a:lstStyle/>
          <a:p>
            <a:pPr algn="l"/>
            <a:r>
              <a:rPr sz="1200" b="0">
                <a:solidFill>
                  <a:srgbClr val="B4B3B6"/>
                </a:solidFill>
                <a:latin typeface="Century Gothic"/>
              </a:rPr>
              <a:t>Docente: Doris Constanza Alvarado Mariño</a:t>
            </a:r>
          </a:p>
        </p:txBody>
      </p:sp>
      <p:sp>
        <p:nvSpPr>
          <p:cNvPr id="12" name="TextBox 11"/>
          <p:cNvSpPr txBox="1"/>
          <p:nvPr/>
        </p:nvSpPr>
        <p:spPr>
          <a:xfrm>
            <a:off x="365760" y="5559552"/>
            <a:ext cx="3657600" cy="320040"/>
          </a:xfrm>
          <a:prstGeom prst="rect">
            <a:avLst/>
          </a:prstGeom>
          <a:noFill/>
        </p:spPr>
        <p:txBody>
          <a:bodyPr wrap="square">
            <a:spAutoFit/>
          </a:bodyPr>
          <a:lstStyle/>
          <a:p>
            <a:pPr algn="l"/>
            <a:r>
              <a:rPr sz="1300" b="0">
                <a:solidFill>
                  <a:srgbClr val="B4B3B6"/>
                </a:solidFill>
                <a:latin typeface="Century Gothic"/>
              </a:rPr>
              <a:t>Mayo 2026</a:t>
            </a:r>
          </a:p>
        </p:txBody>
      </p:sp>
      <p:sp>
        <p:nvSpPr>
          <p:cNvPr id="13" name="Rectangle 12"/>
          <p:cNvSpPr/>
          <p:nvPr/>
        </p:nvSpPr>
        <p:spPr>
          <a:xfrm>
            <a:off x="9601200" y="5468112"/>
            <a:ext cx="2377440" cy="365760"/>
          </a:xfrm>
          <a:prstGeom prst="rect">
            <a:avLst/>
          </a:prstGeom>
          <a:solidFill>
            <a:srgbClr val="4DA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92640" y="5495544"/>
            <a:ext cx="2194560" cy="292608"/>
          </a:xfrm>
          <a:prstGeom prst="rect">
            <a:avLst/>
          </a:prstGeom>
          <a:noFill/>
        </p:spPr>
        <p:txBody>
          <a:bodyPr wrap="square">
            <a:spAutoFit/>
          </a:bodyPr>
          <a:lstStyle/>
          <a:p>
            <a:pPr algn="l"/>
            <a:r>
              <a:rPr sz="1100" b="1">
                <a:solidFill>
                  <a:srgbClr val="FFFFFF"/>
                </a:solidFill>
                <a:latin typeface="Century Gothic"/>
              </a:rPr>
              <a:t>TRL-3  Prototipo Validado</a:t>
            </a:r>
          </a:p>
        </p:txBody>
      </p:sp>
      <p:sp>
        <p:nvSpPr>
          <p:cNvPr id="15" name="Rectangle 14"/>
          <p:cNvSpPr/>
          <p:nvPr/>
        </p:nvSpPr>
        <p:spPr>
          <a:xfrm>
            <a:off x="0" y="6565392"/>
            <a:ext cx="12188952" cy="292608"/>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82880" y="6574536"/>
            <a:ext cx="11795760" cy="274320"/>
          </a:xfrm>
          <a:prstGeom prst="rect">
            <a:avLst/>
          </a:prstGeom>
          <a:noFill/>
        </p:spPr>
        <p:txBody>
          <a:bodyPr wrap="square">
            <a:spAutoFit/>
          </a:bodyPr>
          <a:lstStyle/>
          <a:p>
            <a:pPr algn="l"/>
            <a:r>
              <a:rPr sz="900" b="0">
                <a:solidFill>
                  <a:srgbClr val="FFFFFF"/>
                </a:solidFill>
                <a:latin typeface="Century Gothic"/>
              </a:rPr>
              <a:t>Jhon A. Correal M.  ·  Rafael A. Guzmán R.  ·  Docente: D. C. Alvarado M.  ·  ETITC  ·  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887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0972800" cy="621792"/>
          </a:xfrm>
          <a:prstGeom prst="rect">
            <a:avLst/>
          </a:prstGeom>
          <a:noFill/>
        </p:spPr>
        <p:txBody>
          <a:bodyPr wrap="square">
            <a:spAutoFit/>
          </a:bodyPr>
          <a:lstStyle/>
          <a:p>
            <a:pPr algn="l"/>
            <a:r>
              <a:rPr sz="2800" b="1">
                <a:solidFill>
                  <a:srgbClr val="FFFFFF"/>
                </a:solidFill>
                <a:latin typeface="Century Gothic"/>
              </a:rPr>
              <a:t>Contexto y Problemática</a:t>
            </a:r>
          </a:p>
        </p:txBody>
      </p:sp>
      <p:sp>
        <p:nvSpPr>
          <p:cNvPr id="4" name="TextBox 3"/>
          <p:cNvSpPr txBox="1"/>
          <p:nvPr/>
        </p:nvSpPr>
        <p:spPr>
          <a:xfrm>
            <a:off x="274320" y="676656"/>
            <a:ext cx="10972800" cy="411480"/>
          </a:xfrm>
          <a:prstGeom prst="rect">
            <a:avLst/>
          </a:prstGeom>
          <a:noFill/>
        </p:spPr>
        <p:txBody>
          <a:bodyPr wrap="square">
            <a:spAutoFit/>
          </a:bodyPr>
          <a:lstStyle/>
          <a:p>
            <a:pPr algn="l"/>
            <a:r>
              <a:rPr sz="1300" b="0">
                <a:solidFill>
                  <a:srgbClr val="94C121"/>
                </a:solidFill>
                <a:latin typeface="Century Gothic"/>
              </a:rPr>
              <a:t>Deserción estudiantil en la jornada nocturna — ETITC</a:t>
            </a:r>
          </a:p>
        </p:txBody>
      </p:sp>
      <p:sp>
        <p:nvSpPr>
          <p:cNvPr id="5" name="Rectangle 4"/>
          <p:cNvSpPr/>
          <p:nvPr/>
        </p:nvSpPr>
        <p:spPr>
          <a:xfrm>
            <a:off x="274320" y="1417320"/>
            <a:ext cx="2761488" cy="132588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79" y="1490472"/>
            <a:ext cx="2487168" cy="621792"/>
          </a:xfrm>
          <a:prstGeom prst="rect">
            <a:avLst/>
          </a:prstGeom>
          <a:noFill/>
        </p:spPr>
        <p:txBody>
          <a:bodyPr wrap="square">
            <a:spAutoFit/>
          </a:bodyPr>
          <a:lstStyle/>
          <a:p>
            <a:pPr algn="ctr"/>
            <a:r>
              <a:rPr sz="3200" b="1">
                <a:solidFill>
                  <a:srgbClr val="94C121"/>
                </a:solidFill>
                <a:latin typeface="Century Gothic"/>
              </a:rPr>
              <a:t>12,05 %</a:t>
            </a:r>
          </a:p>
        </p:txBody>
      </p:sp>
      <p:sp>
        <p:nvSpPr>
          <p:cNvPr id="7" name="TextBox 6"/>
          <p:cNvSpPr txBox="1"/>
          <p:nvPr/>
        </p:nvSpPr>
        <p:spPr>
          <a:xfrm>
            <a:off x="365760" y="2103120"/>
            <a:ext cx="2578608" cy="548640"/>
          </a:xfrm>
          <a:prstGeom prst="rect">
            <a:avLst/>
          </a:prstGeom>
          <a:noFill/>
        </p:spPr>
        <p:txBody>
          <a:bodyPr wrap="square">
            <a:spAutoFit/>
          </a:bodyPr>
          <a:lstStyle/>
          <a:p>
            <a:pPr algn="ctr"/>
            <a:r>
              <a:rPr sz="1100" b="0">
                <a:solidFill>
                  <a:srgbClr val="FFFFFF"/>
                </a:solidFill>
                <a:latin typeface="Century Gothic"/>
              </a:rPr>
              <a:t>Deserción ETITC
jornada nocturna</a:t>
            </a:r>
          </a:p>
        </p:txBody>
      </p:sp>
      <p:sp>
        <p:nvSpPr>
          <p:cNvPr id="8" name="Rectangle 7"/>
          <p:cNvSpPr/>
          <p:nvPr/>
        </p:nvSpPr>
        <p:spPr>
          <a:xfrm>
            <a:off x="3218688" y="1417320"/>
            <a:ext cx="2761488" cy="132588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55848" y="1490472"/>
            <a:ext cx="2487168" cy="621792"/>
          </a:xfrm>
          <a:prstGeom prst="rect">
            <a:avLst/>
          </a:prstGeom>
          <a:noFill/>
        </p:spPr>
        <p:txBody>
          <a:bodyPr wrap="square">
            <a:spAutoFit/>
          </a:bodyPr>
          <a:lstStyle/>
          <a:p>
            <a:pPr algn="ctr"/>
            <a:r>
              <a:rPr sz="3200" b="1">
                <a:solidFill>
                  <a:srgbClr val="94C121"/>
                </a:solidFill>
                <a:latin typeface="Century Gothic"/>
              </a:rPr>
              <a:t>8,5 %</a:t>
            </a:r>
          </a:p>
        </p:txBody>
      </p:sp>
      <p:sp>
        <p:nvSpPr>
          <p:cNvPr id="10" name="TextBox 9"/>
          <p:cNvSpPr txBox="1"/>
          <p:nvPr/>
        </p:nvSpPr>
        <p:spPr>
          <a:xfrm>
            <a:off x="3310128" y="2103120"/>
            <a:ext cx="2578608" cy="548640"/>
          </a:xfrm>
          <a:prstGeom prst="rect">
            <a:avLst/>
          </a:prstGeom>
          <a:noFill/>
        </p:spPr>
        <p:txBody>
          <a:bodyPr wrap="square">
            <a:spAutoFit/>
          </a:bodyPr>
          <a:lstStyle/>
          <a:p>
            <a:pPr algn="ctr"/>
            <a:r>
              <a:rPr sz="1100" b="0">
                <a:solidFill>
                  <a:srgbClr val="FFFFFF"/>
                </a:solidFill>
                <a:latin typeface="Century Gothic"/>
              </a:rPr>
              <a:t>Media nacional
de deserción</a:t>
            </a:r>
          </a:p>
        </p:txBody>
      </p:sp>
      <p:sp>
        <p:nvSpPr>
          <p:cNvPr id="11" name="Rectangle 10"/>
          <p:cNvSpPr/>
          <p:nvPr/>
        </p:nvSpPr>
        <p:spPr>
          <a:xfrm>
            <a:off x="6163056" y="1417320"/>
            <a:ext cx="2761488" cy="132588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0216" y="1490472"/>
            <a:ext cx="2487168" cy="621792"/>
          </a:xfrm>
          <a:prstGeom prst="rect">
            <a:avLst/>
          </a:prstGeom>
          <a:noFill/>
        </p:spPr>
        <p:txBody>
          <a:bodyPr wrap="square">
            <a:spAutoFit/>
          </a:bodyPr>
          <a:lstStyle/>
          <a:p>
            <a:pPr algn="ctr"/>
            <a:r>
              <a:rPr sz="3200" b="1">
                <a:solidFill>
                  <a:srgbClr val="94C121"/>
                </a:solidFill>
                <a:latin typeface="Century Gothic"/>
              </a:rPr>
              <a:t>66,5 %</a:t>
            </a:r>
          </a:p>
        </p:txBody>
      </p:sp>
      <p:sp>
        <p:nvSpPr>
          <p:cNvPr id="13" name="TextBox 12"/>
          <p:cNvSpPr txBox="1"/>
          <p:nvPr/>
        </p:nvSpPr>
        <p:spPr>
          <a:xfrm>
            <a:off x="6254496" y="2103120"/>
            <a:ext cx="2578608" cy="548640"/>
          </a:xfrm>
          <a:prstGeom prst="rect">
            <a:avLst/>
          </a:prstGeom>
          <a:noFill/>
        </p:spPr>
        <p:txBody>
          <a:bodyPr wrap="square">
            <a:spAutoFit/>
          </a:bodyPr>
          <a:lstStyle/>
          <a:p>
            <a:pPr algn="ctr"/>
            <a:r>
              <a:rPr sz="1100" b="0">
                <a:solidFill>
                  <a:srgbClr val="FFFFFF"/>
                </a:solidFill>
                <a:latin typeface="Century Gothic"/>
              </a:rPr>
              <a:t>Estudiantes con
vínculo laboral</a:t>
            </a:r>
          </a:p>
        </p:txBody>
      </p:sp>
      <p:sp>
        <p:nvSpPr>
          <p:cNvPr id="14" name="Rectangle 13"/>
          <p:cNvSpPr/>
          <p:nvPr/>
        </p:nvSpPr>
        <p:spPr>
          <a:xfrm>
            <a:off x="9107424" y="1417320"/>
            <a:ext cx="2761488" cy="132588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44584" y="1490472"/>
            <a:ext cx="2487168" cy="621792"/>
          </a:xfrm>
          <a:prstGeom prst="rect">
            <a:avLst/>
          </a:prstGeom>
          <a:noFill/>
        </p:spPr>
        <p:txBody>
          <a:bodyPr wrap="square">
            <a:spAutoFit/>
          </a:bodyPr>
          <a:lstStyle/>
          <a:p>
            <a:pPr algn="ctr"/>
            <a:r>
              <a:rPr sz="3200" b="1">
                <a:solidFill>
                  <a:srgbClr val="94C121"/>
                </a:solidFill>
                <a:latin typeface="Century Gothic"/>
              </a:rPr>
              <a:t>54 %</a:t>
            </a:r>
          </a:p>
        </p:txBody>
      </p:sp>
      <p:sp>
        <p:nvSpPr>
          <p:cNvPr id="16" name="TextBox 15"/>
          <p:cNvSpPr txBox="1"/>
          <p:nvPr/>
        </p:nvSpPr>
        <p:spPr>
          <a:xfrm>
            <a:off x="9198864" y="2103120"/>
            <a:ext cx="2578608" cy="548640"/>
          </a:xfrm>
          <a:prstGeom prst="rect">
            <a:avLst/>
          </a:prstGeom>
          <a:noFill/>
        </p:spPr>
        <p:txBody>
          <a:bodyPr wrap="square">
            <a:spAutoFit/>
          </a:bodyPr>
          <a:lstStyle/>
          <a:p>
            <a:pPr algn="ctr"/>
            <a:r>
              <a:rPr sz="1100" b="0">
                <a:solidFill>
                  <a:srgbClr val="FFFFFF"/>
                </a:solidFill>
                <a:latin typeface="Century Gothic"/>
              </a:rPr>
              <a:t>Dependencia de
TransMilenio</a:t>
            </a:r>
          </a:p>
        </p:txBody>
      </p:sp>
      <p:sp>
        <p:nvSpPr>
          <p:cNvPr id="17" name="Rectangle 16"/>
          <p:cNvSpPr/>
          <p:nvPr/>
        </p:nvSpPr>
        <p:spPr>
          <a:xfrm>
            <a:off x="274320" y="2907792"/>
            <a:ext cx="11640312" cy="22860"/>
          </a:xfrm>
          <a:prstGeom prst="rect">
            <a:avLst/>
          </a:prstGeom>
          <a:solidFill>
            <a:srgbClr val="94C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4320" y="3017520"/>
            <a:ext cx="11640312" cy="256032"/>
          </a:xfrm>
          <a:prstGeom prst="rect">
            <a:avLst/>
          </a:prstGeom>
          <a:noFill/>
        </p:spPr>
        <p:txBody>
          <a:bodyPr wrap="square">
            <a:spAutoFit/>
          </a:bodyPr>
          <a:lstStyle/>
          <a:p>
            <a:pPr algn="l"/>
            <a:r>
              <a:rPr sz="1200" b="0">
                <a:solidFill>
                  <a:srgbClr val="000000"/>
                </a:solidFill>
                <a:latin typeface="Century Gothic"/>
              </a:rPr>
              <a:t>El perfil del estudiante nocturno combina tres factores de riesgo que los sistemas actuales no capturan simultáneamente:</a:t>
            </a:r>
          </a:p>
        </p:txBody>
      </p:sp>
      <p:sp>
        <p:nvSpPr>
          <p:cNvPr id="19" name="Rectangle 18"/>
          <p:cNvSpPr/>
          <p:nvPr/>
        </p:nvSpPr>
        <p:spPr>
          <a:xfrm>
            <a:off x="274320" y="3383280"/>
            <a:ext cx="3749039" cy="292608"/>
          </a:xfrm>
          <a:prstGeom prst="rect">
            <a:avLst/>
          </a:prstGeom>
          <a:solidFill>
            <a:srgbClr val="4DA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 y="3410712"/>
            <a:ext cx="3566160" cy="237744"/>
          </a:xfrm>
          <a:prstGeom prst="rect">
            <a:avLst/>
          </a:prstGeom>
          <a:noFill/>
        </p:spPr>
        <p:txBody>
          <a:bodyPr wrap="square">
            <a:spAutoFit/>
          </a:bodyPr>
          <a:lstStyle/>
          <a:p>
            <a:pPr algn="l"/>
            <a:r>
              <a:rPr sz="1200" b="1">
                <a:solidFill>
                  <a:srgbClr val="FFFFFF"/>
                </a:solidFill>
                <a:latin typeface="Century Gothic"/>
              </a:rPr>
              <a:t>Déficit de tiempo</a:t>
            </a:r>
          </a:p>
        </p:txBody>
      </p:sp>
      <p:sp>
        <p:nvSpPr>
          <p:cNvPr id="21" name="TextBox 20"/>
          <p:cNvSpPr txBox="1"/>
          <p:nvPr/>
        </p:nvSpPr>
        <p:spPr>
          <a:xfrm>
            <a:off x="365760" y="3721608"/>
            <a:ext cx="3566160" cy="603504"/>
          </a:xfrm>
          <a:prstGeom prst="rect">
            <a:avLst/>
          </a:prstGeom>
          <a:noFill/>
        </p:spPr>
        <p:txBody>
          <a:bodyPr wrap="square">
            <a:spAutoFit/>
          </a:bodyPr>
          <a:lstStyle/>
          <a:p>
            <a:pPr algn="l"/>
            <a:r>
              <a:rPr sz="1100" b="0">
                <a:solidFill>
                  <a:srgbClr val="000000"/>
                </a:solidFill>
                <a:latin typeface="Century Gothic"/>
              </a:rPr>
              <a:t>El 52 % reporta "pobreza de tiempo" académica por obligaciones laborales.</a:t>
            </a:r>
          </a:p>
        </p:txBody>
      </p:sp>
      <p:sp>
        <p:nvSpPr>
          <p:cNvPr id="22" name="Rectangle 21"/>
          <p:cNvSpPr/>
          <p:nvPr/>
        </p:nvSpPr>
        <p:spPr>
          <a:xfrm>
            <a:off x="4242816" y="3383280"/>
            <a:ext cx="3749039" cy="292608"/>
          </a:xfrm>
          <a:prstGeom prst="rect">
            <a:avLst/>
          </a:prstGeom>
          <a:solidFill>
            <a:srgbClr val="4DA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34255" y="3410712"/>
            <a:ext cx="3566160" cy="237744"/>
          </a:xfrm>
          <a:prstGeom prst="rect">
            <a:avLst/>
          </a:prstGeom>
          <a:noFill/>
        </p:spPr>
        <p:txBody>
          <a:bodyPr wrap="square">
            <a:spAutoFit/>
          </a:bodyPr>
          <a:lstStyle/>
          <a:p>
            <a:pPr algn="l"/>
            <a:r>
              <a:rPr sz="1200" b="1">
                <a:solidFill>
                  <a:srgbClr val="FFFFFF"/>
                </a:solidFill>
                <a:latin typeface="Century Gothic"/>
              </a:rPr>
              <a:t>Desvinculación digital</a:t>
            </a:r>
          </a:p>
        </p:txBody>
      </p:sp>
      <p:sp>
        <p:nvSpPr>
          <p:cNvPr id="24" name="TextBox 23"/>
          <p:cNvSpPr txBox="1"/>
          <p:nvPr/>
        </p:nvSpPr>
        <p:spPr>
          <a:xfrm>
            <a:off x="4334255" y="3721608"/>
            <a:ext cx="3566160" cy="603504"/>
          </a:xfrm>
          <a:prstGeom prst="rect">
            <a:avLst/>
          </a:prstGeom>
          <a:noFill/>
        </p:spPr>
        <p:txBody>
          <a:bodyPr wrap="square">
            <a:spAutoFit/>
          </a:bodyPr>
          <a:lstStyle/>
          <a:p>
            <a:pPr algn="l"/>
            <a:r>
              <a:rPr sz="1100" b="0">
                <a:solidFill>
                  <a:srgbClr val="000000"/>
                </a:solidFill>
                <a:latin typeface="Century Gothic"/>
              </a:rPr>
              <a:t>Baja interacción en el LMS anticipa el abandono semanas antes de que sea evidente.</a:t>
            </a:r>
          </a:p>
        </p:txBody>
      </p:sp>
      <p:sp>
        <p:nvSpPr>
          <p:cNvPr id="25" name="Rectangle 24"/>
          <p:cNvSpPr/>
          <p:nvPr/>
        </p:nvSpPr>
        <p:spPr>
          <a:xfrm>
            <a:off x="8211312" y="3383280"/>
            <a:ext cx="3749039" cy="292608"/>
          </a:xfrm>
          <a:prstGeom prst="rect">
            <a:avLst/>
          </a:prstGeom>
          <a:solidFill>
            <a:srgbClr val="4DA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02752" y="3410712"/>
            <a:ext cx="3566160" cy="237744"/>
          </a:xfrm>
          <a:prstGeom prst="rect">
            <a:avLst/>
          </a:prstGeom>
          <a:noFill/>
        </p:spPr>
        <p:txBody>
          <a:bodyPr wrap="square">
            <a:spAutoFit/>
          </a:bodyPr>
          <a:lstStyle/>
          <a:p>
            <a:pPr algn="l"/>
            <a:r>
              <a:rPr sz="1200" b="1">
                <a:solidFill>
                  <a:srgbClr val="FFFFFF"/>
                </a:solidFill>
                <a:latin typeface="Century Gothic"/>
              </a:rPr>
              <a:t>Fatiga urbana</a:t>
            </a:r>
          </a:p>
        </p:txBody>
      </p:sp>
      <p:sp>
        <p:nvSpPr>
          <p:cNvPr id="27" name="TextBox 26"/>
          <p:cNvSpPr txBox="1"/>
          <p:nvPr/>
        </p:nvSpPr>
        <p:spPr>
          <a:xfrm>
            <a:off x="8302752" y="3721608"/>
            <a:ext cx="3566160" cy="603504"/>
          </a:xfrm>
          <a:prstGeom prst="rect">
            <a:avLst/>
          </a:prstGeom>
          <a:noFill/>
        </p:spPr>
        <p:txBody>
          <a:bodyPr wrap="square">
            <a:spAutoFit/>
          </a:bodyPr>
          <a:lstStyle/>
          <a:p>
            <a:pPr algn="l"/>
            <a:r>
              <a:rPr sz="1100" b="0">
                <a:solidFill>
                  <a:srgbClr val="000000"/>
                </a:solidFill>
                <a:latin typeface="Century Gothic"/>
              </a:rPr>
              <a:t>Desplazamientos de +60 min en TransMilenio correlacionan con ausentismo crítico.</a:t>
            </a:r>
          </a:p>
        </p:txBody>
      </p:sp>
      <p:sp>
        <p:nvSpPr>
          <p:cNvPr id="28" name="TextBox 27"/>
          <p:cNvSpPr txBox="1"/>
          <p:nvPr/>
        </p:nvSpPr>
        <p:spPr>
          <a:xfrm>
            <a:off x="274320" y="4480560"/>
            <a:ext cx="11640312" cy="256032"/>
          </a:xfrm>
          <a:prstGeom prst="rect">
            <a:avLst/>
          </a:prstGeom>
          <a:noFill/>
        </p:spPr>
        <p:txBody>
          <a:bodyPr wrap="square">
            <a:spAutoFit/>
          </a:bodyPr>
          <a:lstStyle/>
          <a:p>
            <a:pPr algn="l"/>
            <a:r>
              <a:rPr sz="1000" b="0">
                <a:solidFill>
                  <a:srgbClr val="B4B3B6"/>
                </a:solidFill>
                <a:latin typeface="Century Gothic"/>
              </a:rPr>
              <a:t>Fuentes: Informes de Caracterización Estudiantil ETITC 2021-2025 · Plan de Desarrollo Institucional 2025-2032</a:t>
            </a:r>
          </a:p>
        </p:txBody>
      </p:sp>
      <p:sp>
        <p:nvSpPr>
          <p:cNvPr id="29" name="Rectangle 28"/>
          <p:cNvSpPr/>
          <p:nvPr/>
        </p:nvSpPr>
        <p:spPr>
          <a:xfrm>
            <a:off x="0" y="6565392"/>
            <a:ext cx="12188952" cy="292608"/>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82880" y="6574536"/>
            <a:ext cx="11795760" cy="274320"/>
          </a:xfrm>
          <a:prstGeom prst="rect">
            <a:avLst/>
          </a:prstGeom>
          <a:noFill/>
        </p:spPr>
        <p:txBody>
          <a:bodyPr wrap="square">
            <a:spAutoFit/>
          </a:bodyPr>
          <a:lstStyle/>
          <a:p>
            <a:pPr algn="l"/>
            <a:r>
              <a:rPr sz="900" b="0">
                <a:solidFill>
                  <a:srgbClr val="FFFFFF"/>
                </a:solidFill>
                <a:latin typeface="Century Gothic"/>
              </a:rPr>
              <a:t>Jhon A. Correal M.  ·  Rafael A. Guzmán R.  ·  Docente: D. C. Alvarado M.  ·  ETITC  ·  Mayo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887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0972800" cy="621792"/>
          </a:xfrm>
          <a:prstGeom prst="rect">
            <a:avLst/>
          </a:prstGeom>
          <a:noFill/>
        </p:spPr>
        <p:txBody>
          <a:bodyPr wrap="square">
            <a:spAutoFit/>
          </a:bodyPr>
          <a:lstStyle/>
          <a:p>
            <a:pPr algn="l"/>
            <a:r>
              <a:rPr sz="2800" b="1">
                <a:solidFill>
                  <a:srgbClr val="FFFFFF"/>
                </a:solidFill>
                <a:latin typeface="Century Gothic"/>
              </a:rPr>
              <a:t>Pregunta Problema y Objetivos</a:t>
            </a:r>
          </a:p>
        </p:txBody>
      </p:sp>
      <p:sp>
        <p:nvSpPr>
          <p:cNvPr id="4" name="Rectangle 3"/>
          <p:cNvSpPr/>
          <p:nvPr/>
        </p:nvSpPr>
        <p:spPr>
          <a:xfrm>
            <a:off x="274320" y="1417320"/>
            <a:ext cx="11640312" cy="59436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0"/>
            <a:ext cx="11338560" cy="502920"/>
          </a:xfrm>
          <a:prstGeom prst="rect">
            <a:avLst/>
          </a:prstGeom>
          <a:noFill/>
        </p:spPr>
        <p:txBody>
          <a:bodyPr wrap="square">
            <a:spAutoFit/>
          </a:bodyPr>
          <a:lstStyle/>
          <a:p>
            <a:pPr algn="l"/>
            <a:r>
              <a:rPr sz="1300" b="0">
                <a:solidFill>
                  <a:srgbClr val="FFFFFF"/>
                </a:solidFill>
                <a:latin typeface="Century Gothic"/>
              </a:rPr>
              <a:t>¿De qué manera la integración de variables dinámicas permite detectar el riesgo de deserción en la jornada nocturna de la ETITC con mayor oportunidad que los sistemas actuales?</a:t>
            </a:r>
          </a:p>
        </p:txBody>
      </p:sp>
      <p:sp>
        <p:nvSpPr>
          <p:cNvPr id="6" name="Rectangle 5"/>
          <p:cNvSpPr/>
          <p:nvPr/>
        </p:nvSpPr>
        <p:spPr>
          <a:xfrm>
            <a:off x="274320" y="2176272"/>
            <a:ext cx="11640312" cy="22860"/>
          </a:xfrm>
          <a:prstGeom prst="rect">
            <a:avLst/>
          </a:prstGeom>
          <a:solidFill>
            <a:srgbClr val="94C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2286000"/>
            <a:ext cx="11640312" cy="274320"/>
          </a:xfrm>
          <a:prstGeom prst="rect">
            <a:avLst/>
          </a:prstGeom>
          <a:solidFill>
            <a:srgbClr val="4DA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2313432"/>
            <a:ext cx="11430000" cy="219456"/>
          </a:xfrm>
          <a:prstGeom prst="rect">
            <a:avLst/>
          </a:prstGeom>
          <a:noFill/>
        </p:spPr>
        <p:txBody>
          <a:bodyPr wrap="square">
            <a:spAutoFit/>
          </a:bodyPr>
          <a:lstStyle/>
          <a:p>
            <a:pPr algn="l"/>
            <a:r>
              <a:rPr sz="1200" b="1">
                <a:solidFill>
                  <a:srgbClr val="FFFFFF"/>
                </a:solidFill>
                <a:latin typeface="Century Gothic"/>
              </a:rPr>
              <a:t>Objetivo General</a:t>
            </a:r>
          </a:p>
        </p:txBody>
      </p:sp>
      <p:sp>
        <p:nvSpPr>
          <p:cNvPr id="9" name="TextBox 8"/>
          <p:cNvSpPr txBox="1"/>
          <p:nvPr/>
        </p:nvSpPr>
        <p:spPr>
          <a:xfrm>
            <a:off x="365760" y="2624328"/>
            <a:ext cx="11430000" cy="411480"/>
          </a:xfrm>
          <a:prstGeom prst="rect">
            <a:avLst/>
          </a:prstGeom>
          <a:noFill/>
        </p:spPr>
        <p:txBody>
          <a:bodyPr wrap="square">
            <a:spAutoFit/>
          </a:bodyPr>
          <a:lstStyle/>
          <a:p>
            <a:pPr algn="l"/>
            <a:r>
              <a:rPr sz="1200" b="0">
                <a:solidFill>
                  <a:srgbClr val="000000"/>
                </a:solidFill>
                <a:latin typeface="Century Gothic"/>
              </a:rPr>
              <a:t>Prototipar un modelo de analítica predictiva basado en Machine Learning que integre variables dinámicas para la detección temprana del riesgo de deserción en la jornada nocturna de la ETITC Sede Centro.</a:t>
            </a:r>
          </a:p>
        </p:txBody>
      </p:sp>
      <p:sp>
        <p:nvSpPr>
          <p:cNvPr id="10" name="Rectangle 9"/>
          <p:cNvSpPr/>
          <p:nvPr/>
        </p:nvSpPr>
        <p:spPr>
          <a:xfrm>
            <a:off x="274320" y="3154680"/>
            <a:ext cx="11640312" cy="22860"/>
          </a:xfrm>
          <a:prstGeom prst="rect">
            <a:avLst/>
          </a:prstGeom>
          <a:solidFill>
            <a:srgbClr val="94C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3246120"/>
            <a:ext cx="3657600" cy="228600"/>
          </a:xfrm>
          <a:prstGeom prst="rect">
            <a:avLst/>
          </a:prstGeom>
          <a:noFill/>
        </p:spPr>
        <p:txBody>
          <a:bodyPr wrap="square">
            <a:spAutoFit/>
          </a:bodyPr>
          <a:lstStyle/>
          <a:p>
            <a:pPr algn="l"/>
            <a:r>
              <a:rPr sz="1200" b="1">
                <a:solidFill>
                  <a:srgbClr val="287840"/>
                </a:solidFill>
                <a:latin typeface="Century Gothic"/>
              </a:rPr>
              <a:t>Objetivos Específicos</a:t>
            </a:r>
          </a:p>
        </p:txBody>
      </p:sp>
      <p:sp>
        <p:nvSpPr>
          <p:cNvPr id="12" name="Rectangle 11"/>
          <p:cNvSpPr/>
          <p:nvPr/>
        </p:nvSpPr>
        <p:spPr>
          <a:xfrm>
            <a:off x="274320" y="3547872"/>
            <a:ext cx="320040" cy="320040"/>
          </a:xfrm>
          <a:prstGeom prst="rect">
            <a:avLst/>
          </a:prstGeom>
          <a:solidFill>
            <a:srgbClr val="94C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1752" y="3584448"/>
            <a:ext cx="265176" cy="246888"/>
          </a:xfrm>
          <a:prstGeom prst="rect">
            <a:avLst/>
          </a:prstGeom>
          <a:noFill/>
        </p:spPr>
        <p:txBody>
          <a:bodyPr wrap="square">
            <a:spAutoFit/>
          </a:bodyPr>
          <a:lstStyle/>
          <a:p>
            <a:pPr algn="ctr"/>
            <a:r>
              <a:rPr sz="1400" b="1">
                <a:solidFill>
                  <a:srgbClr val="FFFFFF"/>
                </a:solidFill>
                <a:latin typeface="Century Gothic"/>
              </a:rPr>
              <a:t>1</a:t>
            </a:r>
          </a:p>
        </p:txBody>
      </p:sp>
      <p:sp>
        <p:nvSpPr>
          <p:cNvPr id="14" name="TextBox 13"/>
          <p:cNvSpPr txBox="1"/>
          <p:nvPr/>
        </p:nvSpPr>
        <p:spPr>
          <a:xfrm>
            <a:off x="685800" y="3566160"/>
            <a:ext cx="11155680" cy="502920"/>
          </a:xfrm>
          <a:prstGeom prst="rect">
            <a:avLst/>
          </a:prstGeom>
          <a:noFill/>
        </p:spPr>
        <p:txBody>
          <a:bodyPr wrap="square">
            <a:spAutoFit/>
          </a:bodyPr>
          <a:lstStyle/>
          <a:p>
            <a:pPr algn="l"/>
            <a:r>
              <a:rPr sz="1200" b="0">
                <a:solidFill>
                  <a:srgbClr val="000000"/>
                </a:solidFill>
                <a:latin typeface="Century Gothic"/>
              </a:rPr>
              <a:t>Categorizar las variables dinámicas de mayor impacto (LMS, movilidad, carga laboral) mediante análisis de informes institucionales 2021-2025.</a:t>
            </a:r>
          </a:p>
        </p:txBody>
      </p:sp>
      <p:sp>
        <p:nvSpPr>
          <p:cNvPr id="15" name="Rectangle 14"/>
          <p:cNvSpPr/>
          <p:nvPr/>
        </p:nvSpPr>
        <p:spPr>
          <a:xfrm>
            <a:off x="274320" y="4206240"/>
            <a:ext cx="320040" cy="320040"/>
          </a:xfrm>
          <a:prstGeom prst="rect">
            <a:avLst/>
          </a:prstGeom>
          <a:solidFill>
            <a:srgbClr val="94C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01752" y="4242816"/>
            <a:ext cx="265176" cy="246888"/>
          </a:xfrm>
          <a:prstGeom prst="rect">
            <a:avLst/>
          </a:prstGeom>
          <a:noFill/>
        </p:spPr>
        <p:txBody>
          <a:bodyPr wrap="square">
            <a:spAutoFit/>
          </a:bodyPr>
          <a:lstStyle/>
          <a:p>
            <a:pPr algn="ctr"/>
            <a:r>
              <a:rPr sz="1400" b="1">
                <a:solidFill>
                  <a:srgbClr val="FFFFFF"/>
                </a:solidFill>
                <a:latin typeface="Century Gothic"/>
              </a:rPr>
              <a:t>2</a:t>
            </a:r>
          </a:p>
        </p:txBody>
      </p:sp>
      <p:sp>
        <p:nvSpPr>
          <p:cNvPr id="17" name="TextBox 16"/>
          <p:cNvSpPr txBox="1"/>
          <p:nvPr/>
        </p:nvSpPr>
        <p:spPr>
          <a:xfrm>
            <a:off x="685800" y="4224527"/>
            <a:ext cx="11155680" cy="502920"/>
          </a:xfrm>
          <a:prstGeom prst="rect">
            <a:avLst/>
          </a:prstGeom>
          <a:noFill/>
        </p:spPr>
        <p:txBody>
          <a:bodyPr wrap="square">
            <a:spAutoFit/>
          </a:bodyPr>
          <a:lstStyle/>
          <a:p>
            <a:pPr algn="l"/>
            <a:r>
              <a:rPr sz="1200" b="0">
                <a:solidFill>
                  <a:srgbClr val="000000"/>
                </a:solidFill>
                <a:latin typeface="Century Gothic"/>
              </a:rPr>
              <a:t>Diseñar la arquitectura técnica del modelo predictivo para el procesamiento de variables dinámicas y estáticas.</a:t>
            </a:r>
          </a:p>
        </p:txBody>
      </p:sp>
      <p:sp>
        <p:nvSpPr>
          <p:cNvPr id="18" name="Rectangle 17"/>
          <p:cNvSpPr/>
          <p:nvPr/>
        </p:nvSpPr>
        <p:spPr>
          <a:xfrm>
            <a:off x="274320" y="4864608"/>
            <a:ext cx="320040" cy="320040"/>
          </a:xfrm>
          <a:prstGeom prst="rect">
            <a:avLst/>
          </a:prstGeom>
          <a:solidFill>
            <a:srgbClr val="94C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01752" y="4901184"/>
            <a:ext cx="265176" cy="246888"/>
          </a:xfrm>
          <a:prstGeom prst="rect">
            <a:avLst/>
          </a:prstGeom>
          <a:noFill/>
        </p:spPr>
        <p:txBody>
          <a:bodyPr wrap="square">
            <a:spAutoFit/>
          </a:bodyPr>
          <a:lstStyle/>
          <a:p>
            <a:pPr algn="ctr"/>
            <a:r>
              <a:rPr sz="1400" b="1">
                <a:solidFill>
                  <a:srgbClr val="FFFFFF"/>
                </a:solidFill>
                <a:latin typeface="Century Gothic"/>
              </a:rPr>
              <a:t>3</a:t>
            </a:r>
          </a:p>
        </p:txBody>
      </p:sp>
      <p:sp>
        <p:nvSpPr>
          <p:cNvPr id="20" name="TextBox 19"/>
          <p:cNvSpPr txBox="1"/>
          <p:nvPr/>
        </p:nvSpPr>
        <p:spPr>
          <a:xfrm>
            <a:off x="685800" y="4882896"/>
            <a:ext cx="11155680" cy="502920"/>
          </a:xfrm>
          <a:prstGeom prst="rect">
            <a:avLst/>
          </a:prstGeom>
          <a:noFill/>
        </p:spPr>
        <p:txBody>
          <a:bodyPr wrap="square">
            <a:spAutoFit/>
          </a:bodyPr>
          <a:lstStyle/>
          <a:p>
            <a:pPr algn="l"/>
            <a:r>
              <a:rPr sz="1200" b="0">
                <a:solidFill>
                  <a:srgbClr val="000000"/>
                </a:solidFill>
                <a:latin typeface="Century Gothic"/>
              </a:rPr>
              <a:t>Determinar los patrones de riesgo predominantes mediante el entrenamiento y análisis de resultados del modelo.</a:t>
            </a:r>
          </a:p>
        </p:txBody>
      </p:sp>
      <p:sp>
        <p:nvSpPr>
          <p:cNvPr id="21" name="Rectangle 20"/>
          <p:cNvSpPr/>
          <p:nvPr/>
        </p:nvSpPr>
        <p:spPr>
          <a:xfrm>
            <a:off x="0" y="6565392"/>
            <a:ext cx="12188952" cy="292608"/>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82880" y="6574536"/>
            <a:ext cx="11795760" cy="274320"/>
          </a:xfrm>
          <a:prstGeom prst="rect">
            <a:avLst/>
          </a:prstGeom>
          <a:noFill/>
        </p:spPr>
        <p:txBody>
          <a:bodyPr wrap="square">
            <a:spAutoFit/>
          </a:bodyPr>
          <a:lstStyle/>
          <a:p>
            <a:pPr algn="l"/>
            <a:r>
              <a:rPr sz="900" b="0">
                <a:solidFill>
                  <a:srgbClr val="FFFFFF"/>
                </a:solidFill>
                <a:latin typeface="Century Gothic"/>
              </a:rPr>
              <a:t>Jhon A. Correal M.  ·  Rafael A. Guzmán R.  ·  Docente: D. C. Alvarado M.  ·  ETITC  ·  Mayo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887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0972800" cy="621792"/>
          </a:xfrm>
          <a:prstGeom prst="rect">
            <a:avLst/>
          </a:prstGeom>
          <a:noFill/>
        </p:spPr>
        <p:txBody>
          <a:bodyPr wrap="square">
            <a:spAutoFit/>
          </a:bodyPr>
          <a:lstStyle/>
          <a:p>
            <a:pPr algn="l"/>
            <a:r>
              <a:rPr sz="2800" b="1">
                <a:solidFill>
                  <a:srgbClr val="FFFFFF"/>
                </a:solidFill>
                <a:latin typeface="Century Gothic"/>
              </a:rPr>
              <a:t>Justificación e Hipótesis</a:t>
            </a:r>
          </a:p>
        </p:txBody>
      </p:sp>
      <p:sp>
        <p:nvSpPr>
          <p:cNvPr id="4" name="Rectangle 3"/>
          <p:cNvSpPr/>
          <p:nvPr/>
        </p:nvSpPr>
        <p:spPr>
          <a:xfrm>
            <a:off x="182880" y="1417320"/>
            <a:ext cx="5760720" cy="2743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1444752"/>
            <a:ext cx="5486400" cy="219456"/>
          </a:xfrm>
          <a:prstGeom prst="rect">
            <a:avLst/>
          </a:prstGeom>
          <a:noFill/>
        </p:spPr>
        <p:txBody>
          <a:bodyPr wrap="square">
            <a:spAutoFit/>
          </a:bodyPr>
          <a:lstStyle/>
          <a:p>
            <a:pPr algn="l"/>
            <a:r>
              <a:rPr sz="1200" b="1">
                <a:solidFill>
                  <a:srgbClr val="FFFFFF"/>
                </a:solidFill>
                <a:latin typeface="Century Gothic"/>
              </a:rPr>
              <a:t>Justificación</a:t>
            </a:r>
          </a:p>
        </p:txBody>
      </p:sp>
      <p:sp>
        <p:nvSpPr>
          <p:cNvPr id="6" name="TextBox 5"/>
          <p:cNvSpPr txBox="1"/>
          <p:nvPr/>
        </p:nvSpPr>
        <p:spPr>
          <a:xfrm>
            <a:off x="274320" y="1773936"/>
            <a:ext cx="5486400" cy="530352"/>
          </a:xfrm>
          <a:prstGeom prst="rect">
            <a:avLst/>
          </a:prstGeom>
          <a:noFill/>
        </p:spPr>
        <p:txBody>
          <a:bodyPr wrap="square">
            <a:spAutoFit/>
          </a:bodyPr>
          <a:lstStyle/>
          <a:p>
            <a:pPr algn="l"/>
            <a:r>
              <a:rPr sz="1100" b="0">
                <a:solidFill>
                  <a:srgbClr val="000000"/>
                </a:solidFill>
                <a:latin typeface="Century Gothic"/>
              </a:rPr>
              <a:t>• La ETITC registra deserción del 12,05 %, superior a la media nacional (8,5 %), con mayor concentración en la jornada nocturna.</a:t>
            </a:r>
          </a:p>
        </p:txBody>
      </p:sp>
      <p:sp>
        <p:nvSpPr>
          <p:cNvPr id="7" name="TextBox 6"/>
          <p:cNvSpPr txBox="1"/>
          <p:nvPr/>
        </p:nvSpPr>
        <p:spPr>
          <a:xfrm>
            <a:off x="274320" y="2395728"/>
            <a:ext cx="5486400" cy="530352"/>
          </a:xfrm>
          <a:prstGeom prst="rect">
            <a:avLst/>
          </a:prstGeom>
          <a:noFill/>
        </p:spPr>
        <p:txBody>
          <a:bodyPr wrap="square">
            <a:spAutoFit/>
          </a:bodyPr>
          <a:lstStyle/>
          <a:p>
            <a:pPr algn="l"/>
            <a:r>
              <a:rPr sz="1100" b="0" dirty="0">
                <a:solidFill>
                  <a:srgbClr val="000000"/>
                </a:solidFill>
                <a:latin typeface="Century Gothic"/>
              </a:rPr>
              <a:t>• Los </a:t>
            </a:r>
            <a:r>
              <a:rPr sz="1100" b="0" dirty="0" err="1">
                <a:solidFill>
                  <a:srgbClr val="000000"/>
                </a:solidFill>
                <a:latin typeface="Century Gothic"/>
              </a:rPr>
              <a:t>sistemas</a:t>
            </a:r>
            <a:r>
              <a:rPr sz="1100" b="0" dirty="0">
                <a:solidFill>
                  <a:srgbClr val="000000"/>
                </a:solidFill>
                <a:latin typeface="Century Gothic"/>
              </a:rPr>
              <a:t> Adviser V.11 y RUSIA </a:t>
            </a:r>
            <a:r>
              <a:rPr sz="1100" b="0" dirty="0" err="1">
                <a:solidFill>
                  <a:srgbClr val="000000"/>
                </a:solidFill>
                <a:latin typeface="Century Gothic"/>
              </a:rPr>
              <a:t>capturan</a:t>
            </a:r>
            <a:r>
              <a:rPr sz="1100" b="0" dirty="0">
                <a:solidFill>
                  <a:srgbClr val="000000"/>
                </a:solidFill>
                <a:latin typeface="Century Gothic"/>
              </a:rPr>
              <a:t> </a:t>
            </a:r>
            <a:r>
              <a:rPr sz="1100" b="0" dirty="0" err="1">
                <a:solidFill>
                  <a:srgbClr val="000000"/>
                </a:solidFill>
                <a:latin typeface="Century Gothic"/>
              </a:rPr>
              <a:t>únicamente</a:t>
            </a:r>
            <a:r>
              <a:rPr sz="1100" b="0" dirty="0">
                <a:solidFill>
                  <a:srgbClr val="000000"/>
                </a:solidFill>
                <a:latin typeface="Century Gothic"/>
              </a:rPr>
              <a:t> variables </a:t>
            </a:r>
            <a:r>
              <a:rPr sz="1100" b="0" dirty="0" err="1">
                <a:solidFill>
                  <a:srgbClr val="000000"/>
                </a:solidFill>
                <a:latin typeface="Century Gothic"/>
              </a:rPr>
              <a:t>académicas</a:t>
            </a:r>
            <a:r>
              <a:rPr sz="1100" b="0" dirty="0">
                <a:solidFill>
                  <a:srgbClr val="000000"/>
                </a:solidFill>
                <a:latin typeface="Century Gothic"/>
              </a:rPr>
              <a:t> </a:t>
            </a:r>
            <a:r>
              <a:rPr sz="1100" b="0" dirty="0" err="1">
                <a:solidFill>
                  <a:srgbClr val="000000"/>
                </a:solidFill>
                <a:latin typeface="Century Gothic"/>
              </a:rPr>
              <a:t>estáticas</a:t>
            </a:r>
            <a:r>
              <a:rPr sz="1100" b="0" dirty="0">
                <a:solidFill>
                  <a:srgbClr val="000000"/>
                </a:solidFill>
                <a:latin typeface="Century Gothic"/>
              </a:rPr>
              <a:t>, sin </a:t>
            </a:r>
            <a:r>
              <a:rPr sz="1100" b="0" dirty="0" err="1">
                <a:solidFill>
                  <a:srgbClr val="000000"/>
                </a:solidFill>
                <a:latin typeface="Century Gothic"/>
              </a:rPr>
              <a:t>contemplar</a:t>
            </a:r>
            <a:r>
              <a:rPr sz="1100" b="0" dirty="0">
                <a:solidFill>
                  <a:srgbClr val="000000"/>
                </a:solidFill>
                <a:latin typeface="Century Gothic"/>
              </a:rPr>
              <a:t> carga </a:t>
            </a:r>
            <a:r>
              <a:rPr sz="1100" b="0" dirty="0" err="1">
                <a:solidFill>
                  <a:srgbClr val="000000"/>
                </a:solidFill>
                <a:latin typeface="Century Gothic"/>
              </a:rPr>
              <a:t>laboral</a:t>
            </a:r>
            <a:r>
              <a:rPr sz="1100" b="0" dirty="0">
                <a:solidFill>
                  <a:srgbClr val="000000"/>
                </a:solidFill>
                <a:latin typeface="Century Gothic"/>
              </a:rPr>
              <a:t>, </a:t>
            </a:r>
            <a:r>
              <a:rPr sz="1100" b="0" dirty="0" err="1">
                <a:solidFill>
                  <a:srgbClr val="000000"/>
                </a:solidFill>
                <a:latin typeface="Century Gothic"/>
              </a:rPr>
              <a:t>actividad</a:t>
            </a:r>
            <a:r>
              <a:rPr sz="1100" b="0" dirty="0">
                <a:solidFill>
                  <a:srgbClr val="000000"/>
                </a:solidFill>
                <a:latin typeface="Century Gothic"/>
              </a:rPr>
              <a:t> LMS </a:t>
            </a:r>
            <a:r>
              <a:rPr sz="1100" b="0" dirty="0" err="1">
                <a:solidFill>
                  <a:srgbClr val="000000"/>
                </a:solidFill>
                <a:latin typeface="Century Gothic"/>
              </a:rPr>
              <a:t>ni</a:t>
            </a:r>
            <a:r>
              <a:rPr sz="1100" b="0" dirty="0">
                <a:solidFill>
                  <a:srgbClr val="000000"/>
                </a:solidFill>
                <a:latin typeface="Century Gothic"/>
              </a:rPr>
              <a:t> </a:t>
            </a:r>
            <a:r>
              <a:rPr sz="1100" b="0" dirty="0" err="1">
                <a:solidFill>
                  <a:srgbClr val="000000"/>
                </a:solidFill>
                <a:latin typeface="Century Gothic"/>
              </a:rPr>
              <a:t>fatiga</a:t>
            </a:r>
            <a:r>
              <a:rPr sz="1100" b="0" dirty="0">
                <a:solidFill>
                  <a:srgbClr val="000000"/>
                </a:solidFill>
                <a:latin typeface="Century Gothic"/>
              </a:rPr>
              <a:t> </a:t>
            </a:r>
            <a:r>
              <a:rPr sz="1100" b="0" dirty="0" err="1">
                <a:solidFill>
                  <a:srgbClr val="000000"/>
                </a:solidFill>
                <a:latin typeface="Century Gothic"/>
              </a:rPr>
              <a:t>por</a:t>
            </a:r>
            <a:r>
              <a:rPr sz="1100" b="0" dirty="0">
                <a:solidFill>
                  <a:srgbClr val="000000"/>
                </a:solidFill>
                <a:latin typeface="Century Gothic"/>
              </a:rPr>
              <a:t> </a:t>
            </a:r>
            <a:r>
              <a:rPr sz="1100" b="0" dirty="0" err="1">
                <a:solidFill>
                  <a:srgbClr val="000000"/>
                </a:solidFill>
                <a:latin typeface="Century Gothic"/>
              </a:rPr>
              <a:t>movilidad</a:t>
            </a:r>
            <a:r>
              <a:rPr sz="1100" b="0" dirty="0">
                <a:solidFill>
                  <a:srgbClr val="000000"/>
                </a:solidFill>
                <a:latin typeface="Century Gothic"/>
              </a:rPr>
              <a:t>.</a:t>
            </a:r>
          </a:p>
        </p:txBody>
      </p:sp>
      <p:sp>
        <p:nvSpPr>
          <p:cNvPr id="8" name="TextBox 7"/>
          <p:cNvSpPr txBox="1"/>
          <p:nvPr/>
        </p:nvSpPr>
        <p:spPr>
          <a:xfrm>
            <a:off x="274320" y="3017520"/>
            <a:ext cx="5486400" cy="530352"/>
          </a:xfrm>
          <a:prstGeom prst="rect">
            <a:avLst/>
          </a:prstGeom>
          <a:noFill/>
        </p:spPr>
        <p:txBody>
          <a:bodyPr wrap="square">
            <a:spAutoFit/>
          </a:bodyPr>
          <a:lstStyle/>
          <a:p>
            <a:pPr algn="l"/>
            <a:r>
              <a:rPr sz="1100" b="0">
                <a:solidFill>
                  <a:srgbClr val="000000"/>
                </a:solidFill>
                <a:latin typeface="Century Gothic"/>
              </a:rPr>
              <a:t>• El PDI 2025-2032 fija como meta la reducción de la deserción en 2,5 puntos porcentuales.</a:t>
            </a:r>
          </a:p>
        </p:txBody>
      </p:sp>
      <p:sp>
        <p:nvSpPr>
          <p:cNvPr id="9" name="TextBox 8"/>
          <p:cNvSpPr txBox="1"/>
          <p:nvPr/>
        </p:nvSpPr>
        <p:spPr>
          <a:xfrm>
            <a:off x="274320" y="3639312"/>
            <a:ext cx="5486400" cy="530352"/>
          </a:xfrm>
          <a:prstGeom prst="rect">
            <a:avLst/>
          </a:prstGeom>
          <a:noFill/>
        </p:spPr>
        <p:txBody>
          <a:bodyPr wrap="square">
            <a:spAutoFit/>
          </a:bodyPr>
          <a:lstStyle/>
          <a:p>
            <a:pPr algn="l"/>
            <a:r>
              <a:rPr sz="1100" b="0">
                <a:solidFill>
                  <a:srgbClr val="000000"/>
                </a:solidFill>
                <a:latin typeface="Century Gothic"/>
              </a:rPr>
              <a:t>• Un modelo predictivo temprano permite intervenciones focalizadas antes de que el abandono sea irreversible.</a:t>
            </a:r>
          </a:p>
        </p:txBody>
      </p:sp>
      <p:sp>
        <p:nvSpPr>
          <p:cNvPr id="10" name="Rectangle 9"/>
          <p:cNvSpPr/>
          <p:nvPr/>
        </p:nvSpPr>
        <p:spPr>
          <a:xfrm>
            <a:off x="6291072" y="1417320"/>
            <a:ext cx="5715000" cy="274320"/>
          </a:xfrm>
          <a:prstGeom prst="rect">
            <a:avLst/>
          </a:prstGeom>
          <a:solidFill>
            <a:srgbClr val="4DA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82512" y="1444752"/>
            <a:ext cx="5486400" cy="219456"/>
          </a:xfrm>
          <a:prstGeom prst="rect">
            <a:avLst/>
          </a:prstGeom>
          <a:noFill/>
        </p:spPr>
        <p:txBody>
          <a:bodyPr wrap="square">
            <a:spAutoFit/>
          </a:bodyPr>
          <a:lstStyle/>
          <a:p>
            <a:pPr algn="l"/>
            <a:r>
              <a:rPr sz="1200" b="1">
                <a:solidFill>
                  <a:srgbClr val="FFFFFF"/>
                </a:solidFill>
                <a:latin typeface="Century Gothic"/>
              </a:rPr>
              <a:t>Hipótesis</a:t>
            </a:r>
          </a:p>
        </p:txBody>
      </p:sp>
      <p:sp>
        <p:nvSpPr>
          <p:cNvPr id="12" name="TextBox 11"/>
          <p:cNvSpPr txBox="1"/>
          <p:nvPr/>
        </p:nvSpPr>
        <p:spPr>
          <a:xfrm>
            <a:off x="6382512" y="1773936"/>
            <a:ext cx="5486400" cy="1325880"/>
          </a:xfrm>
          <a:prstGeom prst="rect">
            <a:avLst/>
          </a:prstGeom>
          <a:noFill/>
        </p:spPr>
        <p:txBody>
          <a:bodyPr wrap="square">
            <a:spAutoFit/>
          </a:bodyPr>
          <a:lstStyle/>
          <a:p>
            <a:pPr algn="l"/>
            <a:r>
              <a:rPr sz="1200" b="0">
                <a:solidFill>
                  <a:srgbClr val="000000"/>
                </a:solidFill>
                <a:latin typeface="Century Gothic"/>
              </a:rPr>
              <a:t>La integración de variables dinámicas —déficit de disponibilidad horaria, interacción en el LMS y fatiga por movilidad urbana— en un modelo de Machine Learning mejora significativamente la detección temprana del riesgo de deserción estudiantil frente a sistemas basados exclusivamente en variables académicas estáticas.</a:t>
            </a:r>
          </a:p>
        </p:txBody>
      </p:sp>
      <p:sp>
        <p:nvSpPr>
          <p:cNvPr id="13" name="Rectangle 12"/>
          <p:cNvSpPr/>
          <p:nvPr/>
        </p:nvSpPr>
        <p:spPr>
          <a:xfrm>
            <a:off x="6291072" y="3246120"/>
            <a:ext cx="5715000" cy="274320"/>
          </a:xfrm>
          <a:prstGeom prst="rect">
            <a:avLst/>
          </a:prstGeom>
          <a:solidFill>
            <a:srgbClr val="94C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82512" y="3273552"/>
            <a:ext cx="5486400" cy="219456"/>
          </a:xfrm>
          <a:prstGeom prst="rect">
            <a:avLst/>
          </a:prstGeom>
          <a:noFill/>
        </p:spPr>
        <p:txBody>
          <a:bodyPr wrap="square">
            <a:spAutoFit/>
          </a:bodyPr>
          <a:lstStyle/>
          <a:p>
            <a:pPr algn="l"/>
            <a:r>
              <a:rPr sz="1200" b="1">
                <a:solidFill>
                  <a:srgbClr val="FFFFFF"/>
                </a:solidFill>
                <a:latin typeface="Century Gothic"/>
              </a:rPr>
              <a:t>Estado: Validada (datos sintéticos — TRL-3)</a:t>
            </a:r>
          </a:p>
        </p:txBody>
      </p:sp>
      <p:sp>
        <p:nvSpPr>
          <p:cNvPr id="15" name="TextBox 14"/>
          <p:cNvSpPr txBox="1"/>
          <p:nvPr/>
        </p:nvSpPr>
        <p:spPr>
          <a:xfrm>
            <a:off x="6382512" y="3621024"/>
            <a:ext cx="5486400" cy="777240"/>
          </a:xfrm>
          <a:prstGeom prst="rect">
            <a:avLst/>
          </a:prstGeom>
          <a:noFill/>
        </p:spPr>
        <p:txBody>
          <a:bodyPr wrap="square">
            <a:spAutoFit/>
          </a:bodyPr>
          <a:lstStyle/>
          <a:p>
            <a:pPr algn="l"/>
            <a:r>
              <a:rPr sz="1100" b="0">
                <a:solidFill>
                  <a:srgbClr val="000000"/>
                </a:solidFill>
                <a:latin typeface="Century Gothic"/>
              </a:rPr>
              <a:t>El experimento con datos sintéticos (n = 1 000) confirmó que las variables dinámicas incrementan la capacidad predictiva: XGBoost alcanzó AUC = 0,973 vs. sistemas sin variables dinámicas.</a:t>
            </a:r>
          </a:p>
        </p:txBody>
      </p:sp>
      <p:sp>
        <p:nvSpPr>
          <p:cNvPr id="16" name="Rectangle 15"/>
          <p:cNvSpPr/>
          <p:nvPr/>
        </p:nvSpPr>
        <p:spPr>
          <a:xfrm>
            <a:off x="0" y="6565392"/>
            <a:ext cx="12188952" cy="292608"/>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82880" y="6574536"/>
            <a:ext cx="11795760" cy="274320"/>
          </a:xfrm>
          <a:prstGeom prst="rect">
            <a:avLst/>
          </a:prstGeom>
          <a:noFill/>
        </p:spPr>
        <p:txBody>
          <a:bodyPr wrap="square">
            <a:spAutoFit/>
          </a:bodyPr>
          <a:lstStyle/>
          <a:p>
            <a:pPr algn="l"/>
            <a:r>
              <a:rPr sz="900" b="0">
                <a:solidFill>
                  <a:srgbClr val="FFFFFF"/>
                </a:solidFill>
                <a:latin typeface="Century Gothic"/>
              </a:rPr>
              <a:t>Jhon A. Correal M.  ·  Rafael A. Guzmán R.  ·  Docente: D. C. Alvarado M.  ·  ETITC  ·  Mayo 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887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0972800" cy="621792"/>
          </a:xfrm>
          <a:prstGeom prst="rect">
            <a:avLst/>
          </a:prstGeom>
          <a:noFill/>
        </p:spPr>
        <p:txBody>
          <a:bodyPr wrap="square">
            <a:spAutoFit/>
          </a:bodyPr>
          <a:lstStyle/>
          <a:p>
            <a:pPr algn="l"/>
            <a:r>
              <a:rPr sz="2800" b="1">
                <a:solidFill>
                  <a:srgbClr val="FFFFFF"/>
                </a:solidFill>
                <a:latin typeface="Century Gothic"/>
              </a:rPr>
              <a:t>Metodología</a:t>
            </a:r>
          </a:p>
        </p:txBody>
      </p:sp>
      <p:sp>
        <p:nvSpPr>
          <p:cNvPr id="4" name="TextBox 3"/>
          <p:cNvSpPr txBox="1"/>
          <p:nvPr/>
        </p:nvSpPr>
        <p:spPr>
          <a:xfrm>
            <a:off x="274320" y="676656"/>
            <a:ext cx="10972800" cy="411480"/>
          </a:xfrm>
          <a:prstGeom prst="rect">
            <a:avLst/>
          </a:prstGeom>
          <a:noFill/>
        </p:spPr>
        <p:txBody>
          <a:bodyPr wrap="square">
            <a:spAutoFit/>
          </a:bodyPr>
          <a:lstStyle/>
          <a:p>
            <a:pPr algn="l"/>
            <a:r>
              <a:rPr sz="1300" b="0">
                <a:solidFill>
                  <a:srgbClr val="94C121"/>
                </a:solidFill>
                <a:latin typeface="Century Gothic"/>
              </a:rPr>
              <a:t>Investigación Aplicada · Enfoque Cuantitativo · Diseño No Experimental Transversal</a:t>
            </a:r>
          </a:p>
        </p:txBody>
      </p:sp>
      <p:sp>
        <p:nvSpPr>
          <p:cNvPr id="5" name="Rectangle 4"/>
          <p:cNvSpPr/>
          <p:nvPr/>
        </p:nvSpPr>
        <p:spPr>
          <a:xfrm>
            <a:off x="274320" y="1463040"/>
            <a:ext cx="2194560" cy="347472"/>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47472" y="1490472"/>
            <a:ext cx="2057400" cy="292608"/>
          </a:xfrm>
          <a:prstGeom prst="rect">
            <a:avLst/>
          </a:prstGeom>
          <a:noFill/>
        </p:spPr>
        <p:txBody>
          <a:bodyPr wrap="square">
            <a:spAutoFit/>
          </a:bodyPr>
          <a:lstStyle/>
          <a:p>
            <a:pPr algn="l"/>
            <a:r>
              <a:rPr sz="1100" b="1">
                <a:solidFill>
                  <a:srgbClr val="FFFFFF"/>
                </a:solidFill>
                <a:latin typeface="Century Gothic"/>
              </a:rPr>
              <a:t>Fase 1</a:t>
            </a:r>
          </a:p>
        </p:txBody>
      </p:sp>
      <p:sp>
        <p:nvSpPr>
          <p:cNvPr id="7" name="Rectangle 6"/>
          <p:cNvSpPr/>
          <p:nvPr/>
        </p:nvSpPr>
        <p:spPr>
          <a:xfrm>
            <a:off x="274320" y="1810512"/>
            <a:ext cx="2194560" cy="594360"/>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847088"/>
            <a:ext cx="2057400" cy="521207"/>
          </a:xfrm>
          <a:prstGeom prst="rect">
            <a:avLst/>
          </a:prstGeom>
          <a:noFill/>
        </p:spPr>
        <p:txBody>
          <a:bodyPr wrap="square">
            <a:spAutoFit/>
          </a:bodyPr>
          <a:lstStyle/>
          <a:p>
            <a:pPr algn="l"/>
            <a:r>
              <a:rPr sz="1100" b="1">
                <a:solidFill>
                  <a:srgbClr val="000000"/>
                </a:solidFill>
                <a:latin typeface="Century Gothic"/>
              </a:rPr>
              <a:t>Gestión
Institucional</a:t>
            </a:r>
          </a:p>
        </p:txBody>
      </p:sp>
      <p:sp>
        <p:nvSpPr>
          <p:cNvPr id="9" name="TextBox 8"/>
          <p:cNvSpPr txBox="1"/>
          <p:nvPr/>
        </p:nvSpPr>
        <p:spPr>
          <a:xfrm>
            <a:off x="347472" y="2450592"/>
            <a:ext cx="2057400" cy="868680"/>
          </a:xfrm>
          <a:prstGeom prst="rect">
            <a:avLst/>
          </a:prstGeom>
          <a:noFill/>
        </p:spPr>
        <p:txBody>
          <a:bodyPr wrap="square">
            <a:spAutoFit/>
          </a:bodyPr>
          <a:lstStyle/>
          <a:p>
            <a:pPr algn="l"/>
            <a:r>
              <a:rPr sz="1000" b="0">
                <a:solidFill>
                  <a:srgbClr val="000000"/>
                </a:solidFill>
                <a:latin typeface="Century Gothic"/>
              </a:rPr>
              <a:t>Protocolos de privacidad y Ley 1581 de 2012. Identificación de variables.</a:t>
            </a:r>
          </a:p>
        </p:txBody>
      </p:sp>
      <p:sp>
        <p:nvSpPr>
          <p:cNvPr id="10" name="Rectangle 9"/>
          <p:cNvSpPr/>
          <p:nvPr/>
        </p:nvSpPr>
        <p:spPr>
          <a:xfrm>
            <a:off x="2606039" y="1463040"/>
            <a:ext cx="2194560" cy="347472"/>
          </a:xfrm>
          <a:prstGeom prst="rect">
            <a:avLst/>
          </a:prstGeom>
          <a:solidFill>
            <a:srgbClr val="4DA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679191" y="1490472"/>
            <a:ext cx="2057400" cy="292608"/>
          </a:xfrm>
          <a:prstGeom prst="rect">
            <a:avLst/>
          </a:prstGeom>
          <a:noFill/>
        </p:spPr>
        <p:txBody>
          <a:bodyPr wrap="square">
            <a:spAutoFit/>
          </a:bodyPr>
          <a:lstStyle/>
          <a:p>
            <a:pPr algn="l"/>
            <a:r>
              <a:rPr sz="1100" b="1">
                <a:solidFill>
                  <a:srgbClr val="FFFFFF"/>
                </a:solidFill>
                <a:latin typeface="Century Gothic"/>
              </a:rPr>
              <a:t>Fase 2</a:t>
            </a:r>
          </a:p>
        </p:txBody>
      </p:sp>
      <p:sp>
        <p:nvSpPr>
          <p:cNvPr id="12" name="Rectangle 11"/>
          <p:cNvSpPr/>
          <p:nvPr/>
        </p:nvSpPr>
        <p:spPr>
          <a:xfrm>
            <a:off x="2606039" y="1810512"/>
            <a:ext cx="2194560" cy="59436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79191" y="1847088"/>
            <a:ext cx="2057400" cy="521207"/>
          </a:xfrm>
          <a:prstGeom prst="rect">
            <a:avLst/>
          </a:prstGeom>
          <a:noFill/>
        </p:spPr>
        <p:txBody>
          <a:bodyPr wrap="square">
            <a:spAutoFit/>
          </a:bodyPr>
          <a:lstStyle/>
          <a:p>
            <a:pPr algn="l"/>
            <a:r>
              <a:rPr sz="1100" b="1">
                <a:solidFill>
                  <a:srgbClr val="000000"/>
                </a:solidFill>
                <a:latin typeface="Century Gothic"/>
              </a:rPr>
              <a:t>Ingesta de
Datos</a:t>
            </a:r>
          </a:p>
        </p:txBody>
      </p:sp>
      <p:sp>
        <p:nvSpPr>
          <p:cNvPr id="14" name="TextBox 13"/>
          <p:cNvSpPr txBox="1"/>
          <p:nvPr/>
        </p:nvSpPr>
        <p:spPr>
          <a:xfrm>
            <a:off x="2679191" y="2450592"/>
            <a:ext cx="2057400" cy="868680"/>
          </a:xfrm>
          <a:prstGeom prst="rect">
            <a:avLst/>
          </a:prstGeom>
          <a:noFill/>
        </p:spPr>
        <p:txBody>
          <a:bodyPr wrap="square">
            <a:spAutoFit/>
          </a:bodyPr>
          <a:lstStyle/>
          <a:p>
            <a:pPr algn="l"/>
            <a:r>
              <a:rPr sz="1000" b="0">
                <a:solidFill>
                  <a:srgbClr val="000000"/>
                </a:solidFill>
                <a:latin typeface="Century Gothic"/>
              </a:rPr>
              <a:t>Histórico académico 10 semestres + logs LMS + datos de movilidad.</a:t>
            </a:r>
          </a:p>
        </p:txBody>
      </p:sp>
      <p:sp>
        <p:nvSpPr>
          <p:cNvPr id="15" name="Rectangle 14"/>
          <p:cNvSpPr/>
          <p:nvPr/>
        </p:nvSpPr>
        <p:spPr>
          <a:xfrm>
            <a:off x="4937759" y="1463040"/>
            <a:ext cx="2194560" cy="347472"/>
          </a:xfrm>
          <a:prstGeom prst="rect">
            <a:avLst/>
          </a:prstGeom>
          <a:solidFill>
            <a:srgbClr val="94C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10912" y="1490472"/>
            <a:ext cx="2057400" cy="292608"/>
          </a:xfrm>
          <a:prstGeom prst="rect">
            <a:avLst/>
          </a:prstGeom>
          <a:noFill/>
        </p:spPr>
        <p:txBody>
          <a:bodyPr wrap="square">
            <a:spAutoFit/>
          </a:bodyPr>
          <a:lstStyle/>
          <a:p>
            <a:pPr algn="l"/>
            <a:r>
              <a:rPr sz="1100" b="1">
                <a:solidFill>
                  <a:srgbClr val="000000"/>
                </a:solidFill>
                <a:latin typeface="Century Gothic"/>
              </a:rPr>
              <a:t>Fase 3</a:t>
            </a:r>
          </a:p>
        </p:txBody>
      </p:sp>
      <p:sp>
        <p:nvSpPr>
          <p:cNvPr id="17" name="Rectangle 16"/>
          <p:cNvSpPr/>
          <p:nvPr/>
        </p:nvSpPr>
        <p:spPr>
          <a:xfrm>
            <a:off x="4937759" y="1810512"/>
            <a:ext cx="2194560" cy="594360"/>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10912" y="1847088"/>
            <a:ext cx="2057400" cy="521207"/>
          </a:xfrm>
          <a:prstGeom prst="rect">
            <a:avLst/>
          </a:prstGeom>
          <a:noFill/>
        </p:spPr>
        <p:txBody>
          <a:bodyPr wrap="square">
            <a:spAutoFit/>
          </a:bodyPr>
          <a:lstStyle/>
          <a:p>
            <a:pPr algn="l"/>
            <a:r>
              <a:rPr sz="1100" b="1">
                <a:solidFill>
                  <a:srgbClr val="000000"/>
                </a:solidFill>
                <a:latin typeface="Century Gothic"/>
              </a:rPr>
              <a:t>Ingeniería de
Características</a:t>
            </a:r>
          </a:p>
        </p:txBody>
      </p:sp>
      <p:sp>
        <p:nvSpPr>
          <p:cNvPr id="19" name="TextBox 18"/>
          <p:cNvSpPr txBox="1"/>
          <p:nvPr/>
        </p:nvSpPr>
        <p:spPr>
          <a:xfrm>
            <a:off x="5010912" y="2450592"/>
            <a:ext cx="2057400" cy="868680"/>
          </a:xfrm>
          <a:prstGeom prst="rect">
            <a:avLst/>
          </a:prstGeom>
          <a:noFill/>
        </p:spPr>
        <p:txBody>
          <a:bodyPr wrap="square">
            <a:spAutoFit/>
          </a:bodyPr>
          <a:lstStyle/>
          <a:p>
            <a:pPr algn="l"/>
            <a:r>
              <a:rPr sz="1000" b="0">
                <a:solidFill>
                  <a:srgbClr val="000000"/>
                </a:solidFill>
                <a:latin typeface="Century Gothic"/>
              </a:rPr>
              <a:t>Índices dinámicos: Fatiga Urbana, Desvinculación Digital, Elasticidad Laboral.</a:t>
            </a:r>
          </a:p>
        </p:txBody>
      </p:sp>
      <p:sp>
        <p:nvSpPr>
          <p:cNvPr id="20" name="Rectangle 19"/>
          <p:cNvSpPr/>
          <p:nvPr/>
        </p:nvSpPr>
        <p:spPr>
          <a:xfrm>
            <a:off x="7269479" y="1463040"/>
            <a:ext cx="2194560" cy="347472"/>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42631" y="1490472"/>
            <a:ext cx="2057400" cy="292608"/>
          </a:xfrm>
          <a:prstGeom prst="rect">
            <a:avLst/>
          </a:prstGeom>
          <a:noFill/>
        </p:spPr>
        <p:txBody>
          <a:bodyPr wrap="square">
            <a:spAutoFit/>
          </a:bodyPr>
          <a:lstStyle/>
          <a:p>
            <a:pPr algn="l"/>
            <a:r>
              <a:rPr sz="1100" b="1">
                <a:solidFill>
                  <a:srgbClr val="FFFFFF"/>
                </a:solidFill>
                <a:latin typeface="Century Gothic"/>
              </a:rPr>
              <a:t>Fase 4</a:t>
            </a:r>
          </a:p>
        </p:txBody>
      </p:sp>
      <p:sp>
        <p:nvSpPr>
          <p:cNvPr id="22" name="Rectangle 21"/>
          <p:cNvSpPr/>
          <p:nvPr/>
        </p:nvSpPr>
        <p:spPr>
          <a:xfrm>
            <a:off x="7269479" y="1810512"/>
            <a:ext cx="2194560" cy="59436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42631" y="1847088"/>
            <a:ext cx="2057400" cy="521207"/>
          </a:xfrm>
          <a:prstGeom prst="rect">
            <a:avLst/>
          </a:prstGeom>
          <a:noFill/>
        </p:spPr>
        <p:txBody>
          <a:bodyPr wrap="square">
            <a:spAutoFit/>
          </a:bodyPr>
          <a:lstStyle/>
          <a:p>
            <a:pPr algn="l"/>
            <a:r>
              <a:rPr sz="1100" b="1">
                <a:solidFill>
                  <a:srgbClr val="000000"/>
                </a:solidFill>
                <a:latin typeface="Century Gothic"/>
              </a:rPr>
              <a:t>Modelado</a:t>
            </a:r>
          </a:p>
        </p:txBody>
      </p:sp>
      <p:sp>
        <p:nvSpPr>
          <p:cNvPr id="24" name="TextBox 23"/>
          <p:cNvSpPr txBox="1"/>
          <p:nvPr/>
        </p:nvSpPr>
        <p:spPr>
          <a:xfrm>
            <a:off x="7342631" y="2450592"/>
            <a:ext cx="2057400" cy="868680"/>
          </a:xfrm>
          <a:prstGeom prst="rect">
            <a:avLst/>
          </a:prstGeom>
          <a:noFill/>
        </p:spPr>
        <p:txBody>
          <a:bodyPr wrap="square">
            <a:spAutoFit/>
          </a:bodyPr>
          <a:lstStyle/>
          <a:p>
            <a:pPr algn="l"/>
            <a:r>
              <a:rPr sz="1000" b="0">
                <a:solidFill>
                  <a:srgbClr val="000000"/>
                </a:solidFill>
                <a:latin typeface="Century Gothic"/>
              </a:rPr>
              <a:t>Entrenamiento RF y XGBoost. Validación cruzada 5-fold. Métricas AUC/F1.</a:t>
            </a:r>
          </a:p>
        </p:txBody>
      </p:sp>
      <p:sp>
        <p:nvSpPr>
          <p:cNvPr id="25" name="Rectangle 24"/>
          <p:cNvSpPr/>
          <p:nvPr/>
        </p:nvSpPr>
        <p:spPr>
          <a:xfrm>
            <a:off x="9601200" y="1463040"/>
            <a:ext cx="2194560" cy="347472"/>
          </a:xfrm>
          <a:prstGeom prst="rect">
            <a:avLst/>
          </a:prstGeom>
          <a:solidFill>
            <a:srgbClr val="4DA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674352" y="1490472"/>
            <a:ext cx="2057400" cy="292608"/>
          </a:xfrm>
          <a:prstGeom prst="rect">
            <a:avLst/>
          </a:prstGeom>
          <a:noFill/>
        </p:spPr>
        <p:txBody>
          <a:bodyPr wrap="square">
            <a:spAutoFit/>
          </a:bodyPr>
          <a:lstStyle/>
          <a:p>
            <a:pPr algn="l"/>
            <a:r>
              <a:rPr sz="1100" b="1">
                <a:solidFill>
                  <a:srgbClr val="FFFFFF"/>
                </a:solidFill>
                <a:latin typeface="Century Gothic"/>
              </a:rPr>
              <a:t>Fase 5</a:t>
            </a:r>
          </a:p>
        </p:txBody>
      </p:sp>
      <p:sp>
        <p:nvSpPr>
          <p:cNvPr id="27" name="Rectangle 26"/>
          <p:cNvSpPr/>
          <p:nvPr/>
        </p:nvSpPr>
        <p:spPr>
          <a:xfrm>
            <a:off x="9601200" y="1810512"/>
            <a:ext cx="2194560" cy="594360"/>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74352" y="1847088"/>
            <a:ext cx="2057400" cy="521207"/>
          </a:xfrm>
          <a:prstGeom prst="rect">
            <a:avLst/>
          </a:prstGeom>
          <a:noFill/>
        </p:spPr>
        <p:txBody>
          <a:bodyPr wrap="square">
            <a:spAutoFit/>
          </a:bodyPr>
          <a:lstStyle/>
          <a:p>
            <a:pPr algn="l"/>
            <a:r>
              <a:rPr sz="1100" b="1">
                <a:solidFill>
                  <a:srgbClr val="000000"/>
                </a:solidFill>
                <a:latin typeface="Century Gothic"/>
              </a:rPr>
              <a:t>Despliegue</a:t>
            </a:r>
          </a:p>
        </p:txBody>
      </p:sp>
      <p:sp>
        <p:nvSpPr>
          <p:cNvPr id="29" name="TextBox 28"/>
          <p:cNvSpPr txBox="1"/>
          <p:nvPr/>
        </p:nvSpPr>
        <p:spPr>
          <a:xfrm>
            <a:off x="9674352" y="2450592"/>
            <a:ext cx="2057400" cy="868680"/>
          </a:xfrm>
          <a:prstGeom prst="rect">
            <a:avLst/>
          </a:prstGeom>
          <a:noFill/>
        </p:spPr>
        <p:txBody>
          <a:bodyPr wrap="square">
            <a:spAutoFit/>
          </a:bodyPr>
          <a:lstStyle/>
          <a:p>
            <a:pPr algn="l"/>
            <a:r>
              <a:rPr sz="1000" b="0">
                <a:solidFill>
                  <a:srgbClr val="000000"/>
                </a:solidFill>
                <a:latin typeface="Century Gothic"/>
              </a:rPr>
              <a:t>Dashboard institucional + integración con Adviser/RUSIA. Ciclo de mejora.</a:t>
            </a:r>
          </a:p>
        </p:txBody>
      </p:sp>
      <p:sp>
        <p:nvSpPr>
          <p:cNvPr id="30" name="Rectangle 29"/>
          <p:cNvSpPr/>
          <p:nvPr/>
        </p:nvSpPr>
        <p:spPr>
          <a:xfrm>
            <a:off x="274320" y="3474720"/>
            <a:ext cx="11640312" cy="22860"/>
          </a:xfrm>
          <a:prstGeom prst="rect">
            <a:avLst/>
          </a:prstGeom>
          <a:solidFill>
            <a:srgbClr val="94C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74320" y="3584448"/>
            <a:ext cx="11640312" cy="2743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65760" y="3611880"/>
            <a:ext cx="11430000" cy="219456"/>
          </a:xfrm>
          <a:prstGeom prst="rect">
            <a:avLst/>
          </a:prstGeom>
          <a:noFill/>
        </p:spPr>
        <p:txBody>
          <a:bodyPr wrap="square">
            <a:spAutoFit/>
          </a:bodyPr>
          <a:lstStyle/>
          <a:p>
            <a:pPr algn="l"/>
            <a:r>
              <a:rPr sz="1200" b="1">
                <a:solidFill>
                  <a:srgbClr val="FFFFFF"/>
                </a:solidFill>
                <a:latin typeface="Century Gothic"/>
              </a:rPr>
              <a:t>Escala TRL — Nivel de Madurez Tecnológica</a:t>
            </a:r>
          </a:p>
        </p:txBody>
      </p:sp>
      <p:sp>
        <p:nvSpPr>
          <p:cNvPr id="33" name="Rectangle 32"/>
          <p:cNvSpPr/>
          <p:nvPr/>
        </p:nvSpPr>
        <p:spPr>
          <a:xfrm>
            <a:off x="274320" y="3931920"/>
            <a:ext cx="11640312" cy="402336"/>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20040" y="3995928"/>
            <a:ext cx="1005840" cy="274320"/>
          </a:xfrm>
          <a:prstGeom prst="rect">
            <a:avLst/>
          </a:prstGeom>
          <a:noFill/>
        </p:spPr>
        <p:txBody>
          <a:bodyPr wrap="square">
            <a:spAutoFit/>
          </a:bodyPr>
          <a:lstStyle/>
          <a:p>
            <a:pPr algn="l"/>
            <a:r>
              <a:rPr sz="1000" b="1">
                <a:solidFill>
                  <a:srgbClr val="000000"/>
                </a:solidFill>
                <a:latin typeface="Century Gothic"/>
              </a:rPr>
              <a:t>TRL-1</a:t>
            </a:r>
          </a:p>
        </p:txBody>
      </p:sp>
      <p:sp>
        <p:nvSpPr>
          <p:cNvPr id="35" name="TextBox 34"/>
          <p:cNvSpPr txBox="1"/>
          <p:nvPr/>
        </p:nvSpPr>
        <p:spPr>
          <a:xfrm>
            <a:off x="1417320" y="3995928"/>
            <a:ext cx="3474720" cy="274320"/>
          </a:xfrm>
          <a:prstGeom prst="rect">
            <a:avLst/>
          </a:prstGeom>
          <a:noFill/>
        </p:spPr>
        <p:txBody>
          <a:bodyPr wrap="square">
            <a:spAutoFit/>
          </a:bodyPr>
          <a:lstStyle/>
          <a:p>
            <a:pPr algn="l"/>
            <a:r>
              <a:rPr sz="1000" b="1">
                <a:solidFill>
                  <a:srgbClr val="000000"/>
                </a:solidFill>
                <a:latin typeface="Century Gothic"/>
              </a:rPr>
              <a:t>Principios básicos observados</a:t>
            </a:r>
          </a:p>
        </p:txBody>
      </p:sp>
      <p:sp>
        <p:nvSpPr>
          <p:cNvPr id="36" name="TextBox 35"/>
          <p:cNvSpPr txBox="1"/>
          <p:nvPr/>
        </p:nvSpPr>
        <p:spPr>
          <a:xfrm>
            <a:off x="4983480" y="3995928"/>
            <a:ext cx="6858000" cy="274320"/>
          </a:xfrm>
          <a:prstGeom prst="rect">
            <a:avLst/>
          </a:prstGeom>
          <a:noFill/>
        </p:spPr>
        <p:txBody>
          <a:bodyPr wrap="square">
            <a:spAutoFit/>
          </a:bodyPr>
          <a:lstStyle/>
          <a:p>
            <a:pPr algn="l"/>
            <a:r>
              <a:rPr sz="1000" b="0">
                <a:solidFill>
                  <a:srgbClr val="000000"/>
                </a:solidFill>
                <a:latin typeface="Century Gothic"/>
              </a:rPr>
              <a:t>Análisis bibliográfico y caracterización del problema</a:t>
            </a:r>
          </a:p>
        </p:txBody>
      </p:sp>
      <p:sp>
        <p:nvSpPr>
          <p:cNvPr id="37" name="Rectangle 36"/>
          <p:cNvSpPr/>
          <p:nvPr/>
        </p:nvSpPr>
        <p:spPr>
          <a:xfrm>
            <a:off x="274320" y="4370831"/>
            <a:ext cx="11640312" cy="402336"/>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20040" y="4434840"/>
            <a:ext cx="1005840" cy="274320"/>
          </a:xfrm>
          <a:prstGeom prst="rect">
            <a:avLst/>
          </a:prstGeom>
          <a:noFill/>
        </p:spPr>
        <p:txBody>
          <a:bodyPr wrap="square">
            <a:spAutoFit/>
          </a:bodyPr>
          <a:lstStyle/>
          <a:p>
            <a:pPr algn="l"/>
            <a:r>
              <a:rPr sz="1000" b="1">
                <a:solidFill>
                  <a:srgbClr val="000000"/>
                </a:solidFill>
                <a:latin typeface="Century Gothic"/>
              </a:rPr>
              <a:t>TRL-2</a:t>
            </a:r>
          </a:p>
        </p:txBody>
      </p:sp>
      <p:sp>
        <p:nvSpPr>
          <p:cNvPr id="39" name="TextBox 38"/>
          <p:cNvSpPr txBox="1"/>
          <p:nvPr/>
        </p:nvSpPr>
        <p:spPr>
          <a:xfrm>
            <a:off x="1417320" y="4434840"/>
            <a:ext cx="3474720" cy="274320"/>
          </a:xfrm>
          <a:prstGeom prst="rect">
            <a:avLst/>
          </a:prstGeom>
          <a:noFill/>
        </p:spPr>
        <p:txBody>
          <a:bodyPr wrap="square">
            <a:spAutoFit/>
          </a:bodyPr>
          <a:lstStyle/>
          <a:p>
            <a:pPr algn="l"/>
            <a:r>
              <a:rPr sz="1000" b="1">
                <a:solidFill>
                  <a:srgbClr val="000000"/>
                </a:solidFill>
                <a:latin typeface="Century Gothic"/>
              </a:rPr>
              <a:t>Concepto formulado</a:t>
            </a:r>
          </a:p>
        </p:txBody>
      </p:sp>
      <p:sp>
        <p:nvSpPr>
          <p:cNvPr id="40" name="TextBox 39"/>
          <p:cNvSpPr txBox="1"/>
          <p:nvPr/>
        </p:nvSpPr>
        <p:spPr>
          <a:xfrm>
            <a:off x="4983480" y="4434840"/>
            <a:ext cx="6858000" cy="274320"/>
          </a:xfrm>
          <a:prstGeom prst="rect">
            <a:avLst/>
          </a:prstGeom>
          <a:noFill/>
        </p:spPr>
        <p:txBody>
          <a:bodyPr wrap="square">
            <a:spAutoFit/>
          </a:bodyPr>
          <a:lstStyle/>
          <a:p>
            <a:pPr algn="l"/>
            <a:r>
              <a:rPr sz="1000" b="0">
                <a:solidFill>
                  <a:srgbClr val="000000"/>
                </a:solidFill>
                <a:latin typeface="Century Gothic"/>
              </a:rPr>
              <a:t>Diseño de variables dinámicas e hipótesis de trabajo</a:t>
            </a:r>
          </a:p>
        </p:txBody>
      </p:sp>
      <p:sp>
        <p:nvSpPr>
          <p:cNvPr id="41" name="Rectangle 40"/>
          <p:cNvSpPr/>
          <p:nvPr/>
        </p:nvSpPr>
        <p:spPr>
          <a:xfrm>
            <a:off x="274320" y="4809744"/>
            <a:ext cx="11640312" cy="402336"/>
          </a:xfrm>
          <a:prstGeom prst="rect">
            <a:avLst/>
          </a:prstGeom>
          <a:solidFill>
            <a:srgbClr val="94C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20040" y="4873752"/>
            <a:ext cx="1005840" cy="274320"/>
          </a:xfrm>
          <a:prstGeom prst="rect">
            <a:avLst/>
          </a:prstGeom>
          <a:noFill/>
        </p:spPr>
        <p:txBody>
          <a:bodyPr wrap="square">
            <a:spAutoFit/>
          </a:bodyPr>
          <a:lstStyle/>
          <a:p>
            <a:pPr algn="l"/>
            <a:r>
              <a:rPr sz="1000" b="1">
                <a:solidFill>
                  <a:srgbClr val="287840"/>
                </a:solidFill>
                <a:latin typeface="Century Gothic"/>
              </a:rPr>
              <a:t>TRL-3 ✓</a:t>
            </a:r>
          </a:p>
        </p:txBody>
      </p:sp>
      <p:sp>
        <p:nvSpPr>
          <p:cNvPr id="43" name="TextBox 42"/>
          <p:cNvSpPr txBox="1"/>
          <p:nvPr/>
        </p:nvSpPr>
        <p:spPr>
          <a:xfrm>
            <a:off x="1417320" y="4873752"/>
            <a:ext cx="3474720" cy="274320"/>
          </a:xfrm>
          <a:prstGeom prst="rect">
            <a:avLst/>
          </a:prstGeom>
          <a:noFill/>
        </p:spPr>
        <p:txBody>
          <a:bodyPr wrap="square">
            <a:spAutoFit/>
          </a:bodyPr>
          <a:lstStyle/>
          <a:p>
            <a:pPr algn="l"/>
            <a:r>
              <a:rPr sz="1000" b="1">
                <a:solidFill>
                  <a:srgbClr val="000000"/>
                </a:solidFill>
                <a:latin typeface="Century Gothic"/>
              </a:rPr>
              <a:t>Prueba experimental</a:t>
            </a:r>
          </a:p>
        </p:txBody>
      </p:sp>
      <p:sp>
        <p:nvSpPr>
          <p:cNvPr id="44" name="TextBox 43"/>
          <p:cNvSpPr txBox="1"/>
          <p:nvPr/>
        </p:nvSpPr>
        <p:spPr>
          <a:xfrm>
            <a:off x="4983480" y="4873752"/>
            <a:ext cx="6858000" cy="246221"/>
          </a:xfrm>
          <a:prstGeom prst="rect">
            <a:avLst/>
          </a:prstGeom>
          <a:noFill/>
        </p:spPr>
        <p:txBody>
          <a:bodyPr wrap="square">
            <a:spAutoFit/>
          </a:bodyPr>
          <a:lstStyle/>
          <a:p>
            <a:pPr algn="l"/>
            <a:r>
              <a:rPr sz="1000" b="0" dirty="0" err="1">
                <a:solidFill>
                  <a:srgbClr val="000000"/>
                </a:solidFill>
                <a:latin typeface="Century Gothic"/>
              </a:rPr>
              <a:t>Entrenamiento</a:t>
            </a:r>
            <a:r>
              <a:rPr sz="1000" b="0" dirty="0">
                <a:solidFill>
                  <a:srgbClr val="000000"/>
                </a:solidFill>
                <a:latin typeface="Century Gothic"/>
              </a:rPr>
              <a:t> con </a:t>
            </a:r>
            <a:r>
              <a:rPr sz="1000" b="0" dirty="0" err="1">
                <a:solidFill>
                  <a:srgbClr val="000000"/>
                </a:solidFill>
                <a:latin typeface="Century Gothic"/>
              </a:rPr>
              <a:t>datos</a:t>
            </a:r>
            <a:r>
              <a:rPr sz="1000" b="0" dirty="0">
                <a:solidFill>
                  <a:srgbClr val="000000"/>
                </a:solidFill>
                <a:latin typeface="Century Gothic"/>
              </a:rPr>
              <a:t> </a:t>
            </a:r>
            <a:r>
              <a:rPr sz="1000" b="0" dirty="0" err="1">
                <a:solidFill>
                  <a:srgbClr val="000000"/>
                </a:solidFill>
                <a:latin typeface="Century Gothic"/>
              </a:rPr>
              <a:t>sintéticos</a:t>
            </a:r>
            <a:r>
              <a:rPr sz="1000" b="0" dirty="0">
                <a:solidFill>
                  <a:srgbClr val="000000"/>
                </a:solidFill>
                <a:latin typeface="Century Gothic"/>
              </a:rPr>
              <a:t> — </a:t>
            </a:r>
            <a:r>
              <a:rPr lang="es-ES" sz="1000" b="0" dirty="0">
                <a:solidFill>
                  <a:srgbClr val="000000"/>
                </a:solidFill>
                <a:latin typeface="Century Gothic"/>
              </a:rPr>
              <a:t>EN PROCESO</a:t>
            </a:r>
            <a:endParaRPr sz="1000" b="0" dirty="0">
              <a:solidFill>
                <a:srgbClr val="000000"/>
              </a:solidFill>
              <a:latin typeface="Century Gothic"/>
            </a:endParaRPr>
          </a:p>
        </p:txBody>
      </p:sp>
      <p:sp>
        <p:nvSpPr>
          <p:cNvPr id="45" name="Rectangle 44"/>
          <p:cNvSpPr/>
          <p:nvPr/>
        </p:nvSpPr>
        <p:spPr>
          <a:xfrm>
            <a:off x="274320" y="5248656"/>
            <a:ext cx="11640312" cy="402336"/>
          </a:xfrm>
          <a:prstGeom prst="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20040" y="5312664"/>
            <a:ext cx="1005840" cy="274320"/>
          </a:xfrm>
          <a:prstGeom prst="rect">
            <a:avLst/>
          </a:prstGeom>
          <a:noFill/>
        </p:spPr>
        <p:txBody>
          <a:bodyPr wrap="square">
            <a:spAutoFit/>
          </a:bodyPr>
          <a:lstStyle/>
          <a:p>
            <a:pPr algn="l"/>
            <a:r>
              <a:rPr sz="1000" b="1">
                <a:solidFill>
                  <a:srgbClr val="000000"/>
                </a:solidFill>
                <a:latin typeface="Century Gothic"/>
              </a:rPr>
              <a:t>TRL-4</a:t>
            </a:r>
          </a:p>
        </p:txBody>
      </p:sp>
      <p:sp>
        <p:nvSpPr>
          <p:cNvPr id="47" name="TextBox 46"/>
          <p:cNvSpPr txBox="1"/>
          <p:nvPr/>
        </p:nvSpPr>
        <p:spPr>
          <a:xfrm>
            <a:off x="1417320" y="5312664"/>
            <a:ext cx="3474720" cy="274320"/>
          </a:xfrm>
          <a:prstGeom prst="rect">
            <a:avLst/>
          </a:prstGeom>
          <a:noFill/>
        </p:spPr>
        <p:txBody>
          <a:bodyPr wrap="square">
            <a:spAutoFit/>
          </a:bodyPr>
          <a:lstStyle/>
          <a:p>
            <a:pPr algn="l"/>
            <a:r>
              <a:rPr sz="1000" b="1">
                <a:solidFill>
                  <a:srgbClr val="000000"/>
                </a:solidFill>
                <a:latin typeface="Century Gothic"/>
              </a:rPr>
              <a:t>Validación en laboratorio</a:t>
            </a:r>
          </a:p>
        </p:txBody>
      </p:sp>
      <p:sp>
        <p:nvSpPr>
          <p:cNvPr id="48" name="TextBox 47"/>
          <p:cNvSpPr txBox="1"/>
          <p:nvPr/>
        </p:nvSpPr>
        <p:spPr>
          <a:xfrm>
            <a:off x="4983480" y="5312664"/>
            <a:ext cx="6858000" cy="274320"/>
          </a:xfrm>
          <a:prstGeom prst="rect">
            <a:avLst/>
          </a:prstGeom>
          <a:noFill/>
        </p:spPr>
        <p:txBody>
          <a:bodyPr wrap="square">
            <a:spAutoFit/>
          </a:bodyPr>
          <a:lstStyle/>
          <a:p>
            <a:pPr algn="l"/>
            <a:r>
              <a:rPr sz="1000" b="0">
                <a:solidFill>
                  <a:srgbClr val="B4B3B6"/>
                </a:solidFill>
                <a:latin typeface="Century Gothic"/>
              </a:rPr>
              <a:t>Prueba con datos reales ETITC — PRÓXIMO PASO</a:t>
            </a:r>
          </a:p>
        </p:txBody>
      </p:sp>
      <p:sp>
        <p:nvSpPr>
          <p:cNvPr id="49" name="Rectangle 48"/>
          <p:cNvSpPr/>
          <p:nvPr/>
        </p:nvSpPr>
        <p:spPr>
          <a:xfrm>
            <a:off x="0" y="6565392"/>
            <a:ext cx="12188952" cy="292608"/>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82880" y="6574536"/>
            <a:ext cx="11795760" cy="274320"/>
          </a:xfrm>
          <a:prstGeom prst="rect">
            <a:avLst/>
          </a:prstGeom>
          <a:noFill/>
        </p:spPr>
        <p:txBody>
          <a:bodyPr wrap="square">
            <a:spAutoFit/>
          </a:bodyPr>
          <a:lstStyle/>
          <a:p>
            <a:pPr algn="l"/>
            <a:r>
              <a:rPr sz="900" b="0">
                <a:solidFill>
                  <a:srgbClr val="FFFFFF"/>
                </a:solidFill>
                <a:latin typeface="Century Gothic"/>
              </a:rPr>
              <a:t>Jhon A. Correal M.  ·  Rafael A. Guzmán R.  ·  Docente: D. C. Alvarado M.  ·  ETITC  ·  Mayo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887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0972800" cy="621792"/>
          </a:xfrm>
          <a:prstGeom prst="rect">
            <a:avLst/>
          </a:prstGeom>
          <a:noFill/>
        </p:spPr>
        <p:txBody>
          <a:bodyPr wrap="square">
            <a:spAutoFit/>
          </a:bodyPr>
          <a:lstStyle/>
          <a:p>
            <a:pPr algn="l"/>
            <a:r>
              <a:rPr sz="2800" b="1">
                <a:solidFill>
                  <a:srgbClr val="FFFFFF"/>
                </a:solidFill>
                <a:latin typeface="Century Gothic"/>
              </a:rPr>
              <a:t>Marco de Referencia</a:t>
            </a:r>
          </a:p>
        </p:txBody>
      </p:sp>
      <p:sp>
        <p:nvSpPr>
          <p:cNvPr id="4" name="TextBox 3"/>
          <p:cNvSpPr txBox="1"/>
          <p:nvPr/>
        </p:nvSpPr>
        <p:spPr>
          <a:xfrm>
            <a:off x="274320" y="676656"/>
            <a:ext cx="10972800" cy="411480"/>
          </a:xfrm>
          <a:prstGeom prst="rect">
            <a:avLst/>
          </a:prstGeom>
          <a:noFill/>
        </p:spPr>
        <p:txBody>
          <a:bodyPr wrap="square">
            <a:spAutoFit/>
          </a:bodyPr>
          <a:lstStyle/>
          <a:p>
            <a:pPr algn="l"/>
            <a:r>
              <a:rPr sz="1300" b="0">
                <a:solidFill>
                  <a:srgbClr val="94C121"/>
                </a:solidFill>
                <a:latin typeface="Century Gothic"/>
              </a:rPr>
              <a:t>Conceptual · Teórico · Normativo · Ambiental</a:t>
            </a:r>
          </a:p>
        </p:txBody>
      </p:sp>
      <p:sp>
        <p:nvSpPr>
          <p:cNvPr id="5" name="Rectangle 4"/>
          <p:cNvSpPr/>
          <p:nvPr/>
        </p:nvSpPr>
        <p:spPr>
          <a:xfrm>
            <a:off x="1682432" y="1536192"/>
            <a:ext cx="2834640" cy="2743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755584" y="1563624"/>
            <a:ext cx="2697480" cy="219456"/>
          </a:xfrm>
          <a:prstGeom prst="rect">
            <a:avLst/>
          </a:prstGeom>
          <a:noFill/>
        </p:spPr>
        <p:txBody>
          <a:bodyPr wrap="square">
            <a:spAutoFit/>
          </a:bodyPr>
          <a:lstStyle/>
          <a:p>
            <a:pPr algn="l"/>
            <a:r>
              <a:rPr sz="1200" b="1">
                <a:solidFill>
                  <a:srgbClr val="FFFFFF"/>
                </a:solidFill>
                <a:latin typeface="Century Gothic"/>
              </a:rPr>
              <a:t>Conceptual</a:t>
            </a:r>
          </a:p>
        </p:txBody>
      </p:sp>
      <p:sp>
        <p:nvSpPr>
          <p:cNvPr id="7" name="TextBox 6"/>
          <p:cNvSpPr txBox="1"/>
          <p:nvPr/>
        </p:nvSpPr>
        <p:spPr>
          <a:xfrm>
            <a:off x="1773872" y="1911096"/>
            <a:ext cx="2651760" cy="822960"/>
          </a:xfrm>
          <a:prstGeom prst="rect">
            <a:avLst/>
          </a:prstGeom>
          <a:noFill/>
        </p:spPr>
        <p:txBody>
          <a:bodyPr wrap="square">
            <a:spAutoFit/>
          </a:bodyPr>
          <a:lstStyle/>
          <a:p>
            <a:pPr algn="l"/>
            <a:r>
              <a:rPr sz="1000" b="0">
                <a:solidFill>
                  <a:srgbClr val="000000"/>
                </a:solidFill>
                <a:latin typeface="Century Gothic"/>
              </a:rPr>
              <a:t>• Deserción: interrupción antes de titularse (Tinto, 1975).</a:t>
            </a:r>
          </a:p>
        </p:txBody>
      </p:sp>
      <p:sp>
        <p:nvSpPr>
          <p:cNvPr id="8" name="TextBox 7"/>
          <p:cNvSpPr txBox="1"/>
          <p:nvPr/>
        </p:nvSpPr>
        <p:spPr>
          <a:xfrm>
            <a:off x="1773872" y="2880360"/>
            <a:ext cx="2651760" cy="822960"/>
          </a:xfrm>
          <a:prstGeom prst="rect">
            <a:avLst/>
          </a:prstGeom>
          <a:noFill/>
        </p:spPr>
        <p:txBody>
          <a:bodyPr wrap="square">
            <a:spAutoFit/>
          </a:bodyPr>
          <a:lstStyle/>
          <a:p>
            <a:pPr algn="l"/>
            <a:r>
              <a:rPr sz="1000" b="0">
                <a:solidFill>
                  <a:srgbClr val="000000"/>
                </a:solidFill>
                <a:latin typeface="Century Gothic"/>
              </a:rPr>
              <a:t>• Variables dinámicas: indicadores semana a semana (LMS, movilidad, carga laboral).</a:t>
            </a:r>
          </a:p>
        </p:txBody>
      </p:sp>
      <p:sp>
        <p:nvSpPr>
          <p:cNvPr id="9" name="TextBox 8"/>
          <p:cNvSpPr txBox="1"/>
          <p:nvPr/>
        </p:nvSpPr>
        <p:spPr>
          <a:xfrm>
            <a:off x="1773872" y="3849624"/>
            <a:ext cx="2651760" cy="822960"/>
          </a:xfrm>
          <a:prstGeom prst="rect">
            <a:avLst/>
          </a:prstGeom>
          <a:noFill/>
        </p:spPr>
        <p:txBody>
          <a:bodyPr wrap="square">
            <a:spAutoFit/>
          </a:bodyPr>
          <a:lstStyle/>
          <a:p>
            <a:pPr algn="l"/>
            <a:r>
              <a:rPr sz="1000" b="0">
                <a:solidFill>
                  <a:srgbClr val="000000"/>
                </a:solidFill>
                <a:latin typeface="Century Gothic"/>
              </a:rPr>
              <a:t>• EDM — Educational Data Mining: extracción de patrones en sistemas académicos (Romero &amp; Ventura, 2010).</a:t>
            </a:r>
          </a:p>
        </p:txBody>
      </p:sp>
      <p:sp>
        <p:nvSpPr>
          <p:cNvPr id="10" name="Rectangle 9"/>
          <p:cNvSpPr/>
          <p:nvPr/>
        </p:nvSpPr>
        <p:spPr>
          <a:xfrm>
            <a:off x="4672520" y="1536192"/>
            <a:ext cx="2834640" cy="274320"/>
          </a:xfrm>
          <a:prstGeom prst="rect">
            <a:avLst/>
          </a:prstGeom>
          <a:solidFill>
            <a:srgbClr val="4DA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45672" y="1563624"/>
            <a:ext cx="2697480" cy="219456"/>
          </a:xfrm>
          <a:prstGeom prst="rect">
            <a:avLst/>
          </a:prstGeom>
          <a:noFill/>
        </p:spPr>
        <p:txBody>
          <a:bodyPr wrap="square">
            <a:spAutoFit/>
          </a:bodyPr>
          <a:lstStyle/>
          <a:p>
            <a:pPr algn="l"/>
            <a:r>
              <a:rPr sz="1200" b="1">
                <a:solidFill>
                  <a:srgbClr val="FFFFFF"/>
                </a:solidFill>
                <a:latin typeface="Century Gothic"/>
              </a:rPr>
              <a:t>Teórico</a:t>
            </a:r>
          </a:p>
        </p:txBody>
      </p:sp>
      <p:sp>
        <p:nvSpPr>
          <p:cNvPr id="12" name="TextBox 11"/>
          <p:cNvSpPr txBox="1"/>
          <p:nvPr/>
        </p:nvSpPr>
        <p:spPr>
          <a:xfrm>
            <a:off x="4763960" y="1911096"/>
            <a:ext cx="2651760" cy="822960"/>
          </a:xfrm>
          <a:prstGeom prst="rect">
            <a:avLst/>
          </a:prstGeom>
          <a:noFill/>
        </p:spPr>
        <p:txBody>
          <a:bodyPr wrap="square">
            <a:spAutoFit/>
          </a:bodyPr>
          <a:lstStyle/>
          <a:p>
            <a:pPr algn="l"/>
            <a:r>
              <a:rPr sz="1000" b="0">
                <a:solidFill>
                  <a:srgbClr val="000000"/>
                </a:solidFill>
                <a:latin typeface="Century Gothic"/>
              </a:rPr>
              <a:t>• Modelo de integración académica y social de Tinto (1975).</a:t>
            </a:r>
          </a:p>
        </p:txBody>
      </p:sp>
      <p:sp>
        <p:nvSpPr>
          <p:cNvPr id="13" name="TextBox 12"/>
          <p:cNvSpPr txBox="1"/>
          <p:nvPr/>
        </p:nvSpPr>
        <p:spPr>
          <a:xfrm>
            <a:off x="4763960" y="2880360"/>
            <a:ext cx="2651760" cy="822960"/>
          </a:xfrm>
          <a:prstGeom prst="rect">
            <a:avLst/>
          </a:prstGeom>
          <a:noFill/>
        </p:spPr>
        <p:txBody>
          <a:bodyPr wrap="square">
            <a:spAutoFit/>
          </a:bodyPr>
          <a:lstStyle/>
          <a:p>
            <a:pPr algn="l"/>
            <a:r>
              <a:rPr sz="1000" b="0">
                <a:solidFill>
                  <a:srgbClr val="000000"/>
                </a:solidFill>
                <a:latin typeface="Century Gothic"/>
              </a:rPr>
              <a:t>• Random Forest: ensamble de árboles de decisión (Breiman, 2001).</a:t>
            </a:r>
          </a:p>
        </p:txBody>
      </p:sp>
      <p:sp>
        <p:nvSpPr>
          <p:cNvPr id="14" name="TextBox 13"/>
          <p:cNvSpPr txBox="1"/>
          <p:nvPr/>
        </p:nvSpPr>
        <p:spPr>
          <a:xfrm>
            <a:off x="4763960" y="3849624"/>
            <a:ext cx="2651760" cy="822960"/>
          </a:xfrm>
          <a:prstGeom prst="rect">
            <a:avLst/>
          </a:prstGeom>
          <a:noFill/>
        </p:spPr>
        <p:txBody>
          <a:bodyPr wrap="square">
            <a:spAutoFit/>
          </a:bodyPr>
          <a:lstStyle/>
          <a:p>
            <a:pPr algn="l"/>
            <a:r>
              <a:rPr sz="1000" b="0">
                <a:solidFill>
                  <a:srgbClr val="000000"/>
                </a:solidFill>
                <a:latin typeface="Century Gothic"/>
              </a:rPr>
              <a:t>• XGBoost: boosting de gradiente optimizado (Chen &amp; Guestrin, 2016).</a:t>
            </a:r>
          </a:p>
        </p:txBody>
      </p:sp>
      <p:sp>
        <p:nvSpPr>
          <p:cNvPr id="15" name="Rectangle 14"/>
          <p:cNvSpPr/>
          <p:nvPr/>
        </p:nvSpPr>
        <p:spPr>
          <a:xfrm>
            <a:off x="7662608" y="1536192"/>
            <a:ext cx="2834640" cy="2743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35760" y="1563624"/>
            <a:ext cx="2697480" cy="219456"/>
          </a:xfrm>
          <a:prstGeom prst="rect">
            <a:avLst/>
          </a:prstGeom>
          <a:noFill/>
        </p:spPr>
        <p:txBody>
          <a:bodyPr wrap="square">
            <a:spAutoFit/>
          </a:bodyPr>
          <a:lstStyle/>
          <a:p>
            <a:pPr algn="l"/>
            <a:r>
              <a:rPr sz="1200" b="1">
                <a:solidFill>
                  <a:srgbClr val="FFFFFF"/>
                </a:solidFill>
                <a:latin typeface="Century Gothic"/>
              </a:rPr>
              <a:t>Normativo</a:t>
            </a:r>
          </a:p>
        </p:txBody>
      </p:sp>
      <p:sp>
        <p:nvSpPr>
          <p:cNvPr id="17" name="TextBox 16"/>
          <p:cNvSpPr txBox="1"/>
          <p:nvPr/>
        </p:nvSpPr>
        <p:spPr>
          <a:xfrm>
            <a:off x="7754048" y="1911096"/>
            <a:ext cx="2651760" cy="822960"/>
          </a:xfrm>
          <a:prstGeom prst="rect">
            <a:avLst/>
          </a:prstGeom>
          <a:noFill/>
        </p:spPr>
        <p:txBody>
          <a:bodyPr wrap="square">
            <a:spAutoFit/>
          </a:bodyPr>
          <a:lstStyle/>
          <a:p>
            <a:pPr algn="l"/>
            <a:r>
              <a:rPr sz="1000" b="0">
                <a:solidFill>
                  <a:srgbClr val="000000"/>
                </a:solidFill>
                <a:latin typeface="Century Gothic"/>
              </a:rPr>
              <a:t>• Ley 1581/2012 y Decreto 1377/2013: protección de datos personales.</a:t>
            </a:r>
          </a:p>
        </p:txBody>
      </p:sp>
      <p:sp>
        <p:nvSpPr>
          <p:cNvPr id="18" name="TextBox 17"/>
          <p:cNvSpPr txBox="1"/>
          <p:nvPr/>
        </p:nvSpPr>
        <p:spPr>
          <a:xfrm>
            <a:off x="7754048" y="2880360"/>
            <a:ext cx="2651760" cy="822960"/>
          </a:xfrm>
          <a:prstGeom prst="rect">
            <a:avLst/>
          </a:prstGeom>
          <a:noFill/>
        </p:spPr>
        <p:txBody>
          <a:bodyPr wrap="square">
            <a:spAutoFit/>
          </a:bodyPr>
          <a:lstStyle/>
          <a:p>
            <a:pPr algn="l"/>
            <a:r>
              <a:rPr sz="1000" b="0">
                <a:solidFill>
                  <a:srgbClr val="000000"/>
                </a:solidFill>
                <a:latin typeface="Century Gothic"/>
              </a:rPr>
              <a:t>• Ley 1341/2009: sociedad de la información y TIC.</a:t>
            </a:r>
          </a:p>
        </p:txBody>
      </p:sp>
      <p:sp>
        <p:nvSpPr>
          <p:cNvPr id="19" name="TextBox 18"/>
          <p:cNvSpPr txBox="1"/>
          <p:nvPr/>
        </p:nvSpPr>
        <p:spPr>
          <a:xfrm>
            <a:off x="7754048" y="3849624"/>
            <a:ext cx="2651760" cy="822960"/>
          </a:xfrm>
          <a:prstGeom prst="rect">
            <a:avLst/>
          </a:prstGeom>
          <a:noFill/>
        </p:spPr>
        <p:txBody>
          <a:bodyPr wrap="square">
            <a:spAutoFit/>
          </a:bodyPr>
          <a:lstStyle/>
          <a:p>
            <a:pPr algn="l"/>
            <a:r>
              <a:rPr sz="1000" b="0">
                <a:solidFill>
                  <a:srgbClr val="000000"/>
                </a:solidFill>
                <a:latin typeface="Century Gothic"/>
              </a:rPr>
              <a:t>• SPADIES 3.0 — MEN: seguimiento nacional a la deserción.</a:t>
            </a:r>
          </a:p>
        </p:txBody>
      </p:sp>
      <p:sp>
        <p:nvSpPr>
          <p:cNvPr id="25" name="Rectangle 24"/>
          <p:cNvSpPr/>
          <p:nvPr/>
        </p:nvSpPr>
        <p:spPr>
          <a:xfrm>
            <a:off x="0" y="6565392"/>
            <a:ext cx="12188952" cy="292608"/>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82880" y="6574536"/>
            <a:ext cx="11795760" cy="274320"/>
          </a:xfrm>
          <a:prstGeom prst="rect">
            <a:avLst/>
          </a:prstGeom>
          <a:noFill/>
        </p:spPr>
        <p:txBody>
          <a:bodyPr wrap="square">
            <a:spAutoFit/>
          </a:bodyPr>
          <a:lstStyle/>
          <a:p>
            <a:pPr algn="l"/>
            <a:r>
              <a:rPr sz="900" b="0">
                <a:solidFill>
                  <a:srgbClr val="FFFFFF"/>
                </a:solidFill>
                <a:latin typeface="Century Gothic"/>
              </a:rPr>
              <a:t>Jhon A. Correal M.  ·  Rafael A. Guzmán R.  ·  Docente: D. C. Alvarado M.  ·  ETITC  ·  Mayo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887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0972800" cy="621792"/>
          </a:xfrm>
          <a:prstGeom prst="rect">
            <a:avLst/>
          </a:prstGeom>
          <a:noFill/>
        </p:spPr>
        <p:txBody>
          <a:bodyPr wrap="square">
            <a:spAutoFit/>
          </a:bodyPr>
          <a:lstStyle/>
          <a:p>
            <a:pPr algn="l"/>
            <a:r>
              <a:rPr sz="2800" b="1">
                <a:solidFill>
                  <a:srgbClr val="FFFFFF"/>
                </a:solidFill>
                <a:latin typeface="Century Gothic"/>
              </a:rPr>
              <a:t>Vigilancia Tecnológica</a:t>
            </a:r>
          </a:p>
        </p:txBody>
      </p:sp>
      <p:sp>
        <p:nvSpPr>
          <p:cNvPr id="4" name="TextBox 3"/>
          <p:cNvSpPr txBox="1"/>
          <p:nvPr/>
        </p:nvSpPr>
        <p:spPr>
          <a:xfrm>
            <a:off x="274320" y="676656"/>
            <a:ext cx="10972800" cy="411480"/>
          </a:xfrm>
          <a:prstGeom prst="rect">
            <a:avLst/>
          </a:prstGeom>
          <a:noFill/>
        </p:spPr>
        <p:txBody>
          <a:bodyPr wrap="square">
            <a:spAutoFit/>
          </a:bodyPr>
          <a:lstStyle/>
          <a:p>
            <a:pPr algn="l"/>
            <a:r>
              <a:rPr sz="1300" b="0">
                <a:solidFill>
                  <a:srgbClr val="94C121"/>
                </a:solidFill>
                <a:latin typeface="Century Gothic"/>
              </a:rPr>
              <a:t>Proceso sistemático de identificación de herramientas relevantes (Escorsa &amp; Valls, 2003)</a:t>
            </a:r>
          </a:p>
        </p:txBody>
      </p:sp>
      <p:sp>
        <p:nvSpPr>
          <p:cNvPr id="5" name="Rectangle 4"/>
          <p:cNvSpPr/>
          <p:nvPr/>
        </p:nvSpPr>
        <p:spPr>
          <a:xfrm>
            <a:off x="274320" y="1417320"/>
            <a:ext cx="11640312" cy="292608"/>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9184" y="1444752"/>
            <a:ext cx="2450591" cy="237744"/>
          </a:xfrm>
          <a:prstGeom prst="rect">
            <a:avLst/>
          </a:prstGeom>
          <a:noFill/>
        </p:spPr>
        <p:txBody>
          <a:bodyPr wrap="square">
            <a:spAutoFit/>
          </a:bodyPr>
          <a:lstStyle/>
          <a:p>
            <a:pPr algn="l"/>
            <a:r>
              <a:rPr sz="1100" b="1">
                <a:solidFill>
                  <a:srgbClr val="FFFFFF"/>
                </a:solidFill>
                <a:latin typeface="Century Gothic"/>
              </a:rPr>
              <a:t>Fuente / Sistema</a:t>
            </a:r>
          </a:p>
        </p:txBody>
      </p:sp>
      <p:sp>
        <p:nvSpPr>
          <p:cNvPr id="7" name="TextBox 6"/>
          <p:cNvSpPr txBox="1"/>
          <p:nvPr/>
        </p:nvSpPr>
        <p:spPr>
          <a:xfrm>
            <a:off x="2889503" y="1444752"/>
            <a:ext cx="2724912" cy="237744"/>
          </a:xfrm>
          <a:prstGeom prst="rect">
            <a:avLst/>
          </a:prstGeom>
          <a:noFill/>
        </p:spPr>
        <p:txBody>
          <a:bodyPr wrap="square">
            <a:spAutoFit/>
          </a:bodyPr>
          <a:lstStyle/>
          <a:p>
            <a:pPr algn="l"/>
            <a:r>
              <a:rPr sz="1100" b="1">
                <a:solidFill>
                  <a:srgbClr val="FFFFFF"/>
                </a:solidFill>
                <a:latin typeface="Century Gothic"/>
              </a:rPr>
              <a:t>Hallazgo Clave</a:t>
            </a:r>
          </a:p>
        </p:txBody>
      </p:sp>
      <p:sp>
        <p:nvSpPr>
          <p:cNvPr id="8" name="TextBox 7"/>
          <p:cNvSpPr txBox="1"/>
          <p:nvPr/>
        </p:nvSpPr>
        <p:spPr>
          <a:xfrm>
            <a:off x="5724143" y="1444752"/>
            <a:ext cx="2724912" cy="237744"/>
          </a:xfrm>
          <a:prstGeom prst="rect">
            <a:avLst/>
          </a:prstGeom>
          <a:noFill/>
        </p:spPr>
        <p:txBody>
          <a:bodyPr wrap="square">
            <a:spAutoFit/>
          </a:bodyPr>
          <a:lstStyle/>
          <a:p>
            <a:pPr algn="l"/>
            <a:r>
              <a:rPr sz="1100" b="1">
                <a:solidFill>
                  <a:srgbClr val="FFFFFF"/>
                </a:solidFill>
                <a:latin typeface="Century Gothic"/>
              </a:rPr>
              <a:t>Brecha Identificada</a:t>
            </a:r>
          </a:p>
        </p:txBody>
      </p:sp>
      <p:sp>
        <p:nvSpPr>
          <p:cNvPr id="9" name="TextBox 8"/>
          <p:cNvSpPr txBox="1"/>
          <p:nvPr/>
        </p:nvSpPr>
        <p:spPr>
          <a:xfrm>
            <a:off x="8558784" y="1444752"/>
            <a:ext cx="3300984" cy="237744"/>
          </a:xfrm>
          <a:prstGeom prst="rect">
            <a:avLst/>
          </a:prstGeom>
          <a:noFill/>
        </p:spPr>
        <p:txBody>
          <a:bodyPr wrap="square">
            <a:spAutoFit/>
          </a:bodyPr>
          <a:lstStyle/>
          <a:p>
            <a:pPr algn="l"/>
            <a:r>
              <a:rPr sz="1100" b="1">
                <a:solidFill>
                  <a:srgbClr val="FFFFFF"/>
                </a:solidFill>
                <a:latin typeface="Century Gothic"/>
              </a:rPr>
              <a:t>Aporte al Proyecto</a:t>
            </a:r>
          </a:p>
        </p:txBody>
      </p:sp>
      <p:sp>
        <p:nvSpPr>
          <p:cNvPr id="10" name="Rectangle 9"/>
          <p:cNvSpPr/>
          <p:nvPr/>
        </p:nvSpPr>
        <p:spPr>
          <a:xfrm>
            <a:off x="274320" y="1801368"/>
            <a:ext cx="11640312" cy="713232"/>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9184" y="1856231"/>
            <a:ext cx="2450591" cy="603504"/>
          </a:xfrm>
          <a:prstGeom prst="rect">
            <a:avLst/>
          </a:prstGeom>
          <a:noFill/>
        </p:spPr>
        <p:txBody>
          <a:bodyPr wrap="square">
            <a:spAutoFit/>
          </a:bodyPr>
          <a:lstStyle/>
          <a:p>
            <a:pPr algn="l"/>
            <a:r>
              <a:rPr sz="1000" b="0">
                <a:solidFill>
                  <a:srgbClr val="000000"/>
                </a:solidFill>
                <a:latin typeface="Century Gothic"/>
              </a:rPr>
              <a:t>SPADIES 3.0 — MEN</a:t>
            </a:r>
          </a:p>
        </p:txBody>
      </p:sp>
      <p:sp>
        <p:nvSpPr>
          <p:cNvPr id="12" name="TextBox 11"/>
          <p:cNvSpPr txBox="1"/>
          <p:nvPr/>
        </p:nvSpPr>
        <p:spPr>
          <a:xfrm>
            <a:off x="2889503" y="1856231"/>
            <a:ext cx="2724912" cy="603504"/>
          </a:xfrm>
          <a:prstGeom prst="rect">
            <a:avLst/>
          </a:prstGeom>
          <a:noFill/>
        </p:spPr>
        <p:txBody>
          <a:bodyPr wrap="square">
            <a:spAutoFit/>
          </a:bodyPr>
          <a:lstStyle/>
          <a:p>
            <a:pPr algn="l"/>
            <a:r>
              <a:rPr sz="1000" b="0">
                <a:solidFill>
                  <a:srgbClr val="000000"/>
                </a:solidFill>
                <a:latin typeface="Century Gothic"/>
              </a:rPr>
              <a:t>Tasa nacional 8,5 %</a:t>
            </a:r>
          </a:p>
        </p:txBody>
      </p:sp>
      <p:sp>
        <p:nvSpPr>
          <p:cNvPr id="13" name="TextBox 12"/>
          <p:cNvSpPr txBox="1"/>
          <p:nvPr/>
        </p:nvSpPr>
        <p:spPr>
          <a:xfrm>
            <a:off x="5724143" y="1856231"/>
            <a:ext cx="2724912" cy="603504"/>
          </a:xfrm>
          <a:prstGeom prst="rect">
            <a:avLst/>
          </a:prstGeom>
          <a:noFill/>
        </p:spPr>
        <p:txBody>
          <a:bodyPr wrap="square">
            <a:spAutoFit/>
          </a:bodyPr>
          <a:lstStyle/>
          <a:p>
            <a:pPr algn="l"/>
            <a:r>
              <a:rPr sz="1000" b="0">
                <a:solidFill>
                  <a:srgbClr val="000000"/>
                </a:solidFill>
                <a:latin typeface="Century Gothic"/>
              </a:rPr>
              <a:t>No desagrega jornada nocturna</a:t>
            </a:r>
          </a:p>
        </p:txBody>
      </p:sp>
      <p:sp>
        <p:nvSpPr>
          <p:cNvPr id="14" name="TextBox 13"/>
          <p:cNvSpPr txBox="1"/>
          <p:nvPr/>
        </p:nvSpPr>
        <p:spPr>
          <a:xfrm>
            <a:off x="8558784" y="1856231"/>
            <a:ext cx="3300984" cy="603504"/>
          </a:xfrm>
          <a:prstGeom prst="rect">
            <a:avLst/>
          </a:prstGeom>
          <a:noFill/>
        </p:spPr>
        <p:txBody>
          <a:bodyPr wrap="square">
            <a:spAutoFit/>
          </a:bodyPr>
          <a:lstStyle/>
          <a:p>
            <a:pPr algn="l"/>
            <a:r>
              <a:rPr sz="1000" b="0">
                <a:solidFill>
                  <a:srgbClr val="000000"/>
                </a:solidFill>
                <a:latin typeface="Century Gothic"/>
              </a:rPr>
              <a:t>Línea base comparativa</a:t>
            </a:r>
          </a:p>
        </p:txBody>
      </p:sp>
      <p:sp>
        <p:nvSpPr>
          <p:cNvPr id="15" name="Rectangle 14"/>
          <p:cNvSpPr/>
          <p:nvPr/>
        </p:nvSpPr>
        <p:spPr>
          <a:xfrm>
            <a:off x="274320" y="2551176"/>
            <a:ext cx="11640312" cy="713232"/>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9184" y="2606040"/>
            <a:ext cx="2450591" cy="603504"/>
          </a:xfrm>
          <a:prstGeom prst="rect">
            <a:avLst/>
          </a:prstGeom>
          <a:noFill/>
        </p:spPr>
        <p:txBody>
          <a:bodyPr wrap="square">
            <a:spAutoFit/>
          </a:bodyPr>
          <a:lstStyle/>
          <a:p>
            <a:pPr algn="l"/>
            <a:r>
              <a:rPr sz="1000" b="0">
                <a:solidFill>
                  <a:srgbClr val="000000"/>
                </a:solidFill>
                <a:latin typeface="Century Gothic"/>
              </a:rPr>
              <a:t>Adviser V.11 / RUSIA
(Bersoft, 2024)</a:t>
            </a:r>
          </a:p>
        </p:txBody>
      </p:sp>
      <p:sp>
        <p:nvSpPr>
          <p:cNvPr id="17" name="TextBox 16"/>
          <p:cNvSpPr txBox="1"/>
          <p:nvPr/>
        </p:nvSpPr>
        <p:spPr>
          <a:xfrm>
            <a:off x="2889503" y="2606040"/>
            <a:ext cx="2724912" cy="603504"/>
          </a:xfrm>
          <a:prstGeom prst="rect">
            <a:avLst/>
          </a:prstGeom>
          <a:noFill/>
        </p:spPr>
        <p:txBody>
          <a:bodyPr wrap="square">
            <a:spAutoFit/>
          </a:bodyPr>
          <a:lstStyle/>
          <a:p>
            <a:pPr algn="l"/>
            <a:r>
              <a:rPr sz="1000" b="0">
                <a:solidFill>
                  <a:srgbClr val="000000"/>
                </a:solidFill>
                <a:latin typeface="Century Gothic"/>
              </a:rPr>
              <a:t>Seguimiento académico semestral</a:t>
            </a:r>
          </a:p>
        </p:txBody>
      </p:sp>
      <p:sp>
        <p:nvSpPr>
          <p:cNvPr id="18" name="TextBox 17"/>
          <p:cNvSpPr txBox="1"/>
          <p:nvPr/>
        </p:nvSpPr>
        <p:spPr>
          <a:xfrm>
            <a:off x="5724143" y="2606040"/>
            <a:ext cx="2724912" cy="603504"/>
          </a:xfrm>
          <a:prstGeom prst="rect">
            <a:avLst/>
          </a:prstGeom>
          <a:noFill/>
        </p:spPr>
        <p:txBody>
          <a:bodyPr wrap="square">
            <a:spAutoFit/>
          </a:bodyPr>
          <a:lstStyle/>
          <a:p>
            <a:pPr algn="l"/>
            <a:r>
              <a:rPr sz="1000" b="0">
                <a:solidFill>
                  <a:srgbClr val="000000"/>
                </a:solidFill>
                <a:latin typeface="Century Gothic"/>
              </a:rPr>
              <a:t>Solo variables estáticas sin LMS ni movilidad</a:t>
            </a:r>
          </a:p>
        </p:txBody>
      </p:sp>
      <p:sp>
        <p:nvSpPr>
          <p:cNvPr id="19" name="TextBox 18"/>
          <p:cNvSpPr txBox="1"/>
          <p:nvPr/>
        </p:nvSpPr>
        <p:spPr>
          <a:xfrm>
            <a:off x="8558784" y="2606040"/>
            <a:ext cx="3300984" cy="603504"/>
          </a:xfrm>
          <a:prstGeom prst="rect">
            <a:avLst/>
          </a:prstGeom>
          <a:noFill/>
        </p:spPr>
        <p:txBody>
          <a:bodyPr wrap="square">
            <a:spAutoFit/>
          </a:bodyPr>
          <a:lstStyle/>
          <a:p>
            <a:pPr algn="l"/>
            <a:r>
              <a:rPr sz="1000" b="0">
                <a:solidFill>
                  <a:srgbClr val="000000"/>
                </a:solidFill>
                <a:latin typeface="Century Gothic"/>
              </a:rPr>
              <a:t>Justifica el modelo dinámico</a:t>
            </a:r>
          </a:p>
        </p:txBody>
      </p:sp>
      <p:sp>
        <p:nvSpPr>
          <p:cNvPr id="20" name="Rectangle 19"/>
          <p:cNvSpPr/>
          <p:nvPr/>
        </p:nvSpPr>
        <p:spPr>
          <a:xfrm>
            <a:off x="274320" y="3300984"/>
            <a:ext cx="11640312" cy="713232"/>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9184" y="3355848"/>
            <a:ext cx="2450591" cy="603504"/>
          </a:xfrm>
          <a:prstGeom prst="rect">
            <a:avLst/>
          </a:prstGeom>
          <a:noFill/>
        </p:spPr>
        <p:txBody>
          <a:bodyPr wrap="square">
            <a:spAutoFit/>
          </a:bodyPr>
          <a:lstStyle/>
          <a:p>
            <a:pPr algn="l"/>
            <a:r>
              <a:rPr sz="1000" b="0">
                <a:solidFill>
                  <a:srgbClr val="000000"/>
                </a:solidFill>
                <a:latin typeface="Century Gothic"/>
              </a:rPr>
              <a:t>Romero &amp; Ventura (2010)
EDM Review</a:t>
            </a:r>
          </a:p>
        </p:txBody>
      </p:sp>
      <p:sp>
        <p:nvSpPr>
          <p:cNvPr id="22" name="TextBox 21"/>
          <p:cNvSpPr txBox="1"/>
          <p:nvPr/>
        </p:nvSpPr>
        <p:spPr>
          <a:xfrm>
            <a:off x="2889503" y="3355848"/>
            <a:ext cx="2724912" cy="603504"/>
          </a:xfrm>
          <a:prstGeom prst="rect">
            <a:avLst/>
          </a:prstGeom>
          <a:noFill/>
        </p:spPr>
        <p:txBody>
          <a:bodyPr wrap="square">
            <a:spAutoFit/>
          </a:bodyPr>
          <a:lstStyle/>
          <a:p>
            <a:pPr algn="l"/>
            <a:r>
              <a:rPr sz="1000" b="0">
                <a:solidFill>
                  <a:srgbClr val="000000"/>
                </a:solidFill>
                <a:latin typeface="Century Gothic"/>
              </a:rPr>
              <a:t>LMS predice abandono con 2-4 sem. de anticipación</a:t>
            </a:r>
          </a:p>
        </p:txBody>
      </p:sp>
      <p:sp>
        <p:nvSpPr>
          <p:cNvPr id="23" name="TextBox 22"/>
          <p:cNvSpPr txBox="1"/>
          <p:nvPr/>
        </p:nvSpPr>
        <p:spPr>
          <a:xfrm>
            <a:off x="5724143" y="3355848"/>
            <a:ext cx="2724912" cy="603504"/>
          </a:xfrm>
          <a:prstGeom prst="rect">
            <a:avLst/>
          </a:prstGeom>
          <a:noFill/>
        </p:spPr>
        <p:txBody>
          <a:bodyPr wrap="square">
            <a:spAutoFit/>
          </a:bodyPr>
          <a:lstStyle/>
          <a:p>
            <a:pPr algn="l"/>
            <a:r>
              <a:rPr sz="1000" b="0">
                <a:solidFill>
                  <a:srgbClr val="000000"/>
                </a:solidFill>
                <a:latin typeface="Century Gothic"/>
              </a:rPr>
              <a:t>No integrado en sistemas ETITC</a:t>
            </a:r>
          </a:p>
        </p:txBody>
      </p:sp>
      <p:sp>
        <p:nvSpPr>
          <p:cNvPr id="24" name="TextBox 23"/>
          <p:cNvSpPr txBox="1"/>
          <p:nvPr/>
        </p:nvSpPr>
        <p:spPr>
          <a:xfrm>
            <a:off x="8558784" y="3355848"/>
            <a:ext cx="3300984" cy="603504"/>
          </a:xfrm>
          <a:prstGeom prst="rect">
            <a:avLst/>
          </a:prstGeom>
          <a:noFill/>
        </p:spPr>
        <p:txBody>
          <a:bodyPr wrap="square">
            <a:spAutoFit/>
          </a:bodyPr>
          <a:lstStyle/>
          <a:p>
            <a:pPr algn="l"/>
            <a:r>
              <a:rPr sz="1000" b="0">
                <a:solidFill>
                  <a:srgbClr val="000000"/>
                </a:solidFill>
                <a:latin typeface="Century Gothic"/>
              </a:rPr>
              <a:t>Base de la variable Desvinculación Digital</a:t>
            </a:r>
          </a:p>
        </p:txBody>
      </p:sp>
      <p:sp>
        <p:nvSpPr>
          <p:cNvPr id="25" name="Rectangle 24"/>
          <p:cNvSpPr/>
          <p:nvPr/>
        </p:nvSpPr>
        <p:spPr>
          <a:xfrm>
            <a:off x="274320" y="4050791"/>
            <a:ext cx="11640312" cy="713232"/>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9184" y="4105655"/>
            <a:ext cx="2450591" cy="603504"/>
          </a:xfrm>
          <a:prstGeom prst="rect">
            <a:avLst/>
          </a:prstGeom>
          <a:noFill/>
        </p:spPr>
        <p:txBody>
          <a:bodyPr wrap="square">
            <a:spAutoFit/>
          </a:bodyPr>
          <a:lstStyle/>
          <a:p>
            <a:pPr algn="l"/>
            <a:r>
              <a:rPr sz="1000" b="0">
                <a:solidFill>
                  <a:srgbClr val="000000"/>
                </a:solidFill>
                <a:latin typeface="Century Gothic"/>
              </a:rPr>
              <a:t>Arias et al. (2018)</a:t>
            </a:r>
          </a:p>
        </p:txBody>
      </p:sp>
      <p:sp>
        <p:nvSpPr>
          <p:cNvPr id="27" name="TextBox 26"/>
          <p:cNvSpPr txBox="1"/>
          <p:nvPr/>
        </p:nvSpPr>
        <p:spPr>
          <a:xfrm>
            <a:off x="2889503" y="4105655"/>
            <a:ext cx="2724912" cy="603504"/>
          </a:xfrm>
          <a:prstGeom prst="rect">
            <a:avLst/>
          </a:prstGeom>
          <a:noFill/>
        </p:spPr>
        <p:txBody>
          <a:bodyPr wrap="square">
            <a:spAutoFit/>
          </a:bodyPr>
          <a:lstStyle/>
          <a:p>
            <a:pPr algn="l"/>
            <a:r>
              <a:rPr sz="1000" b="0">
                <a:solidFill>
                  <a:srgbClr val="000000"/>
                </a:solidFill>
                <a:latin typeface="Century Gothic"/>
              </a:rPr>
              <a:t>Carga laboral = predictor #1 en TyT</a:t>
            </a:r>
          </a:p>
        </p:txBody>
      </p:sp>
      <p:sp>
        <p:nvSpPr>
          <p:cNvPr id="28" name="TextBox 27"/>
          <p:cNvSpPr txBox="1"/>
          <p:nvPr/>
        </p:nvSpPr>
        <p:spPr>
          <a:xfrm>
            <a:off x="5724143" y="4105655"/>
            <a:ext cx="2724912" cy="603504"/>
          </a:xfrm>
          <a:prstGeom prst="rect">
            <a:avLst/>
          </a:prstGeom>
          <a:noFill/>
        </p:spPr>
        <p:txBody>
          <a:bodyPr wrap="square">
            <a:spAutoFit/>
          </a:bodyPr>
          <a:lstStyle/>
          <a:p>
            <a:pPr algn="l"/>
            <a:r>
              <a:rPr sz="1000" b="0">
                <a:solidFill>
                  <a:srgbClr val="000000"/>
                </a:solidFill>
                <a:latin typeface="Century Gothic"/>
              </a:rPr>
              <a:t>No cuantificado como sensor continuo</a:t>
            </a:r>
          </a:p>
        </p:txBody>
      </p:sp>
      <p:sp>
        <p:nvSpPr>
          <p:cNvPr id="29" name="TextBox 28"/>
          <p:cNvSpPr txBox="1"/>
          <p:nvPr/>
        </p:nvSpPr>
        <p:spPr>
          <a:xfrm>
            <a:off x="8558784" y="4105655"/>
            <a:ext cx="3300984" cy="603504"/>
          </a:xfrm>
          <a:prstGeom prst="rect">
            <a:avLst/>
          </a:prstGeom>
          <a:noFill/>
        </p:spPr>
        <p:txBody>
          <a:bodyPr wrap="square">
            <a:spAutoFit/>
          </a:bodyPr>
          <a:lstStyle/>
          <a:p>
            <a:pPr algn="l"/>
            <a:r>
              <a:rPr sz="1000" b="0">
                <a:solidFill>
                  <a:srgbClr val="000000"/>
                </a:solidFill>
                <a:latin typeface="Century Gothic"/>
              </a:rPr>
              <a:t>Sustenta el índice Elasticidad Laboral</a:t>
            </a:r>
          </a:p>
        </p:txBody>
      </p:sp>
      <p:sp>
        <p:nvSpPr>
          <p:cNvPr id="30" name="Rectangle 29"/>
          <p:cNvSpPr/>
          <p:nvPr/>
        </p:nvSpPr>
        <p:spPr>
          <a:xfrm>
            <a:off x="274320" y="4800600"/>
            <a:ext cx="11640312" cy="713232"/>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9184" y="4855464"/>
            <a:ext cx="2450591" cy="603504"/>
          </a:xfrm>
          <a:prstGeom prst="rect">
            <a:avLst/>
          </a:prstGeom>
          <a:noFill/>
        </p:spPr>
        <p:txBody>
          <a:bodyPr wrap="square">
            <a:spAutoFit/>
          </a:bodyPr>
          <a:lstStyle/>
          <a:p>
            <a:pPr algn="l"/>
            <a:r>
              <a:rPr sz="1000" b="0">
                <a:solidFill>
                  <a:srgbClr val="000000"/>
                </a:solidFill>
                <a:latin typeface="Century Gothic"/>
              </a:rPr>
              <a:t>ETITC — PDI 2025-2032
(Res. 216)</a:t>
            </a:r>
          </a:p>
        </p:txBody>
      </p:sp>
      <p:sp>
        <p:nvSpPr>
          <p:cNvPr id="32" name="TextBox 31"/>
          <p:cNvSpPr txBox="1"/>
          <p:nvPr/>
        </p:nvSpPr>
        <p:spPr>
          <a:xfrm>
            <a:off x="2889503" y="4855464"/>
            <a:ext cx="2724912" cy="603504"/>
          </a:xfrm>
          <a:prstGeom prst="rect">
            <a:avLst/>
          </a:prstGeom>
          <a:noFill/>
        </p:spPr>
        <p:txBody>
          <a:bodyPr wrap="square">
            <a:spAutoFit/>
          </a:bodyPr>
          <a:lstStyle/>
          <a:p>
            <a:pPr algn="l"/>
            <a:r>
              <a:rPr sz="1000" b="0">
                <a:solidFill>
                  <a:srgbClr val="000000"/>
                </a:solidFill>
                <a:latin typeface="Century Gothic"/>
              </a:rPr>
              <a:t>Meta: reducir deserción 2,5 pp al 2032</a:t>
            </a:r>
          </a:p>
        </p:txBody>
      </p:sp>
      <p:sp>
        <p:nvSpPr>
          <p:cNvPr id="33" name="TextBox 32"/>
          <p:cNvSpPr txBox="1"/>
          <p:nvPr/>
        </p:nvSpPr>
        <p:spPr>
          <a:xfrm>
            <a:off x="5724143" y="4855464"/>
            <a:ext cx="2724912" cy="603504"/>
          </a:xfrm>
          <a:prstGeom prst="rect">
            <a:avLst/>
          </a:prstGeom>
          <a:noFill/>
        </p:spPr>
        <p:txBody>
          <a:bodyPr wrap="square">
            <a:spAutoFit/>
          </a:bodyPr>
          <a:lstStyle/>
          <a:p>
            <a:pPr algn="l"/>
            <a:r>
              <a:rPr sz="1000" b="0">
                <a:solidFill>
                  <a:srgbClr val="000000"/>
                </a:solidFill>
                <a:latin typeface="Century Gothic"/>
              </a:rPr>
              <a:t>Sin herramienta predictiva operativa</a:t>
            </a:r>
          </a:p>
        </p:txBody>
      </p:sp>
      <p:sp>
        <p:nvSpPr>
          <p:cNvPr id="34" name="TextBox 33"/>
          <p:cNvSpPr txBox="1"/>
          <p:nvPr/>
        </p:nvSpPr>
        <p:spPr>
          <a:xfrm>
            <a:off x="8558784" y="4855464"/>
            <a:ext cx="3300984" cy="603504"/>
          </a:xfrm>
          <a:prstGeom prst="rect">
            <a:avLst/>
          </a:prstGeom>
          <a:noFill/>
        </p:spPr>
        <p:txBody>
          <a:bodyPr wrap="square">
            <a:spAutoFit/>
          </a:bodyPr>
          <a:lstStyle/>
          <a:p>
            <a:pPr algn="l"/>
            <a:r>
              <a:rPr sz="1000" b="0">
                <a:solidFill>
                  <a:srgbClr val="000000"/>
                </a:solidFill>
                <a:latin typeface="Century Gothic"/>
              </a:rPr>
              <a:t>Define la meta de precisión del prototipo</a:t>
            </a:r>
          </a:p>
        </p:txBody>
      </p:sp>
      <p:sp>
        <p:nvSpPr>
          <p:cNvPr id="35" name="TextBox 34"/>
          <p:cNvSpPr txBox="1"/>
          <p:nvPr/>
        </p:nvSpPr>
        <p:spPr>
          <a:xfrm>
            <a:off x="274320" y="5650992"/>
            <a:ext cx="11640312" cy="256032"/>
          </a:xfrm>
          <a:prstGeom prst="rect">
            <a:avLst/>
          </a:prstGeom>
          <a:noFill/>
        </p:spPr>
        <p:txBody>
          <a:bodyPr wrap="square">
            <a:spAutoFit/>
          </a:bodyPr>
          <a:lstStyle/>
          <a:p>
            <a:pPr algn="l"/>
            <a:r>
              <a:rPr sz="1100" b="1">
                <a:solidFill>
                  <a:srgbClr val="287840"/>
                </a:solidFill>
                <a:latin typeface="Century Gothic"/>
              </a:rPr>
              <a:t>Brecha principal: ningún sistema integra simultáneamente variables de movilidad, LMS y carga laboral en tiempo real.</a:t>
            </a:r>
          </a:p>
        </p:txBody>
      </p:sp>
      <p:sp>
        <p:nvSpPr>
          <p:cNvPr id="36" name="Rectangle 35"/>
          <p:cNvSpPr/>
          <p:nvPr/>
        </p:nvSpPr>
        <p:spPr>
          <a:xfrm>
            <a:off x="0" y="6565392"/>
            <a:ext cx="12188952" cy="292608"/>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82880" y="6574536"/>
            <a:ext cx="11795760" cy="274320"/>
          </a:xfrm>
          <a:prstGeom prst="rect">
            <a:avLst/>
          </a:prstGeom>
          <a:noFill/>
        </p:spPr>
        <p:txBody>
          <a:bodyPr wrap="square">
            <a:spAutoFit/>
          </a:bodyPr>
          <a:lstStyle/>
          <a:p>
            <a:pPr algn="l"/>
            <a:r>
              <a:rPr sz="900" b="0">
                <a:solidFill>
                  <a:srgbClr val="FFFFFF"/>
                </a:solidFill>
                <a:latin typeface="Century Gothic"/>
              </a:rPr>
              <a:t>Jhon A. Correal M.  ·  Rafael A. Guzmán R.  ·  Docente: D. C. Alvarado M.  ·  ETITC  ·  Mayo 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887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0972800" cy="621792"/>
          </a:xfrm>
          <a:prstGeom prst="rect">
            <a:avLst/>
          </a:prstGeom>
          <a:noFill/>
        </p:spPr>
        <p:txBody>
          <a:bodyPr wrap="square">
            <a:spAutoFit/>
          </a:bodyPr>
          <a:lstStyle/>
          <a:p>
            <a:pPr algn="l"/>
            <a:r>
              <a:rPr sz="2800" b="1">
                <a:solidFill>
                  <a:srgbClr val="FFFFFF"/>
                </a:solidFill>
                <a:latin typeface="Century Gothic"/>
              </a:rPr>
              <a:t>Datos y Recolección</a:t>
            </a:r>
          </a:p>
        </p:txBody>
      </p:sp>
      <p:sp>
        <p:nvSpPr>
          <p:cNvPr id="4" name="TextBox 3"/>
          <p:cNvSpPr txBox="1"/>
          <p:nvPr/>
        </p:nvSpPr>
        <p:spPr>
          <a:xfrm>
            <a:off x="274320" y="676656"/>
            <a:ext cx="10972800" cy="411480"/>
          </a:xfrm>
          <a:prstGeom prst="rect">
            <a:avLst/>
          </a:prstGeom>
          <a:noFill/>
        </p:spPr>
        <p:txBody>
          <a:bodyPr wrap="square">
            <a:spAutoFit/>
          </a:bodyPr>
          <a:lstStyle/>
          <a:p>
            <a:pPr algn="l"/>
            <a:r>
              <a:rPr sz="1300" b="0">
                <a:solidFill>
                  <a:srgbClr val="94C121"/>
                </a:solidFill>
                <a:latin typeface="Century Gothic"/>
              </a:rPr>
              <a:t>Cuantitativa estructurada · 14 variables · n = 1 000 registros sintéticos</a:t>
            </a:r>
          </a:p>
        </p:txBody>
      </p:sp>
      <p:sp>
        <p:nvSpPr>
          <p:cNvPr id="5" name="Rectangle 4"/>
          <p:cNvSpPr/>
          <p:nvPr/>
        </p:nvSpPr>
        <p:spPr>
          <a:xfrm>
            <a:off x="182880" y="1417320"/>
            <a:ext cx="5760720" cy="2743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1444752"/>
            <a:ext cx="5486400" cy="219456"/>
          </a:xfrm>
          <a:prstGeom prst="rect">
            <a:avLst/>
          </a:prstGeom>
          <a:noFill/>
        </p:spPr>
        <p:txBody>
          <a:bodyPr wrap="square">
            <a:spAutoFit/>
          </a:bodyPr>
          <a:lstStyle/>
          <a:p>
            <a:pPr algn="l"/>
            <a:r>
              <a:rPr sz="1200" b="1">
                <a:solidFill>
                  <a:srgbClr val="FFFFFF"/>
                </a:solidFill>
                <a:latin typeface="Century Gothic"/>
              </a:rPr>
              <a:t>Tipos de Variables</a:t>
            </a:r>
          </a:p>
        </p:txBody>
      </p:sp>
      <p:sp>
        <p:nvSpPr>
          <p:cNvPr id="7" name="TextBox 6"/>
          <p:cNvSpPr txBox="1"/>
          <p:nvPr/>
        </p:nvSpPr>
        <p:spPr>
          <a:xfrm>
            <a:off x="274320" y="1792224"/>
            <a:ext cx="5486400" cy="219456"/>
          </a:xfrm>
          <a:prstGeom prst="rect">
            <a:avLst/>
          </a:prstGeom>
          <a:noFill/>
        </p:spPr>
        <p:txBody>
          <a:bodyPr wrap="square">
            <a:spAutoFit/>
          </a:bodyPr>
          <a:lstStyle/>
          <a:p>
            <a:pPr algn="l"/>
            <a:r>
              <a:rPr sz="1100" b="1">
                <a:solidFill>
                  <a:srgbClr val="4DA92C"/>
                </a:solidFill>
                <a:latin typeface="Century Gothic"/>
              </a:rPr>
              <a:t>Estáticas (académicas)</a:t>
            </a:r>
          </a:p>
        </p:txBody>
      </p:sp>
      <p:sp>
        <p:nvSpPr>
          <p:cNvPr id="8" name="TextBox 7"/>
          <p:cNvSpPr txBox="1"/>
          <p:nvPr/>
        </p:nvSpPr>
        <p:spPr>
          <a:xfrm>
            <a:off x="411480" y="2029967"/>
            <a:ext cx="5349240" cy="201168"/>
          </a:xfrm>
          <a:prstGeom prst="rect">
            <a:avLst/>
          </a:prstGeom>
          <a:noFill/>
        </p:spPr>
        <p:txBody>
          <a:bodyPr wrap="square">
            <a:spAutoFit/>
          </a:bodyPr>
          <a:lstStyle/>
          <a:p>
            <a:pPr algn="l"/>
            <a:r>
              <a:rPr sz="1000" b="0">
                <a:solidFill>
                  <a:srgbClr val="000000"/>
                </a:solidFill>
                <a:latin typeface="Century Gothic"/>
              </a:rPr>
              <a:t>· Semestre en curso</a:t>
            </a:r>
          </a:p>
        </p:txBody>
      </p:sp>
      <p:sp>
        <p:nvSpPr>
          <p:cNvPr id="9" name="TextBox 8"/>
          <p:cNvSpPr txBox="1"/>
          <p:nvPr/>
        </p:nvSpPr>
        <p:spPr>
          <a:xfrm>
            <a:off x="411480" y="2240279"/>
            <a:ext cx="5349240" cy="201168"/>
          </a:xfrm>
          <a:prstGeom prst="rect">
            <a:avLst/>
          </a:prstGeom>
          <a:noFill/>
        </p:spPr>
        <p:txBody>
          <a:bodyPr wrap="square">
            <a:spAutoFit/>
          </a:bodyPr>
          <a:lstStyle/>
          <a:p>
            <a:pPr algn="l"/>
            <a:r>
              <a:rPr sz="1000" b="0">
                <a:solidFill>
                  <a:srgbClr val="000000"/>
                </a:solidFill>
                <a:latin typeface="Century Gothic"/>
              </a:rPr>
              <a:t>· Promedio acumulado (PAPA)</a:t>
            </a:r>
          </a:p>
        </p:txBody>
      </p:sp>
      <p:sp>
        <p:nvSpPr>
          <p:cNvPr id="10" name="TextBox 9"/>
          <p:cNvSpPr txBox="1"/>
          <p:nvPr/>
        </p:nvSpPr>
        <p:spPr>
          <a:xfrm>
            <a:off x="411480" y="2450591"/>
            <a:ext cx="5349240" cy="201168"/>
          </a:xfrm>
          <a:prstGeom prst="rect">
            <a:avLst/>
          </a:prstGeom>
          <a:noFill/>
        </p:spPr>
        <p:txBody>
          <a:bodyPr wrap="square">
            <a:spAutoFit/>
          </a:bodyPr>
          <a:lstStyle/>
          <a:p>
            <a:pPr algn="l"/>
            <a:r>
              <a:rPr sz="1000" b="0">
                <a:solidFill>
                  <a:srgbClr val="000000"/>
                </a:solidFill>
                <a:latin typeface="Century Gothic"/>
              </a:rPr>
              <a:t>· Créditos aprobados / reprobados</a:t>
            </a:r>
          </a:p>
        </p:txBody>
      </p:sp>
      <p:sp>
        <p:nvSpPr>
          <p:cNvPr id="11" name="TextBox 10"/>
          <p:cNvSpPr txBox="1"/>
          <p:nvPr/>
        </p:nvSpPr>
        <p:spPr>
          <a:xfrm>
            <a:off x="411480" y="2660903"/>
            <a:ext cx="5349240" cy="201168"/>
          </a:xfrm>
          <a:prstGeom prst="rect">
            <a:avLst/>
          </a:prstGeom>
          <a:noFill/>
        </p:spPr>
        <p:txBody>
          <a:bodyPr wrap="square">
            <a:spAutoFit/>
          </a:bodyPr>
          <a:lstStyle/>
          <a:p>
            <a:pPr algn="l"/>
            <a:r>
              <a:rPr sz="1000" b="0">
                <a:solidFill>
                  <a:srgbClr val="000000"/>
                </a:solidFill>
                <a:latin typeface="Century Gothic"/>
              </a:rPr>
              <a:t>· Porcentaje de asistencia</a:t>
            </a:r>
          </a:p>
        </p:txBody>
      </p:sp>
      <p:sp>
        <p:nvSpPr>
          <p:cNvPr id="12" name="TextBox 11"/>
          <p:cNvSpPr txBox="1"/>
          <p:nvPr/>
        </p:nvSpPr>
        <p:spPr>
          <a:xfrm>
            <a:off x="274320" y="2944368"/>
            <a:ext cx="5486400" cy="219456"/>
          </a:xfrm>
          <a:prstGeom prst="rect">
            <a:avLst/>
          </a:prstGeom>
          <a:noFill/>
        </p:spPr>
        <p:txBody>
          <a:bodyPr wrap="square">
            <a:spAutoFit/>
          </a:bodyPr>
          <a:lstStyle/>
          <a:p>
            <a:pPr algn="l"/>
            <a:r>
              <a:rPr sz="1100" b="1">
                <a:solidFill>
                  <a:srgbClr val="4DA92C"/>
                </a:solidFill>
                <a:latin typeface="Century Gothic"/>
              </a:rPr>
              <a:t>Dinámicas — LMS</a:t>
            </a:r>
          </a:p>
        </p:txBody>
      </p:sp>
      <p:sp>
        <p:nvSpPr>
          <p:cNvPr id="13" name="TextBox 12"/>
          <p:cNvSpPr txBox="1"/>
          <p:nvPr/>
        </p:nvSpPr>
        <p:spPr>
          <a:xfrm>
            <a:off x="411480" y="3182111"/>
            <a:ext cx="5349240" cy="201168"/>
          </a:xfrm>
          <a:prstGeom prst="rect">
            <a:avLst/>
          </a:prstGeom>
          <a:noFill/>
        </p:spPr>
        <p:txBody>
          <a:bodyPr wrap="square">
            <a:spAutoFit/>
          </a:bodyPr>
          <a:lstStyle/>
          <a:p>
            <a:pPr algn="l"/>
            <a:r>
              <a:rPr sz="1000" b="0">
                <a:solidFill>
                  <a:srgbClr val="000000"/>
                </a:solidFill>
                <a:latin typeface="Century Gothic"/>
              </a:rPr>
              <a:t>· Accesos semanales al LMS</a:t>
            </a:r>
          </a:p>
        </p:txBody>
      </p:sp>
      <p:sp>
        <p:nvSpPr>
          <p:cNvPr id="14" name="TextBox 13"/>
          <p:cNvSpPr txBox="1"/>
          <p:nvPr/>
        </p:nvSpPr>
        <p:spPr>
          <a:xfrm>
            <a:off x="411480" y="3392423"/>
            <a:ext cx="5349240" cy="201168"/>
          </a:xfrm>
          <a:prstGeom prst="rect">
            <a:avLst/>
          </a:prstGeom>
          <a:noFill/>
        </p:spPr>
        <p:txBody>
          <a:bodyPr wrap="square">
            <a:spAutoFit/>
          </a:bodyPr>
          <a:lstStyle/>
          <a:p>
            <a:pPr algn="l"/>
            <a:r>
              <a:rPr sz="1000" b="0" dirty="0">
                <a:solidFill>
                  <a:srgbClr val="000000"/>
                </a:solidFill>
                <a:latin typeface="Century Gothic"/>
              </a:rPr>
              <a:t>· </a:t>
            </a:r>
            <a:r>
              <a:rPr sz="1000" b="0" dirty="0" err="1">
                <a:solidFill>
                  <a:srgbClr val="000000"/>
                </a:solidFill>
                <a:latin typeface="Century Gothic"/>
              </a:rPr>
              <a:t>Tareas</a:t>
            </a:r>
            <a:r>
              <a:rPr sz="1000" b="0" dirty="0">
                <a:solidFill>
                  <a:srgbClr val="000000"/>
                </a:solidFill>
                <a:latin typeface="Century Gothic"/>
              </a:rPr>
              <a:t> </a:t>
            </a:r>
            <a:r>
              <a:rPr sz="1000" b="0" dirty="0" err="1">
                <a:solidFill>
                  <a:srgbClr val="000000"/>
                </a:solidFill>
                <a:latin typeface="Century Gothic"/>
              </a:rPr>
              <a:t>enviadas</a:t>
            </a:r>
            <a:r>
              <a:rPr sz="1000" b="0" dirty="0">
                <a:solidFill>
                  <a:srgbClr val="000000"/>
                </a:solidFill>
                <a:latin typeface="Century Gothic"/>
              </a:rPr>
              <a:t> vs. </a:t>
            </a:r>
            <a:r>
              <a:rPr sz="1000" b="0" dirty="0" err="1">
                <a:solidFill>
                  <a:srgbClr val="000000"/>
                </a:solidFill>
                <a:latin typeface="Century Gothic"/>
              </a:rPr>
              <a:t>plazo</a:t>
            </a:r>
            <a:endParaRPr sz="1000" b="0" dirty="0">
              <a:solidFill>
                <a:srgbClr val="000000"/>
              </a:solidFill>
              <a:latin typeface="Century Gothic"/>
            </a:endParaRPr>
          </a:p>
        </p:txBody>
      </p:sp>
      <p:sp>
        <p:nvSpPr>
          <p:cNvPr id="16" name="TextBox 15"/>
          <p:cNvSpPr txBox="1"/>
          <p:nvPr/>
        </p:nvSpPr>
        <p:spPr>
          <a:xfrm>
            <a:off x="274320" y="3886200"/>
            <a:ext cx="5486400" cy="219456"/>
          </a:xfrm>
          <a:prstGeom prst="rect">
            <a:avLst/>
          </a:prstGeom>
          <a:noFill/>
        </p:spPr>
        <p:txBody>
          <a:bodyPr wrap="square">
            <a:spAutoFit/>
          </a:bodyPr>
          <a:lstStyle/>
          <a:p>
            <a:pPr algn="l"/>
            <a:r>
              <a:rPr sz="1100" b="1">
                <a:solidFill>
                  <a:srgbClr val="4DA92C"/>
                </a:solidFill>
                <a:latin typeface="Century Gothic"/>
              </a:rPr>
              <a:t>Dinámicas — Entorno</a:t>
            </a:r>
          </a:p>
        </p:txBody>
      </p:sp>
      <p:sp>
        <p:nvSpPr>
          <p:cNvPr id="17" name="TextBox 16"/>
          <p:cNvSpPr txBox="1"/>
          <p:nvPr/>
        </p:nvSpPr>
        <p:spPr>
          <a:xfrm>
            <a:off x="411480" y="4123944"/>
            <a:ext cx="5349240" cy="201168"/>
          </a:xfrm>
          <a:prstGeom prst="rect">
            <a:avLst/>
          </a:prstGeom>
          <a:noFill/>
        </p:spPr>
        <p:txBody>
          <a:bodyPr wrap="square">
            <a:spAutoFit/>
          </a:bodyPr>
          <a:lstStyle/>
          <a:p>
            <a:pPr algn="l"/>
            <a:r>
              <a:rPr sz="1000" b="0">
                <a:solidFill>
                  <a:srgbClr val="000000"/>
                </a:solidFill>
                <a:latin typeface="Century Gothic"/>
              </a:rPr>
              <a:t>· Horas laboradas por semana</a:t>
            </a:r>
          </a:p>
        </p:txBody>
      </p:sp>
      <p:sp>
        <p:nvSpPr>
          <p:cNvPr id="18" name="TextBox 17"/>
          <p:cNvSpPr txBox="1"/>
          <p:nvPr/>
        </p:nvSpPr>
        <p:spPr>
          <a:xfrm>
            <a:off x="411480" y="4334256"/>
            <a:ext cx="5349240" cy="201168"/>
          </a:xfrm>
          <a:prstGeom prst="rect">
            <a:avLst/>
          </a:prstGeom>
          <a:noFill/>
        </p:spPr>
        <p:txBody>
          <a:bodyPr wrap="square">
            <a:spAutoFit/>
          </a:bodyPr>
          <a:lstStyle/>
          <a:p>
            <a:pPr algn="l"/>
            <a:r>
              <a:rPr sz="1000" b="0">
                <a:solidFill>
                  <a:srgbClr val="000000"/>
                </a:solidFill>
                <a:latin typeface="Century Gothic"/>
              </a:rPr>
              <a:t>· Tiempo de desplazamiento (min)</a:t>
            </a:r>
          </a:p>
        </p:txBody>
      </p:sp>
      <p:sp>
        <p:nvSpPr>
          <p:cNvPr id="19" name="TextBox 18"/>
          <p:cNvSpPr txBox="1"/>
          <p:nvPr/>
        </p:nvSpPr>
        <p:spPr>
          <a:xfrm>
            <a:off x="411480" y="4544568"/>
            <a:ext cx="5349240" cy="201168"/>
          </a:xfrm>
          <a:prstGeom prst="rect">
            <a:avLst/>
          </a:prstGeom>
          <a:noFill/>
        </p:spPr>
        <p:txBody>
          <a:bodyPr wrap="square">
            <a:spAutoFit/>
          </a:bodyPr>
          <a:lstStyle/>
          <a:p>
            <a:pPr algn="l"/>
            <a:r>
              <a:rPr sz="1000" b="0">
                <a:solidFill>
                  <a:srgbClr val="000000"/>
                </a:solidFill>
                <a:latin typeface="Century Gothic"/>
              </a:rPr>
              <a:t>· Índice de fatiga urbana (0–1)</a:t>
            </a:r>
          </a:p>
        </p:txBody>
      </p:sp>
      <p:sp>
        <p:nvSpPr>
          <p:cNvPr id="20" name="TextBox 19"/>
          <p:cNvSpPr txBox="1"/>
          <p:nvPr/>
        </p:nvSpPr>
        <p:spPr>
          <a:xfrm>
            <a:off x="411480" y="4754880"/>
            <a:ext cx="5349240" cy="201168"/>
          </a:xfrm>
          <a:prstGeom prst="rect">
            <a:avLst/>
          </a:prstGeom>
          <a:noFill/>
        </p:spPr>
        <p:txBody>
          <a:bodyPr wrap="square">
            <a:spAutoFit/>
          </a:bodyPr>
          <a:lstStyle/>
          <a:p>
            <a:pPr algn="l"/>
            <a:r>
              <a:rPr sz="1000" b="0">
                <a:solidFill>
                  <a:srgbClr val="000000"/>
                </a:solidFill>
                <a:latin typeface="Century Gothic"/>
              </a:rPr>
              <a:t>· Índice de desvinculación digital (0–1)</a:t>
            </a:r>
          </a:p>
        </p:txBody>
      </p:sp>
      <p:sp>
        <p:nvSpPr>
          <p:cNvPr id="21" name="Rectangle 20"/>
          <p:cNvSpPr/>
          <p:nvPr/>
        </p:nvSpPr>
        <p:spPr>
          <a:xfrm>
            <a:off x="6245352" y="1417320"/>
            <a:ext cx="5760720" cy="274320"/>
          </a:xfrm>
          <a:prstGeom prst="rect">
            <a:avLst/>
          </a:prstGeom>
          <a:solidFill>
            <a:srgbClr val="4DA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36792" y="1444752"/>
            <a:ext cx="5486400" cy="219456"/>
          </a:xfrm>
          <a:prstGeom prst="rect">
            <a:avLst/>
          </a:prstGeom>
          <a:noFill/>
        </p:spPr>
        <p:txBody>
          <a:bodyPr wrap="square">
            <a:spAutoFit/>
          </a:bodyPr>
          <a:lstStyle/>
          <a:p>
            <a:pPr algn="l"/>
            <a:r>
              <a:rPr sz="1200" b="1">
                <a:solidFill>
                  <a:srgbClr val="FFFFFF"/>
                </a:solidFill>
                <a:latin typeface="Century Gothic"/>
              </a:rPr>
              <a:t>Dataset Sintético — ETITC</a:t>
            </a:r>
          </a:p>
        </p:txBody>
      </p:sp>
      <p:sp>
        <p:nvSpPr>
          <p:cNvPr id="23" name="Rectangle 22"/>
          <p:cNvSpPr/>
          <p:nvPr/>
        </p:nvSpPr>
        <p:spPr>
          <a:xfrm>
            <a:off x="6245352" y="1801368"/>
            <a:ext cx="5760720" cy="694944"/>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55080" y="1856231"/>
            <a:ext cx="5486400" cy="219456"/>
          </a:xfrm>
          <a:prstGeom prst="rect">
            <a:avLst/>
          </a:prstGeom>
          <a:noFill/>
        </p:spPr>
        <p:txBody>
          <a:bodyPr wrap="square">
            <a:spAutoFit/>
          </a:bodyPr>
          <a:lstStyle/>
          <a:p>
            <a:pPr algn="l"/>
            <a:r>
              <a:rPr sz="1100" b="1">
                <a:solidFill>
                  <a:srgbClr val="287840"/>
                </a:solidFill>
                <a:latin typeface="Century Gothic"/>
              </a:rPr>
              <a:t>n = 1 000 registros</a:t>
            </a:r>
          </a:p>
        </p:txBody>
      </p:sp>
      <p:sp>
        <p:nvSpPr>
          <p:cNvPr id="25" name="TextBox 24"/>
          <p:cNvSpPr txBox="1"/>
          <p:nvPr/>
        </p:nvSpPr>
        <p:spPr>
          <a:xfrm>
            <a:off x="6355080" y="2093976"/>
            <a:ext cx="5486400" cy="329184"/>
          </a:xfrm>
          <a:prstGeom prst="rect">
            <a:avLst/>
          </a:prstGeom>
          <a:noFill/>
        </p:spPr>
        <p:txBody>
          <a:bodyPr wrap="square">
            <a:spAutoFit/>
          </a:bodyPr>
          <a:lstStyle/>
          <a:p>
            <a:pPr algn="l"/>
            <a:r>
              <a:rPr sz="1000" b="0">
                <a:solidFill>
                  <a:srgbClr val="000000"/>
                </a:solidFill>
                <a:latin typeface="Century Gothic"/>
              </a:rPr>
              <a:t>Generados con distribuciones calibradas con los informes ETITC 2021-2025.</a:t>
            </a:r>
          </a:p>
        </p:txBody>
      </p:sp>
      <p:sp>
        <p:nvSpPr>
          <p:cNvPr id="26" name="Rectangle 25"/>
          <p:cNvSpPr/>
          <p:nvPr/>
        </p:nvSpPr>
        <p:spPr>
          <a:xfrm>
            <a:off x="6245352" y="2532888"/>
            <a:ext cx="5760720" cy="694944"/>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55080" y="2587752"/>
            <a:ext cx="5486400" cy="219456"/>
          </a:xfrm>
          <a:prstGeom prst="rect">
            <a:avLst/>
          </a:prstGeom>
          <a:noFill/>
        </p:spPr>
        <p:txBody>
          <a:bodyPr wrap="square">
            <a:spAutoFit/>
          </a:bodyPr>
          <a:lstStyle/>
          <a:p>
            <a:pPr algn="l"/>
            <a:r>
              <a:rPr sz="1100" b="1">
                <a:solidFill>
                  <a:srgbClr val="287840"/>
                </a:solidFill>
                <a:latin typeface="Century Gothic"/>
              </a:rPr>
              <a:t>Clase objetivo: Deserción</a:t>
            </a:r>
          </a:p>
        </p:txBody>
      </p:sp>
      <p:sp>
        <p:nvSpPr>
          <p:cNvPr id="28" name="TextBox 27"/>
          <p:cNvSpPr txBox="1"/>
          <p:nvPr/>
        </p:nvSpPr>
        <p:spPr>
          <a:xfrm>
            <a:off x="6355080" y="2825496"/>
            <a:ext cx="5486400" cy="329184"/>
          </a:xfrm>
          <a:prstGeom prst="rect">
            <a:avLst/>
          </a:prstGeom>
          <a:noFill/>
        </p:spPr>
        <p:txBody>
          <a:bodyPr wrap="square">
            <a:spAutoFit/>
          </a:bodyPr>
          <a:lstStyle/>
          <a:p>
            <a:pPr algn="l"/>
            <a:r>
              <a:rPr sz="1000" b="0">
                <a:solidFill>
                  <a:srgbClr val="000000"/>
                </a:solidFill>
                <a:latin typeface="Century Gothic"/>
              </a:rPr>
              <a:t>17,6 % positivos (176 estudiantes) / 82,4 % negativos.</a:t>
            </a:r>
          </a:p>
        </p:txBody>
      </p:sp>
      <p:sp>
        <p:nvSpPr>
          <p:cNvPr id="29" name="Rectangle 28"/>
          <p:cNvSpPr/>
          <p:nvPr/>
        </p:nvSpPr>
        <p:spPr>
          <a:xfrm>
            <a:off x="6245352" y="3264408"/>
            <a:ext cx="5760720" cy="694944"/>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55080" y="3319272"/>
            <a:ext cx="5486400" cy="219456"/>
          </a:xfrm>
          <a:prstGeom prst="rect">
            <a:avLst/>
          </a:prstGeom>
          <a:noFill/>
        </p:spPr>
        <p:txBody>
          <a:bodyPr wrap="square">
            <a:spAutoFit/>
          </a:bodyPr>
          <a:lstStyle/>
          <a:p>
            <a:pPr algn="l"/>
            <a:r>
              <a:rPr sz="1100" b="1">
                <a:solidFill>
                  <a:srgbClr val="287840"/>
                </a:solidFill>
                <a:latin typeface="Century Gothic"/>
              </a:rPr>
              <a:t>Fuente base</a:t>
            </a:r>
          </a:p>
        </p:txBody>
      </p:sp>
      <p:sp>
        <p:nvSpPr>
          <p:cNvPr id="31" name="TextBox 30"/>
          <p:cNvSpPr txBox="1"/>
          <p:nvPr/>
        </p:nvSpPr>
        <p:spPr>
          <a:xfrm>
            <a:off x="6355080" y="3557016"/>
            <a:ext cx="5486400" cy="329184"/>
          </a:xfrm>
          <a:prstGeom prst="rect">
            <a:avLst/>
          </a:prstGeom>
          <a:noFill/>
        </p:spPr>
        <p:txBody>
          <a:bodyPr wrap="square">
            <a:spAutoFit/>
          </a:bodyPr>
          <a:lstStyle/>
          <a:p>
            <a:pPr algn="l"/>
            <a:r>
              <a:rPr sz="1000" b="0">
                <a:solidFill>
                  <a:srgbClr val="000000"/>
                </a:solidFill>
                <a:latin typeface="Century Gothic"/>
              </a:rPr>
              <a:t>Informes de Caracterización Estudiantil Bienestar Universitario 2021-2025.</a:t>
            </a:r>
          </a:p>
        </p:txBody>
      </p:sp>
      <p:sp>
        <p:nvSpPr>
          <p:cNvPr id="32" name="Rectangle 31"/>
          <p:cNvSpPr/>
          <p:nvPr/>
        </p:nvSpPr>
        <p:spPr>
          <a:xfrm>
            <a:off x="6245352" y="3995928"/>
            <a:ext cx="5760720" cy="694944"/>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55080" y="4050791"/>
            <a:ext cx="5486400" cy="219456"/>
          </a:xfrm>
          <a:prstGeom prst="rect">
            <a:avLst/>
          </a:prstGeom>
          <a:noFill/>
        </p:spPr>
        <p:txBody>
          <a:bodyPr wrap="square">
            <a:spAutoFit/>
          </a:bodyPr>
          <a:lstStyle/>
          <a:p>
            <a:pPr algn="l"/>
            <a:r>
              <a:rPr sz="1100" b="1">
                <a:solidFill>
                  <a:srgbClr val="287840"/>
                </a:solidFill>
                <a:latin typeface="Century Gothic"/>
              </a:rPr>
              <a:t>Preprocesamiento</a:t>
            </a:r>
          </a:p>
        </p:txBody>
      </p:sp>
      <p:sp>
        <p:nvSpPr>
          <p:cNvPr id="34" name="TextBox 33"/>
          <p:cNvSpPr txBox="1"/>
          <p:nvPr/>
        </p:nvSpPr>
        <p:spPr>
          <a:xfrm>
            <a:off x="6355080" y="4288536"/>
            <a:ext cx="5486400" cy="329184"/>
          </a:xfrm>
          <a:prstGeom prst="rect">
            <a:avLst/>
          </a:prstGeom>
          <a:noFill/>
        </p:spPr>
        <p:txBody>
          <a:bodyPr wrap="square">
            <a:spAutoFit/>
          </a:bodyPr>
          <a:lstStyle/>
          <a:p>
            <a:pPr algn="l"/>
            <a:r>
              <a:rPr sz="1000" b="0">
                <a:solidFill>
                  <a:srgbClr val="000000"/>
                </a:solidFill>
                <a:latin typeface="Century Gothic"/>
              </a:rPr>
              <a:t>Imputación de medianas, escalado MinMax, SMOTE para balance de clases.</a:t>
            </a:r>
          </a:p>
        </p:txBody>
      </p:sp>
      <p:sp>
        <p:nvSpPr>
          <p:cNvPr id="35" name="Rectangle 34"/>
          <p:cNvSpPr/>
          <p:nvPr/>
        </p:nvSpPr>
        <p:spPr>
          <a:xfrm>
            <a:off x="6245352" y="4727448"/>
            <a:ext cx="5760720" cy="694944"/>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55080" y="4782312"/>
            <a:ext cx="5486400" cy="219456"/>
          </a:xfrm>
          <a:prstGeom prst="rect">
            <a:avLst/>
          </a:prstGeom>
          <a:noFill/>
        </p:spPr>
        <p:txBody>
          <a:bodyPr wrap="square">
            <a:spAutoFit/>
          </a:bodyPr>
          <a:lstStyle/>
          <a:p>
            <a:pPr algn="l"/>
            <a:r>
              <a:rPr sz="1100" b="1">
                <a:solidFill>
                  <a:srgbClr val="287840"/>
                </a:solidFill>
                <a:latin typeface="Century Gothic"/>
              </a:rPr>
              <a:t>Split</a:t>
            </a:r>
          </a:p>
        </p:txBody>
      </p:sp>
      <p:sp>
        <p:nvSpPr>
          <p:cNvPr id="37" name="TextBox 36"/>
          <p:cNvSpPr txBox="1"/>
          <p:nvPr/>
        </p:nvSpPr>
        <p:spPr>
          <a:xfrm>
            <a:off x="6355080" y="5020056"/>
            <a:ext cx="5486400" cy="246221"/>
          </a:xfrm>
          <a:prstGeom prst="rect">
            <a:avLst/>
          </a:prstGeom>
          <a:noFill/>
        </p:spPr>
        <p:txBody>
          <a:bodyPr wrap="square">
            <a:spAutoFit/>
          </a:bodyPr>
          <a:lstStyle/>
          <a:p>
            <a:pPr algn="l"/>
            <a:r>
              <a:rPr lang="es-ES" sz="1000" dirty="0">
                <a:solidFill>
                  <a:srgbClr val="000000"/>
                </a:solidFill>
                <a:latin typeface="Century Gothic"/>
              </a:rPr>
              <a:t>8</a:t>
            </a:r>
            <a:r>
              <a:rPr sz="1000" b="0" dirty="0">
                <a:solidFill>
                  <a:srgbClr val="000000"/>
                </a:solidFill>
                <a:latin typeface="Century Gothic"/>
              </a:rPr>
              <a:t>0 % </a:t>
            </a:r>
            <a:r>
              <a:rPr sz="1000" b="0" dirty="0" err="1">
                <a:solidFill>
                  <a:srgbClr val="000000"/>
                </a:solidFill>
                <a:latin typeface="Century Gothic"/>
              </a:rPr>
              <a:t>entrenamiento</a:t>
            </a:r>
            <a:r>
              <a:rPr sz="1000" b="0" dirty="0">
                <a:solidFill>
                  <a:srgbClr val="000000"/>
                </a:solidFill>
                <a:latin typeface="Century Gothic"/>
              </a:rPr>
              <a:t> / </a:t>
            </a:r>
            <a:r>
              <a:rPr lang="es-ES" sz="1000" b="0" dirty="0">
                <a:solidFill>
                  <a:srgbClr val="000000"/>
                </a:solidFill>
                <a:latin typeface="Century Gothic"/>
              </a:rPr>
              <a:t>2</a:t>
            </a:r>
            <a:r>
              <a:rPr sz="1000" b="0" dirty="0">
                <a:solidFill>
                  <a:srgbClr val="000000"/>
                </a:solidFill>
                <a:latin typeface="Century Gothic"/>
              </a:rPr>
              <a:t>0 % </a:t>
            </a:r>
            <a:r>
              <a:rPr sz="1000" b="0" dirty="0" err="1">
                <a:solidFill>
                  <a:srgbClr val="000000"/>
                </a:solidFill>
                <a:latin typeface="Century Gothic"/>
              </a:rPr>
              <a:t>prueba</a:t>
            </a:r>
            <a:r>
              <a:rPr sz="1000" b="0" dirty="0">
                <a:solidFill>
                  <a:srgbClr val="000000"/>
                </a:solidFill>
                <a:latin typeface="Century Gothic"/>
              </a:rPr>
              <a:t>. </a:t>
            </a:r>
            <a:r>
              <a:rPr sz="1000" b="0" dirty="0" err="1">
                <a:solidFill>
                  <a:srgbClr val="000000"/>
                </a:solidFill>
                <a:latin typeface="Century Gothic"/>
              </a:rPr>
              <a:t>Validación</a:t>
            </a:r>
            <a:r>
              <a:rPr sz="1000" b="0" dirty="0">
                <a:solidFill>
                  <a:srgbClr val="000000"/>
                </a:solidFill>
                <a:latin typeface="Century Gothic"/>
              </a:rPr>
              <a:t> </a:t>
            </a:r>
            <a:r>
              <a:rPr sz="1000" b="0" dirty="0" err="1">
                <a:solidFill>
                  <a:srgbClr val="000000"/>
                </a:solidFill>
                <a:latin typeface="Century Gothic"/>
              </a:rPr>
              <a:t>cruzada</a:t>
            </a:r>
            <a:r>
              <a:rPr sz="1000" b="0" dirty="0">
                <a:solidFill>
                  <a:srgbClr val="000000"/>
                </a:solidFill>
                <a:latin typeface="Century Gothic"/>
              </a:rPr>
              <a:t> 5-fold.</a:t>
            </a:r>
          </a:p>
        </p:txBody>
      </p:sp>
      <p:sp>
        <p:nvSpPr>
          <p:cNvPr id="38" name="Rectangle 37"/>
          <p:cNvSpPr/>
          <p:nvPr/>
        </p:nvSpPr>
        <p:spPr>
          <a:xfrm>
            <a:off x="0" y="6565392"/>
            <a:ext cx="12188952" cy="292608"/>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82880" y="6574536"/>
            <a:ext cx="11795760" cy="274320"/>
          </a:xfrm>
          <a:prstGeom prst="rect">
            <a:avLst/>
          </a:prstGeom>
          <a:noFill/>
        </p:spPr>
        <p:txBody>
          <a:bodyPr wrap="square">
            <a:spAutoFit/>
          </a:bodyPr>
          <a:lstStyle/>
          <a:p>
            <a:pPr algn="l"/>
            <a:r>
              <a:rPr sz="900" b="0">
                <a:solidFill>
                  <a:srgbClr val="FFFFFF"/>
                </a:solidFill>
                <a:latin typeface="Century Gothic"/>
              </a:rPr>
              <a:t>Jhon A. Correal M.  ·  Rafael A. Guzmán R.  ·  Docente: D. C. Alvarado M.  ·  ETITC  ·  Mayo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887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0972800" cy="621792"/>
          </a:xfrm>
          <a:prstGeom prst="rect">
            <a:avLst/>
          </a:prstGeom>
          <a:noFill/>
        </p:spPr>
        <p:txBody>
          <a:bodyPr wrap="square">
            <a:spAutoFit/>
          </a:bodyPr>
          <a:lstStyle/>
          <a:p>
            <a:pPr algn="l"/>
            <a:r>
              <a:rPr sz="2800" b="1">
                <a:solidFill>
                  <a:srgbClr val="FFFFFF"/>
                </a:solidFill>
                <a:latin typeface="Century Gothic"/>
              </a:rPr>
              <a:t>Resultados del Modelo</a:t>
            </a:r>
          </a:p>
        </p:txBody>
      </p:sp>
      <p:sp>
        <p:nvSpPr>
          <p:cNvPr id="4" name="TextBox 3"/>
          <p:cNvSpPr txBox="1"/>
          <p:nvPr/>
        </p:nvSpPr>
        <p:spPr>
          <a:xfrm>
            <a:off x="274320" y="676656"/>
            <a:ext cx="10972800" cy="411480"/>
          </a:xfrm>
          <a:prstGeom prst="rect">
            <a:avLst/>
          </a:prstGeom>
          <a:noFill/>
        </p:spPr>
        <p:txBody>
          <a:bodyPr wrap="square">
            <a:spAutoFit/>
          </a:bodyPr>
          <a:lstStyle/>
          <a:p>
            <a:pPr algn="l"/>
            <a:r>
              <a:rPr sz="1300" b="0">
                <a:solidFill>
                  <a:srgbClr val="94C121"/>
                </a:solidFill>
                <a:latin typeface="Century Gothic"/>
              </a:rPr>
              <a:t>Comparativa Random Forest vs. XGBoost — Datos sintéticos n = 1 000</a:t>
            </a:r>
          </a:p>
        </p:txBody>
      </p:sp>
      <p:sp>
        <p:nvSpPr>
          <p:cNvPr id="5" name="Rectangle 4"/>
          <p:cNvSpPr/>
          <p:nvPr/>
        </p:nvSpPr>
        <p:spPr>
          <a:xfrm>
            <a:off x="274320" y="1417320"/>
            <a:ext cx="5577840" cy="347472"/>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444752"/>
            <a:ext cx="5394960" cy="292608"/>
          </a:xfrm>
          <a:prstGeom prst="rect">
            <a:avLst/>
          </a:prstGeom>
          <a:noFill/>
        </p:spPr>
        <p:txBody>
          <a:bodyPr wrap="square">
            <a:spAutoFit/>
          </a:bodyPr>
          <a:lstStyle/>
          <a:p>
            <a:pPr algn="l"/>
            <a:r>
              <a:rPr sz="1400" b="1">
                <a:solidFill>
                  <a:srgbClr val="FFFFFF"/>
                </a:solidFill>
                <a:latin typeface="Century Gothic"/>
              </a:rPr>
              <a:t>Random Forest  (Breiman, 2001)</a:t>
            </a:r>
          </a:p>
        </p:txBody>
      </p:sp>
      <p:sp>
        <p:nvSpPr>
          <p:cNvPr id="7" name="Rectangle 6"/>
          <p:cNvSpPr/>
          <p:nvPr/>
        </p:nvSpPr>
        <p:spPr>
          <a:xfrm>
            <a:off x="274320" y="1874519"/>
            <a:ext cx="5577840" cy="548640"/>
          </a:xfrm>
          <a:prstGeom prst="rect">
            <a:avLst/>
          </a:prstGeom>
          <a:solidFill>
            <a:srgbClr val="94C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965960"/>
            <a:ext cx="3200400" cy="365760"/>
          </a:xfrm>
          <a:prstGeom prst="rect">
            <a:avLst/>
          </a:prstGeom>
          <a:noFill/>
        </p:spPr>
        <p:txBody>
          <a:bodyPr wrap="square">
            <a:spAutoFit/>
          </a:bodyPr>
          <a:lstStyle/>
          <a:p>
            <a:pPr algn="l"/>
            <a:r>
              <a:rPr sz="1300" b="0">
                <a:solidFill>
                  <a:srgbClr val="000000"/>
                </a:solidFill>
                <a:latin typeface="Century Gothic"/>
              </a:rPr>
              <a:t>Exactitud</a:t>
            </a:r>
          </a:p>
        </p:txBody>
      </p:sp>
      <p:sp>
        <p:nvSpPr>
          <p:cNvPr id="9" name="TextBox 8"/>
          <p:cNvSpPr txBox="1"/>
          <p:nvPr/>
        </p:nvSpPr>
        <p:spPr>
          <a:xfrm>
            <a:off x="3840480" y="1929384"/>
            <a:ext cx="1828800" cy="420624"/>
          </a:xfrm>
          <a:prstGeom prst="rect">
            <a:avLst/>
          </a:prstGeom>
          <a:noFill/>
        </p:spPr>
        <p:txBody>
          <a:bodyPr wrap="square">
            <a:spAutoFit/>
          </a:bodyPr>
          <a:lstStyle/>
          <a:p>
            <a:pPr algn="r"/>
            <a:r>
              <a:rPr sz="2000" b="1">
                <a:solidFill>
                  <a:srgbClr val="287840"/>
                </a:solidFill>
                <a:latin typeface="Century Gothic"/>
              </a:rPr>
              <a:t>95,0 %</a:t>
            </a:r>
          </a:p>
        </p:txBody>
      </p:sp>
      <p:sp>
        <p:nvSpPr>
          <p:cNvPr id="10" name="Rectangle 9"/>
          <p:cNvSpPr/>
          <p:nvPr/>
        </p:nvSpPr>
        <p:spPr>
          <a:xfrm>
            <a:off x="274320" y="2514600"/>
            <a:ext cx="5577840" cy="548640"/>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2606040"/>
            <a:ext cx="3200400" cy="365760"/>
          </a:xfrm>
          <a:prstGeom prst="rect">
            <a:avLst/>
          </a:prstGeom>
          <a:noFill/>
        </p:spPr>
        <p:txBody>
          <a:bodyPr wrap="square">
            <a:spAutoFit/>
          </a:bodyPr>
          <a:lstStyle/>
          <a:p>
            <a:pPr algn="l"/>
            <a:r>
              <a:rPr sz="1300" b="0">
                <a:solidFill>
                  <a:srgbClr val="000000"/>
                </a:solidFill>
                <a:latin typeface="Century Gothic"/>
              </a:rPr>
              <a:t>Precisión</a:t>
            </a:r>
          </a:p>
        </p:txBody>
      </p:sp>
      <p:sp>
        <p:nvSpPr>
          <p:cNvPr id="12" name="TextBox 11"/>
          <p:cNvSpPr txBox="1"/>
          <p:nvPr/>
        </p:nvSpPr>
        <p:spPr>
          <a:xfrm>
            <a:off x="3840480" y="2569464"/>
            <a:ext cx="1828800" cy="420624"/>
          </a:xfrm>
          <a:prstGeom prst="rect">
            <a:avLst/>
          </a:prstGeom>
          <a:noFill/>
        </p:spPr>
        <p:txBody>
          <a:bodyPr wrap="square">
            <a:spAutoFit/>
          </a:bodyPr>
          <a:lstStyle/>
          <a:p>
            <a:pPr algn="r"/>
            <a:r>
              <a:rPr sz="2000" b="1">
                <a:solidFill>
                  <a:srgbClr val="287840"/>
                </a:solidFill>
                <a:latin typeface="Century Gothic"/>
              </a:rPr>
              <a:t>100,0 %</a:t>
            </a:r>
          </a:p>
        </p:txBody>
      </p:sp>
      <p:sp>
        <p:nvSpPr>
          <p:cNvPr id="13" name="Rectangle 12"/>
          <p:cNvSpPr/>
          <p:nvPr/>
        </p:nvSpPr>
        <p:spPr>
          <a:xfrm>
            <a:off x="274320" y="3154679"/>
            <a:ext cx="5577840" cy="548640"/>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80" y="3246120"/>
            <a:ext cx="3200400" cy="365760"/>
          </a:xfrm>
          <a:prstGeom prst="rect">
            <a:avLst/>
          </a:prstGeom>
          <a:noFill/>
        </p:spPr>
        <p:txBody>
          <a:bodyPr wrap="square">
            <a:spAutoFit/>
          </a:bodyPr>
          <a:lstStyle/>
          <a:p>
            <a:pPr algn="l"/>
            <a:r>
              <a:rPr sz="1300" b="0">
                <a:solidFill>
                  <a:srgbClr val="000000"/>
                </a:solidFill>
                <a:latin typeface="Century Gothic"/>
              </a:rPr>
              <a:t>Recall</a:t>
            </a:r>
          </a:p>
        </p:txBody>
      </p:sp>
      <p:sp>
        <p:nvSpPr>
          <p:cNvPr id="15" name="TextBox 14"/>
          <p:cNvSpPr txBox="1"/>
          <p:nvPr/>
        </p:nvSpPr>
        <p:spPr>
          <a:xfrm>
            <a:off x="3840480" y="3209544"/>
            <a:ext cx="1828800" cy="420624"/>
          </a:xfrm>
          <a:prstGeom prst="rect">
            <a:avLst/>
          </a:prstGeom>
          <a:noFill/>
        </p:spPr>
        <p:txBody>
          <a:bodyPr wrap="square">
            <a:spAutoFit/>
          </a:bodyPr>
          <a:lstStyle/>
          <a:p>
            <a:pPr algn="r"/>
            <a:r>
              <a:rPr sz="2000" b="1">
                <a:solidFill>
                  <a:srgbClr val="287840"/>
                </a:solidFill>
                <a:latin typeface="Century Gothic"/>
              </a:rPr>
              <a:t>71,4 %</a:t>
            </a:r>
          </a:p>
        </p:txBody>
      </p:sp>
      <p:sp>
        <p:nvSpPr>
          <p:cNvPr id="16" name="Rectangle 15"/>
          <p:cNvSpPr/>
          <p:nvPr/>
        </p:nvSpPr>
        <p:spPr>
          <a:xfrm>
            <a:off x="274320" y="3794759"/>
            <a:ext cx="5577840" cy="548640"/>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80" y="3886199"/>
            <a:ext cx="3200400" cy="365760"/>
          </a:xfrm>
          <a:prstGeom prst="rect">
            <a:avLst/>
          </a:prstGeom>
          <a:noFill/>
        </p:spPr>
        <p:txBody>
          <a:bodyPr wrap="square">
            <a:spAutoFit/>
          </a:bodyPr>
          <a:lstStyle/>
          <a:p>
            <a:pPr algn="l"/>
            <a:r>
              <a:rPr sz="1300" b="0">
                <a:solidFill>
                  <a:srgbClr val="000000"/>
                </a:solidFill>
                <a:latin typeface="Century Gothic"/>
              </a:rPr>
              <a:t>F1-Score</a:t>
            </a:r>
          </a:p>
        </p:txBody>
      </p:sp>
      <p:sp>
        <p:nvSpPr>
          <p:cNvPr id="18" name="TextBox 17"/>
          <p:cNvSpPr txBox="1"/>
          <p:nvPr/>
        </p:nvSpPr>
        <p:spPr>
          <a:xfrm>
            <a:off x="3840480" y="3849623"/>
            <a:ext cx="1828800" cy="420624"/>
          </a:xfrm>
          <a:prstGeom prst="rect">
            <a:avLst/>
          </a:prstGeom>
          <a:noFill/>
        </p:spPr>
        <p:txBody>
          <a:bodyPr wrap="square">
            <a:spAutoFit/>
          </a:bodyPr>
          <a:lstStyle/>
          <a:p>
            <a:pPr algn="r"/>
            <a:r>
              <a:rPr sz="2000" b="1">
                <a:solidFill>
                  <a:srgbClr val="287840"/>
                </a:solidFill>
                <a:latin typeface="Century Gothic"/>
              </a:rPr>
              <a:t>83,3 %</a:t>
            </a:r>
          </a:p>
        </p:txBody>
      </p:sp>
      <p:sp>
        <p:nvSpPr>
          <p:cNvPr id="19" name="Rectangle 18"/>
          <p:cNvSpPr/>
          <p:nvPr/>
        </p:nvSpPr>
        <p:spPr>
          <a:xfrm>
            <a:off x="274320" y="4434840"/>
            <a:ext cx="5577840" cy="548640"/>
          </a:xfrm>
          <a:prstGeom prst="rect">
            <a:avLst/>
          </a:prstGeom>
          <a:solidFill>
            <a:srgbClr val="94C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4526279"/>
            <a:ext cx="3200400" cy="365760"/>
          </a:xfrm>
          <a:prstGeom prst="rect">
            <a:avLst/>
          </a:prstGeom>
          <a:noFill/>
        </p:spPr>
        <p:txBody>
          <a:bodyPr wrap="square">
            <a:spAutoFit/>
          </a:bodyPr>
          <a:lstStyle/>
          <a:p>
            <a:pPr algn="l"/>
            <a:r>
              <a:rPr sz="1300" b="0">
                <a:solidFill>
                  <a:srgbClr val="000000"/>
                </a:solidFill>
                <a:latin typeface="Century Gothic"/>
              </a:rPr>
              <a:t>AUC-ROC</a:t>
            </a:r>
          </a:p>
        </p:txBody>
      </p:sp>
      <p:sp>
        <p:nvSpPr>
          <p:cNvPr id="21" name="TextBox 20"/>
          <p:cNvSpPr txBox="1"/>
          <p:nvPr/>
        </p:nvSpPr>
        <p:spPr>
          <a:xfrm>
            <a:off x="3840480" y="4489703"/>
            <a:ext cx="1828800" cy="420624"/>
          </a:xfrm>
          <a:prstGeom prst="rect">
            <a:avLst/>
          </a:prstGeom>
          <a:noFill/>
        </p:spPr>
        <p:txBody>
          <a:bodyPr wrap="square">
            <a:spAutoFit/>
          </a:bodyPr>
          <a:lstStyle/>
          <a:p>
            <a:pPr algn="r"/>
            <a:r>
              <a:rPr sz="2000" b="1">
                <a:solidFill>
                  <a:srgbClr val="287840"/>
                </a:solidFill>
                <a:latin typeface="Century Gothic"/>
              </a:rPr>
              <a:t>0,976</a:t>
            </a:r>
          </a:p>
        </p:txBody>
      </p:sp>
      <p:sp>
        <p:nvSpPr>
          <p:cNvPr id="22" name="Rectangle 21"/>
          <p:cNvSpPr/>
          <p:nvPr/>
        </p:nvSpPr>
        <p:spPr>
          <a:xfrm>
            <a:off x="6336792" y="1417320"/>
            <a:ext cx="5577840" cy="347472"/>
          </a:xfrm>
          <a:prstGeom prst="rect">
            <a:avLst/>
          </a:prstGeom>
          <a:solidFill>
            <a:srgbClr val="4DA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28232" y="1444752"/>
            <a:ext cx="5394960" cy="292608"/>
          </a:xfrm>
          <a:prstGeom prst="rect">
            <a:avLst/>
          </a:prstGeom>
          <a:noFill/>
        </p:spPr>
        <p:txBody>
          <a:bodyPr wrap="square">
            <a:spAutoFit/>
          </a:bodyPr>
          <a:lstStyle/>
          <a:p>
            <a:pPr algn="l"/>
            <a:r>
              <a:rPr sz="1400" b="1">
                <a:solidFill>
                  <a:srgbClr val="FFFFFF"/>
                </a:solidFill>
                <a:latin typeface="Century Gothic"/>
              </a:rPr>
              <a:t>XGBoost  (Chen &amp; Guestrin, 2016)</a:t>
            </a:r>
          </a:p>
        </p:txBody>
      </p:sp>
      <p:sp>
        <p:nvSpPr>
          <p:cNvPr id="24" name="Rectangle 23"/>
          <p:cNvSpPr/>
          <p:nvPr/>
        </p:nvSpPr>
        <p:spPr>
          <a:xfrm>
            <a:off x="6336792" y="1874519"/>
            <a:ext cx="5577840" cy="548640"/>
          </a:xfrm>
          <a:prstGeom prst="rect">
            <a:avLst/>
          </a:prstGeom>
          <a:solidFill>
            <a:srgbClr val="94C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73952" y="1965960"/>
            <a:ext cx="3200400" cy="365760"/>
          </a:xfrm>
          <a:prstGeom prst="rect">
            <a:avLst/>
          </a:prstGeom>
          <a:noFill/>
        </p:spPr>
        <p:txBody>
          <a:bodyPr wrap="square">
            <a:spAutoFit/>
          </a:bodyPr>
          <a:lstStyle/>
          <a:p>
            <a:pPr algn="l"/>
            <a:r>
              <a:rPr sz="1300" b="0">
                <a:solidFill>
                  <a:srgbClr val="000000"/>
                </a:solidFill>
                <a:latin typeface="Century Gothic"/>
              </a:rPr>
              <a:t>Exactitud</a:t>
            </a:r>
          </a:p>
        </p:txBody>
      </p:sp>
      <p:sp>
        <p:nvSpPr>
          <p:cNvPr id="26" name="TextBox 25"/>
          <p:cNvSpPr txBox="1"/>
          <p:nvPr/>
        </p:nvSpPr>
        <p:spPr>
          <a:xfrm>
            <a:off x="10085832" y="1929384"/>
            <a:ext cx="1645920" cy="420624"/>
          </a:xfrm>
          <a:prstGeom prst="rect">
            <a:avLst/>
          </a:prstGeom>
          <a:noFill/>
        </p:spPr>
        <p:txBody>
          <a:bodyPr wrap="square">
            <a:spAutoFit/>
          </a:bodyPr>
          <a:lstStyle/>
          <a:p>
            <a:pPr algn="r"/>
            <a:r>
              <a:rPr sz="2000" b="1">
                <a:solidFill>
                  <a:srgbClr val="287840"/>
                </a:solidFill>
                <a:latin typeface="Century Gothic"/>
              </a:rPr>
              <a:t>95,5 %</a:t>
            </a:r>
          </a:p>
        </p:txBody>
      </p:sp>
      <p:sp>
        <p:nvSpPr>
          <p:cNvPr id="27" name="Rectangle 26"/>
          <p:cNvSpPr/>
          <p:nvPr/>
        </p:nvSpPr>
        <p:spPr>
          <a:xfrm>
            <a:off x="6336792" y="2514600"/>
            <a:ext cx="5577840" cy="548640"/>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73952" y="2606040"/>
            <a:ext cx="3200400" cy="365760"/>
          </a:xfrm>
          <a:prstGeom prst="rect">
            <a:avLst/>
          </a:prstGeom>
          <a:noFill/>
        </p:spPr>
        <p:txBody>
          <a:bodyPr wrap="square">
            <a:spAutoFit/>
          </a:bodyPr>
          <a:lstStyle/>
          <a:p>
            <a:pPr algn="l"/>
            <a:r>
              <a:rPr sz="1300" b="0">
                <a:solidFill>
                  <a:srgbClr val="000000"/>
                </a:solidFill>
                <a:latin typeface="Century Gothic"/>
              </a:rPr>
              <a:t>Precisión</a:t>
            </a:r>
          </a:p>
        </p:txBody>
      </p:sp>
      <p:sp>
        <p:nvSpPr>
          <p:cNvPr id="29" name="TextBox 28"/>
          <p:cNvSpPr txBox="1"/>
          <p:nvPr/>
        </p:nvSpPr>
        <p:spPr>
          <a:xfrm>
            <a:off x="10085832" y="2569464"/>
            <a:ext cx="1645920" cy="420624"/>
          </a:xfrm>
          <a:prstGeom prst="rect">
            <a:avLst/>
          </a:prstGeom>
          <a:noFill/>
        </p:spPr>
        <p:txBody>
          <a:bodyPr wrap="square">
            <a:spAutoFit/>
          </a:bodyPr>
          <a:lstStyle/>
          <a:p>
            <a:pPr algn="r"/>
            <a:r>
              <a:rPr sz="2000" b="1">
                <a:solidFill>
                  <a:srgbClr val="287840"/>
                </a:solidFill>
                <a:latin typeface="Century Gothic"/>
              </a:rPr>
              <a:t>88,2 %</a:t>
            </a:r>
          </a:p>
        </p:txBody>
      </p:sp>
      <p:sp>
        <p:nvSpPr>
          <p:cNvPr id="30" name="Rectangle 29"/>
          <p:cNvSpPr/>
          <p:nvPr/>
        </p:nvSpPr>
        <p:spPr>
          <a:xfrm>
            <a:off x="6336792" y="3154679"/>
            <a:ext cx="5577840" cy="548640"/>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73952" y="3246120"/>
            <a:ext cx="3200400" cy="365760"/>
          </a:xfrm>
          <a:prstGeom prst="rect">
            <a:avLst/>
          </a:prstGeom>
          <a:noFill/>
        </p:spPr>
        <p:txBody>
          <a:bodyPr wrap="square">
            <a:spAutoFit/>
          </a:bodyPr>
          <a:lstStyle/>
          <a:p>
            <a:pPr algn="l"/>
            <a:r>
              <a:rPr sz="1300" b="0">
                <a:solidFill>
                  <a:srgbClr val="000000"/>
                </a:solidFill>
                <a:latin typeface="Century Gothic"/>
              </a:rPr>
              <a:t>Recall</a:t>
            </a:r>
          </a:p>
        </p:txBody>
      </p:sp>
      <p:sp>
        <p:nvSpPr>
          <p:cNvPr id="32" name="TextBox 31"/>
          <p:cNvSpPr txBox="1"/>
          <p:nvPr/>
        </p:nvSpPr>
        <p:spPr>
          <a:xfrm>
            <a:off x="10085832" y="3209544"/>
            <a:ext cx="1645920" cy="420624"/>
          </a:xfrm>
          <a:prstGeom prst="rect">
            <a:avLst/>
          </a:prstGeom>
          <a:noFill/>
        </p:spPr>
        <p:txBody>
          <a:bodyPr wrap="square">
            <a:spAutoFit/>
          </a:bodyPr>
          <a:lstStyle/>
          <a:p>
            <a:pPr algn="r"/>
            <a:r>
              <a:rPr sz="2000" b="1">
                <a:solidFill>
                  <a:srgbClr val="287840"/>
                </a:solidFill>
                <a:latin typeface="Century Gothic"/>
              </a:rPr>
              <a:t>85,7 %</a:t>
            </a:r>
          </a:p>
        </p:txBody>
      </p:sp>
      <p:sp>
        <p:nvSpPr>
          <p:cNvPr id="33" name="Rectangle 32"/>
          <p:cNvSpPr/>
          <p:nvPr/>
        </p:nvSpPr>
        <p:spPr>
          <a:xfrm>
            <a:off x="6336792" y="3794759"/>
            <a:ext cx="5577840" cy="548640"/>
          </a:xfrm>
          <a:prstGeom prst="rect">
            <a:avLst/>
          </a:prstGeom>
          <a:solidFill>
            <a:srgbClr val="94C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73952" y="3886199"/>
            <a:ext cx="3200400" cy="365760"/>
          </a:xfrm>
          <a:prstGeom prst="rect">
            <a:avLst/>
          </a:prstGeom>
          <a:noFill/>
        </p:spPr>
        <p:txBody>
          <a:bodyPr wrap="square">
            <a:spAutoFit/>
          </a:bodyPr>
          <a:lstStyle/>
          <a:p>
            <a:pPr algn="l"/>
            <a:r>
              <a:rPr sz="1300" b="0">
                <a:solidFill>
                  <a:srgbClr val="000000"/>
                </a:solidFill>
                <a:latin typeface="Century Gothic"/>
              </a:rPr>
              <a:t>F1-Score</a:t>
            </a:r>
          </a:p>
        </p:txBody>
      </p:sp>
      <p:sp>
        <p:nvSpPr>
          <p:cNvPr id="35" name="TextBox 34"/>
          <p:cNvSpPr txBox="1"/>
          <p:nvPr/>
        </p:nvSpPr>
        <p:spPr>
          <a:xfrm>
            <a:off x="10085832" y="3849623"/>
            <a:ext cx="1645920" cy="420624"/>
          </a:xfrm>
          <a:prstGeom prst="rect">
            <a:avLst/>
          </a:prstGeom>
          <a:noFill/>
        </p:spPr>
        <p:txBody>
          <a:bodyPr wrap="square">
            <a:spAutoFit/>
          </a:bodyPr>
          <a:lstStyle/>
          <a:p>
            <a:pPr algn="r"/>
            <a:r>
              <a:rPr sz="2000" b="1">
                <a:solidFill>
                  <a:srgbClr val="287840"/>
                </a:solidFill>
                <a:latin typeface="Century Gothic"/>
              </a:rPr>
              <a:t>87,0 %</a:t>
            </a:r>
          </a:p>
        </p:txBody>
      </p:sp>
      <p:sp>
        <p:nvSpPr>
          <p:cNvPr id="36" name="Rectangle 35"/>
          <p:cNvSpPr/>
          <p:nvPr/>
        </p:nvSpPr>
        <p:spPr>
          <a:xfrm>
            <a:off x="6336792" y="4434840"/>
            <a:ext cx="5577840" cy="548640"/>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73952" y="4526279"/>
            <a:ext cx="3200400" cy="365760"/>
          </a:xfrm>
          <a:prstGeom prst="rect">
            <a:avLst/>
          </a:prstGeom>
          <a:noFill/>
        </p:spPr>
        <p:txBody>
          <a:bodyPr wrap="square">
            <a:spAutoFit/>
          </a:bodyPr>
          <a:lstStyle/>
          <a:p>
            <a:pPr algn="l"/>
            <a:r>
              <a:rPr sz="1300" b="0">
                <a:solidFill>
                  <a:srgbClr val="000000"/>
                </a:solidFill>
                <a:latin typeface="Century Gothic"/>
              </a:rPr>
              <a:t>AUC-ROC</a:t>
            </a:r>
          </a:p>
        </p:txBody>
      </p:sp>
      <p:sp>
        <p:nvSpPr>
          <p:cNvPr id="38" name="TextBox 37"/>
          <p:cNvSpPr txBox="1"/>
          <p:nvPr/>
        </p:nvSpPr>
        <p:spPr>
          <a:xfrm>
            <a:off x="10085832" y="4489703"/>
            <a:ext cx="1645920" cy="420624"/>
          </a:xfrm>
          <a:prstGeom prst="rect">
            <a:avLst/>
          </a:prstGeom>
          <a:noFill/>
        </p:spPr>
        <p:txBody>
          <a:bodyPr wrap="square">
            <a:spAutoFit/>
          </a:bodyPr>
          <a:lstStyle/>
          <a:p>
            <a:pPr algn="r"/>
            <a:r>
              <a:rPr sz="2000" b="1">
                <a:solidFill>
                  <a:srgbClr val="287840"/>
                </a:solidFill>
                <a:latin typeface="Century Gothic"/>
              </a:rPr>
              <a:t>0,973</a:t>
            </a:r>
          </a:p>
        </p:txBody>
      </p:sp>
      <p:sp>
        <p:nvSpPr>
          <p:cNvPr id="39" name="TextBox 38"/>
          <p:cNvSpPr txBox="1"/>
          <p:nvPr/>
        </p:nvSpPr>
        <p:spPr>
          <a:xfrm>
            <a:off x="274320" y="5166360"/>
            <a:ext cx="11640312" cy="256032"/>
          </a:xfrm>
          <a:prstGeom prst="rect">
            <a:avLst/>
          </a:prstGeom>
          <a:noFill/>
        </p:spPr>
        <p:txBody>
          <a:bodyPr wrap="square">
            <a:spAutoFit/>
          </a:bodyPr>
          <a:lstStyle/>
          <a:p>
            <a:pPr algn="l"/>
            <a:r>
              <a:rPr sz="1100" b="1">
                <a:solidFill>
                  <a:srgbClr val="287840"/>
                </a:solidFill>
                <a:latin typeface="Century Gothic"/>
              </a:rPr>
              <a:t>★ XGBoost ofrece mejor balance precisión/recall (F1 = 87 % vs. 83 %); RF tiene mayor AUC y precisión perfecta (0 falsas alarmas).</a:t>
            </a:r>
          </a:p>
        </p:txBody>
      </p:sp>
      <p:sp>
        <p:nvSpPr>
          <p:cNvPr id="40" name="Rectangle 39"/>
          <p:cNvSpPr/>
          <p:nvPr/>
        </p:nvSpPr>
        <p:spPr>
          <a:xfrm>
            <a:off x="0" y="6565392"/>
            <a:ext cx="12188952" cy="292608"/>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82880" y="6574536"/>
            <a:ext cx="11795760" cy="274320"/>
          </a:xfrm>
          <a:prstGeom prst="rect">
            <a:avLst/>
          </a:prstGeom>
          <a:noFill/>
        </p:spPr>
        <p:txBody>
          <a:bodyPr wrap="square">
            <a:spAutoFit/>
          </a:bodyPr>
          <a:lstStyle/>
          <a:p>
            <a:pPr algn="l"/>
            <a:r>
              <a:rPr sz="900" b="0">
                <a:solidFill>
                  <a:srgbClr val="FFFFFF"/>
                </a:solidFill>
                <a:latin typeface="Century Gothic"/>
              </a:rPr>
              <a:t>Jhon A. Correal M.  ·  Rafael A. Guzmán R.  ·  Docente: D. C. Alvarado M.  ·  ETITC  ·  Mayo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887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0972800" cy="621792"/>
          </a:xfrm>
          <a:prstGeom prst="rect">
            <a:avLst/>
          </a:prstGeom>
          <a:noFill/>
        </p:spPr>
        <p:txBody>
          <a:bodyPr wrap="square">
            <a:spAutoFit/>
          </a:bodyPr>
          <a:lstStyle/>
          <a:p>
            <a:pPr algn="l"/>
            <a:r>
              <a:rPr sz="2800" b="1">
                <a:solidFill>
                  <a:srgbClr val="FFFFFF"/>
                </a:solidFill>
                <a:latin typeface="Century Gothic"/>
              </a:rPr>
              <a:t>Análisis de Resultados</a:t>
            </a:r>
          </a:p>
        </p:txBody>
      </p:sp>
      <p:sp>
        <p:nvSpPr>
          <p:cNvPr id="4" name="TextBox 3"/>
          <p:cNvSpPr txBox="1"/>
          <p:nvPr/>
        </p:nvSpPr>
        <p:spPr>
          <a:xfrm>
            <a:off x="274320" y="676656"/>
            <a:ext cx="10972800" cy="411480"/>
          </a:xfrm>
          <a:prstGeom prst="rect">
            <a:avLst/>
          </a:prstGeom>
          <a:noFill/>
        </p:spPr>
        <p:txBody>
          <a:bodyPr wrap="square">
            <a:spAutoFit/>
          </a:bodyPr>
          <a:lstStyle/>
          <a:p>
            <a:pPr algn="l"/>
            <a:r>
              <a:rPr sz="1300" b="0">
                <a:solidFill>
                  <a:srgbClr val="94C121"/>
                </a:solidFill>
                <a:latin typeface="Century Gothic"/>
              </a:rPr>
              <a:t>Interpretación cuantitativa y cualitativa del modelo</a:t>
            </a:r>
          </a:p>
        </p:txBody>
      </p:sp>
      <p:sp>
        <p:nvSpPr>
          <p:cNvPr id="5" name="Rectangle 4"/>
          <p:cNvSpPr/>
          <p:nvPr/>
        </p:nvSpPr>
        <p:spPr>
          <a:xfrm>
            <a:off x="182880" y="1417320"/>
            <a:ext cx="5760720" cy="2743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1444752"/>
            <a:ext cx="5486400" cy="219456"/>
          </a:xfrm>
          <a:prstGeom prst="rect">
            <a:avLst/>
          </a:prstGeom>
          <a:noFill/>
        </p:spPr>
        <p:txBody>
          <a:bodyPr wrap="square">
            <a:spAutoFit/>
          </a:bodyPr>
          <a:lstStyle/>
          <a:p>
            <a:pPr algn="l"/>
            <a:r>
              <a:rPr sz="1200" b="1">
                <a:solidFill>
                  <a:srgbClr val="FFFFFF"/>
                </a:solidFill>
                <a:latin typeface="Century Gothic"/>
              </a:rPr>
              <a:t>Análisis Cuantitativo</a:t>
            </a:r>
          </a:p>
        </p:txBody>
      </p:sp>
      <p:sp>
        <p:nvSpPr>
          <p:cNvPr id="7" name="Rectangle 6"/>
          <p:cNvSpPr/>
          <p:nvPr/>
        </p:nvSpPr>
        <p:spPr>
          <a:xfrm>
            <a:off x="182880" y="1792224"/>
            <a:ext cx="5760720" cy="658368"/>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2608" y="1847088"/>
            <a:ext cx="5486400" cy="219456"/>
          </a:xfrm>
          <a:prstGeom prst="rect">
            <a:avLst/>
          </a:prstGeom>
          <a:noFill/>
        </p:spPr>
        <p:txBody>
          <a:bodyPr wrap="square">
            <a:spAutoFit/>
          </a:bodyPr>
          <a:lstStyle/>
          <a:p>
            <a:pPr algn="l"/>
            <a:r>
              <a:rPr sz="1100" b="1">
                <a:solidFill>
                  <a:srgbClr val="287840"/>
                </a:solidFill>
                <a:latin typeface="Century Gothic"/>
              </a:rPr>
              <a:t>Exactitud alta (95 %+)</a:t>
            </a:r>
          </a:p>
        </p:txBody>
      </p:sp>
      <p:sp>
        <p:nvSpPr>
          <p:cNvPr id="9" name="TextBox 8"/>
          <p:cNvSpPr txBox="1"/>
          <p:nvPr/>
        </p:nvSpPr>
        <p:spPr>
          <a:xfrm>
            <a:off x="292608" y="2084831"/>
            <a:ext cx="5486400" cy="310896"/>
          </a:xfrm>
          <a:prstGeom prst="rect">
            <a:avLst/>
          </a:prstGeom>
          <a:noFill/>
        </p:spPr>
        <p:txBody>
          <a:bodyPr wrap="square">
            <a:spAutoFit/>
          </a:bodyPr>
          <a:lstStyle/>
          <a:p>
            <a:pPr algn="l"/>
            <a:r>
              <a:rPr sz="1000" b="0">
                <a:solidFill>
                  <a:srgbClr val="000000"/>
                </a:solidFill>
                <a:latin typeface="Century Gothic"/>
              </a:rPr>
              <a:t>Ambos modelos clasifican correctamente 9 de cada 10 estudiantes.</a:t>
            </a:r>
          </a:p>
        </p:txBody>
      </p:sp>
      <p:sp>
        <p:nvSpPr>
          <p:cNvPr id="10" name="Rectangle 9"/>
          <p:cNvSpPr/>
          <p:nvPr/>
        </p:nvSpPr>
        <p:spPr>
          <a:xfrm>
            <a:off x="182880" y="2542032"/>
            <a:ext cx="5760720" cy="658368"/>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2608" y="2596896"/>
            <a:ext cx="5486400" cy="219456"/>
          </a:xfrm>
          <a:prstGeom prst="rect">
            <a:avLst/>
          </a:prstGeom>
          <a:noFill/>
        </p:spPr>
        <p:txBody>
          <a:bodyPr wrap="square">
            <a:spAutoFit/>
          </a:bodyPr>
          <a:lstStyle/>
          <a:p>
            <a:pPr algn="l"/>
            <a:r>
              <a:rPr sz="1100" b="1">
                <a:solidFill>
                  <a:srgbClr val="287840"/>
                </a:solidFill>
                <a:latin typeface="Century Gothic"/>
              </a:rPr>
              <a:t>Precisión RF = 100 %</a:t>
            </a:r>
          </a:p>
        </p:txBody>
      </p:sp>
      <p:sp>
        <p:nvSpPr>
          <p:cNvPr id="12" name="TextBox 11"/>
          <p:cNvSpPr txBox="1"/>
          <p:nvPr/>
        </p:nvSpPr>
        <p:spPr>
          <a:xfrm>
            <a:off x="292608" y="2834639"/>
            <a:ext cx="5486400" cy="310896"/>
          </a:xfrm>
          <a:prstGeom prst="rect">
            <a:avLst/>
          </a:prstGeom>
          <a:noFill/>
        </p:spPr>
        <p:txBody>
          <a:bodyPr wrap="square">
            <a:spAutoFit/>
          </a:bodyPr>
          <a:lstStyle/>
          <a:p>
            <a:pPr algn="l"/>
            <a:r>
              <a:rPr sz="1000" b="0">
                <a:solidFill>
                  <a:srgbClr val="000000"/>
                </a:solidFill>
                <a:latin typeface="Century Gothic"/>
              </a:rPr>
              <a:t>Ninguna alerta falsa sobre estudiantes que no desertan — crítico en intervenciones.</a:t>
            </a:r>
          </a:p>
        </p:txBody>
      </p:sp>
      <p:sp>
        <p:nvSpPr>
          <p:cNvPr id="13" name="Rectangle 12"/>
          <p:cNvSpPr/>
          <p:nvPr/>
        </p:nvSpPr>
        <p:spPr>
          <a:xfrm>
            <a:off x="182880" y="3291839"/>
            <a:ext cx="5760720" cy="658368"/>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2608" y="3346703"/>
            <a:ext cx="5486400" cy="219456"/>
          </a:xfrm>
          <a:prstGeom prst="rect">
            <a:avLst/>
          </a:prstGeom>
          <a:noFill/>
        </p:spPr>
        <p:txBody>
          <a:bodyPr wrap="square">
            <a:spAutoFit/>
          </a:bodyPr>
          <a:lstStyle/>
          <a:p>
            <a:pPr algn="l"/>
            <a:r>
              <a:rPr sz="1100" b="1">
                <a:solidFill>
                  <a:srgbClr val="287840"/>
                </a:solidFill>
                <a:latin typeface="Century Gothic"/>
              </a:rPr>
              <a:t>Recall XGB = 85,7 %</a:t>
            </a:r>
          </a:p>
        </p:txBody>
      </p:sp>
      <p:sp>
        <p:nvSpPr>
          <p:cNvPr id="15" name="TextBox 14"/>
          <p:cNvSpPr txBox="1"/>
          <p:nvPr/>
        </p:nvSpPr>
        <p:spPr>
          <a:xfrm>
            <a:off x="292608" y="3584447"/>
            <a:ext cx="5486400" cy="310896"/>
          </a:xfrm>
          <a:prstGeom prst="rect">
            <a:avLst/>
          </a:prstGeom>
          <a:noFill/>
        </p:spPr>
        <p:txBody>
          <a:bodyPr wrap="square">
            <a:spAutoFit/>
          </a:bodyPr>
          <a:lstStyle/>
          <a:p>
            <a:pPr algn="l"/>
            <a:r>
              <a:rPr sz="1000" b="0">
                <a:solidFill>
                  <a:srgbClr val="000000"/>
                </a:solidFill>
                <a:latin typeface="Century Gothic"/>
              </a:rPr>
              <a:t>XGBoost detecta 6 de cada 7 desertores reales; RF detecta 5 de cada 7.</a:t>
            </a:r>
          </a:p>
        </p:txBody>
      </p:sp>
      <p:sp>
        <p:nvSpPr>
          <p:cNvPr id="16" name="Rectangle 15"/>
          <p:cNvSpPr/>
          <p:nvPr/>
        </p:nvSpPr>
        <p:spPr>
          <a:xfrm>
            <a:off x="182880" y="4041648"/>
            <a:ext cx="5760720" cy="658368"/>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2608" y="4096511"/>
            <a:ext cx="5486400" cy="219456"/>
          </a:xfrm>
          <a:prstGeom prst="rect">
            <a:avLst/>
          </a:prstGeom>
          <a:noFill/>
        </p:spPr>
        <p:txBody>
          <a:bodyPr wrap="square">
            <a:spAutoFit/>
          </a:bodyPr>
          <a:lstStyle/>
          <a:p>
            <a:pPr algn="l"/>
            <a:r>
              <a:rPr sz="1100" b="1">
                <a:solidFill>
                  <a:srgbClr val="287840"/>
                </a:solidFill>
                <a:latin typeface="Century Gothic"/>
              </a:rPr>
              <a:t>AUC RF = 0,976</a:t>
            </a:r>
          </a:p>
        </p:txBody>
      </p:sp>
      <p:sp>
        <p:nvSpPr>
          <p:cNvPr id="18" name="TextBox 17"/>
          <p:cNvSpPr txBox="1"/>
          <p:nvPr/>
        </p:nvSpPr>
        <p:spPr>
          <a:xfrm>
            <a:off x="292608" y="4334256"/>
            <a:ext cx="5486400" cy="310896"/>
          </a:xfrm>
          <a:prstGeom prst="rect">
            <a:avLst/>
          </a:prstGeom>
          <a:noFill/>
        </p:spPr>
        <p:txBody>
          <a:bodyPr wrap="square">
            <a:spAutoFit/>
          </a:bodyPr>
          <a:lstStyle/>
          <a:p>
            <a:pPr algn="l"/>
            <a:r>
              <a:rPr sz="1000" b="0">
                <a:solidFill>
                  <a:srgbClr val="000000"/>
                </a:solidFill>
                <a:latin typeface="Century Gothic"/>
              </a:rPr>
              <a:t>Capacidad discriminante casi perfecta sobre datos de prueba (30 %).</a:t>
            </a:r>
          </a:p>
        </p:txBody>
      </p:sp>
      <p:sp>
        <p:nvSpPr>
          <p:cNvPr id="19" name="Rectangle 18"/>
          <p:cNvSpPr/>
          <p:nvPr/>
        </p:nvSpPr>
        <p:spPr>
          <a:xfrm>
            <a:off x="6245352" y="1417320"/>
            <a:ext cx="5760720" cy="274320"/>
          </a:xfrm>
          <a:prstGeom prst="rect">
            <a:avLst/>
          </a:prstGeom>
          <a:solidFill>
            <a:srgbClr val="4DA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36792" y="1444752"/>
            <a:ext cx="5486400" cy="219456"/>
          </a:xfrm>
          <a:prstGeom prst="rect">
            <a:avLst/>
          </a:prstGeom>
          <a:noFill/>
        </p:spPr>
        <p:txBody>
          <a:bodyPr wrap="square">
            <a:spAutoFit/>
          </a:bodyPr>
          <a:lstStyle/>
          <a:p>
            <a:pPr algn="l"/>
            <a:r>
              <a:rPr sz="1200" b="1">
                <a:solidFill>
                  <a:srgbClr val="FFFFFF"/>
                </a:solidFill>
                <a:latin typeface="Century Gothic"/>
              </a:rPr>
              <a:t>Análisis Cualitativo</a:t>
            </a:r>
          </a:p>
        </p:txBody>
      </p:sp>
      <p:sp>
        <p:nvSpPr>
          <p:cNvPr id="21" name="Rectangle 20"/>
          <p:cNvSpPr/>
          <p:nvPr/>
        </p:nvSpPr>
        <p:spPr>
          <a:xfrm>
            <a:off x="6245352" y="1792224"/>
            <a:ext cx="5760720" cy="658368"/>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5080" y="1847088"/>
            <a:ext cx="5486400" cy="219456"/>
          </a:xfrm>
          <a:prstGeom prst="rect">
            <a:avLst/>
          </a:prstGeom>
          <a:noFill/>
        </p:spPr>
        <p:txBody>
          <a:bodyPr wrap="square">
            <a:spAutoFit/>
          </a:bodyPr>
          <a:lstStyle/>
          <a:p>
            <a:pPr algn="l"/>
            <a:r>
              <a:rPr sz="1100" b="1">
                <a:solidFill>
                  <a:srgbClr val="287840"/>
                </a:solidFill>
                <a:latin typeface="Century Gothic"/>
              </a:rPr>
              <a:t>Variable más importante</a:t>
            </a:r>
          </a:p>
        </p:txBody>
      </p:sp>
      <p:sp>
        <p:nvSpPr>
          <p:cNvPr id="23" name="TextBox 22"/>
          <p:cNvSpPr txBox="1"/>
          <p:nvPr/>
        </p:nvSpPr>
        <p:spPr>
          <a:xfrm>
            <a:off x="6355080" y="2084831"/>
            <a:ext cx="5486400" cy="310896"/>
          </a:xfrm>
          <a:prstGeom prst="rect">
            <a:avLst/>
          </a:prstGeom>
          <a:noFill/>
        </p:spPr>
        <p:txBody>
          <a:bodyPr wrap="square">
            <a:spAutoFit/>
          </a:bodyPr>
          <a:lstStyle/>
          <a:p>
            <a:pPr algn="l"/>
            <a:r>
              <a:rPr sz="1000" b="0">
                <a:solidFill>
                  <a:srgbClr val="000000"/>
                </a:solidFill>
                <a:latin typeface="Century Gothic"/>
              </a:rPr>
              <a:t>La carga laboral (horas/semana) y la inactividad en el LMS son los predictores de mayor peso en ambos modelos.</a:t>
            </a:r>
          </a:p>
        </p:txBody>
      </p:sp>
      <p:sp>
        <p:nvSpPr>
          <p:cNvPr id="24" name="Rectangle 23"/>
          <p:cNvSpPr/>
          <p:nvPr/>
        </p:nvSpPr>
        <p:spPr>
          <a:xfrm>
            <a:off x="6245352" y="2542032"/>
            <a:ext cx="5760720" cy="658368"/>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80" y="2596896"/>
            <a:ext cx="5486400" cy="219456"/>
          </a:xfrm>
          <a:prstGeom prst="rect">
            <a:avLst/>
          </a:prstGeom>
          <a:noFill/>
        </p:spPr>
        <p:txBody>
          <a:bodyPr wrap="square">
            <a:spAutoFit/>
          </a:bodyPr>
          <a:lstStyle/>
          <a:p>
            <a:pPr algn="l"/>
            <a:r>
              <a:rPr sz="1100" b="1">
                <a:solidFill>
                  <a:srgbClr val="287840"/>
                </a:solidFill>
                <a:latin typeface="Century Gothic"/>
              </a:rPr>
              <a:t>Coherencia con la teoría</a:t>
            </a:r>
          </a:p>
        </p:txBody>
      </p:sp>
      <p:sp>
        <p:nvSpPr>
          <p:cNvPr id="26" name="TextBox 25"/>
          <p:cNvSpPr txBox="1"/>
          <p:nvPr/>
        </p:nvSpPr>
        <p:spPr>
          <a:xfrm>
            <a:off x="6355080" y="2834639"/>
            <a:ext cx="5486400" cy="310896"/>
          </a:xfrm>
          <a:prstGeom prst="rect">
            <a:avLst/>
          </a:prstGeom>
          <a:noFill/>
        </p:spPr>
        <p:txBody>
          <a:bodyPr wrap="square">
            <a:spAutoFit/>
          </a:bodyPr>
          <a:lstStyle/>
          <a:p>
            <a:pPr algn="l"/>
            <a:r>
              <a:rPr sz="1000" b="0" dirty="0">
                <a:solidFill>
                  <a:srgbClr val="000000"/>
                </a:solidFill>
                <a:latin typeface="Century Gothic"/>
              </a:rPr>
              <a:t>Los </a:t>
            </a:r>
            <a:r>
              <a:rPr sz="1000" b="0" dirty="0" err="1">
                <a:solidFill>
                  <a:srgbClr val="000000"/>
                </a:solidFill>
                <a:latin typeface="Century Gothic"/>
              </a:rPr>
              <a:t>resultados</a:t>
            </a:r>
            <a:r>
              <a:rPr sz="1000" b="0" dirty="0">
                <a:solidFill>
                  <a:srgbClr val="000000"/>
                </a:solidFill>
                <a:latin typeface="Century Gothic"/>
              </a:rPr>
              <a:t> </a:t>
            </a:r>
            <a:r>
              <a:rPr sz="1000" b="0" dirty="0" err="1">
                <a:solidFill>
                  <a:srgbClr val="000000"/>
                </a:solidFill>
                <a:latin typeface="Century Gothic"/>
              </a:rPr>
              <a:t>confirman</a:t>
            </a:r>
            <a:r>
              <a:rPr sz="1000" b="0" dirty="0">
                <a:solidFill>
                  <a:srgbClr val="000000"/>
                </a:solidFill>
                <a:latin typeface="Century Gothic"/>
              </a:rPr>
              <a:t> </a:t>
            </a:r>
            <a:r>
              <a:rPr sz="1000" b="0" dirty="0" err="1">
                <a:solidFill>
                  <a:srgbClr val="000000"/>
                </a:solidFill>
                <a:latin typeface="Century Gothic"/>
              </a:rPr>
              <a:t>el</a:t>
            </a:r>
            <a:r>
              <a:rPr sz="1000" b="0" dirty="0">
                <a:solidFill>
                  <a:srgbClr val="000000"/>
                </a:solidFill>
                <a:latin typeface="Century Gothic"/>
              </a:rPr>
              <a:t> </a:t>
            </a:r>
            <a:r>
              <a:rPr sz="1000" b="0" dirty="0" err="1">
                <a:solidFill>
                  <a:srgbClr val="000000"/>
                </a:solidFill>
                <a:latin typeface="Century Gothic"/>
              </a:rPr>
              <a:t>modelo</a:t>
            </a:r>
            <a:r>
              <a:rPr sz="1000" b="0" dirty="0">
                <a:solidFill>
                  <a:srgbClr val="000000"/>
                </a:solidFill>
                <a:latin typeface="Century Gothic"/>
              </a:rPr>
              <a:t> de Tinto (1975): </a:t>
            </a:r>
            <a:r>
              <a:rPr sz="1000" b="0" dirty="0" err="1">
                <a:solidFill>
                  <a:srgbClr val="000000"/>
                </a:solidFill>
                <a:latin typeface="Century Gothic"/>
              </a:rPr>
              <a:t>desvinculación</a:t>
            </a:r>
            <a:r>
              <a:rPr sz="1000" b="0" dirty="0">
                <a:solidFill>
                  <a:srgbClr val="000000"/>
                </a:solidFill>
                <a:latin typeface="Century Gothic"/>
              </a:rPr>
              <a:t> </a:t>
            </a:r>
            <a:r>
              <a:rPr sz="1000" b="0" dirty="0" err="1">
                <a:solidFill>
                  <a:srgbClr val="000000"/>
                </a:solidFill>
                <a:latin typeface="Century Gothic"/>
              </a:rPr>
              <a:t>académica</a:t>
            </a:r>
            <a:r>
              <a:rPr sz="1000" b="0" dirty="0">
                <a:solidFill>
                  <a:srgbClr val="000000"/>
                </a:solidFill>
                <a:latin typeface="Century Gothic"/>
              </a:rPr>
              <a:t> precede al </a:t>
            </a:r>
            <a:r>
              <a:rPr sz="1000" b="0" dirty="0" err="1">
                <a:solidFill>
                  <a:srgbClr val="000000"/>
                </a:solidFill>
                <a:latin typeface="Century Gothic"/>
              </a:rPr>
              <a:t>abandono</a:t>
            </a:r>
            <a:r>
              <a:rPr sz="1000" b="0" dirty="0">
                <a:solidFill>
                  <a:srgbClr val="000000"/>
                </a:solidFill>
                <a:latin typeface="Century Gothic"/>
              </a:rPr>
              <a:t>.</a:t>
            </a:r>
          </a:p>
        </p:txBody>
      </p:sp>
      <p:sp>
        <p:nvSpPr>
          <p:cNvPr id="27" name="Rectangle 26"/>
          <p:cNvSpPr/>
          <p:nvPr/>
        </p:nvSpPr>
        <p:spPr>
          <a:xfrm>
            <a:off x="6245352" y="3291839"/>
            <a:ext cx="5760720" cy="658368"/>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55080" y="3346703"/>
            <a:ext cx="5486400" cy="219456"/>
          </a:xfrm>
          <a:prstGeom prst="rect">
            <a:avLst/>
          </a:prstGeom>
          <a:noFill/>
        </p:spPr>
        <p:txBody>
          <a:bodyPr wrap="square">
            <a:spAutoFit/>
          </a:bodyPr>
          <a:lstStyle/>
          <a:p>
            <a:pPr algn="l"/>
            <a:r>
              <a:rPr sz="1100" b="1">
                <a:solidFill>
                  <a:srgbClr val="287840"/>
                </a:solidFill>
                <a:latin typeface="Century Gothic"/>
              </a:rPr>
              <a:t>Comparación Adviser/RUSIA</a:t>
            </a:r>
          </a:p>
        </p:txBody>
      </p:sp>
      <p:sp>
        <p:nvSpPr>
          <p:cNvPr id="29" name="TextBox 28"/>
          <p:cNvSpPr txBox="1"/>
          <p:nvPr/>
        </p:nvSpPr>
        <p:spPr>
          <a:xfrm>
            <a:off x="6355080" y="3584447"/>
            <a:ext cx="5486400" cy="310896"/>
          </a:xfrm>
          <a:prstGeom prst="rect">
            <a:avLst/>
          </a:prstGeom>
          <a:noFill/>
        </p:spPr>
        <p:txBody>
          <a:bodyPr wrap="square">
            <a:spAutoFit/>
          </a:bodyPr>
          <a:lstStyle/>
          <a:p>
            <a:pPr algn="l"/>
            <a:r>
              <a:rPr sz="1000" b="0">
                <a:solidFill>
                  <a:srgbClr val="000000"/>
                </a:solidFill>
                <a:latin typeface="Century Gothic"/>
              </a:rPr>
              <a:t>Los sistemas actuales no monitorean LMS ni movilidad, confirmando la brecha de la vigilancia tecnológica.</a:t>
            </a:r>
          </a:p>
        </p:txBody>
      </p:sp>
      <p:sp>
        <p:nvSpPr>
          <p:cNvPr id="30" name="Rectangle 29"/>
          <p:cNvSpPr/>
          <p:nvPr/>
        </p:nvSpPr>
        <p:spPr>
          <a:xfrm>
            <a:off x="6245352" y="4041648"/>
            <a:ext cx="5760720" cy="658368"/>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5080" y="4096511"/>
            <a:ext cx="5486400" cy="219456"/>
          </a:xfrm>
          <a:prstGeom prst="rect">
            <a:avLst/>
          </a:prstGeom>
          <a:noFill/>
        </p:spPr>
        <p:txBody>
          <a:bodyPr wrap="square">
            <a:spAutoFit/>
          </a:bodyPr>
          <a:lstStyle/>
          <a:p>
            <a:pPr algn="l"/>
            <a:r>
              <a:rPr sz="1100" b="1">
                <a:solidFill>
                  <a:srgbClr val="287840"/>
                </a:solidFill>
                <a:latin typeface="Century Gothic"/>
              </a:rPr>
              <a:t>Limitación actual</a:t>
            </a:r>
          </a:p>
        </p:txBody>
      </p:sp>
      <p:sp>
        <p:nvSpPr>
          <p:cNvPr id="32" name="TextBox 31"/>
          <p:cNvSpPr txBox="1"/>
          <p:nvPr/>
        </p:nvSpPr>
        <p:spPr>
          <a:xfrm>
            <a:off x="6355080" y="4334256"/>
            <a:ext cx="5486400" cy="310896"/>
          </a:xfrm>
          <a:prstGeom prst="rect">
            <a:avLst/>
          </a:prstGeom>
          <a:noFill/>
        </p:spPr>
        <p:txBody>
          <a:bodyPr wrap="square">
            <a:spAutoFit/>
          </a:bodyPr>
          <a:lstStyle/>
          <a:p>
            <a:pPr algn="l"/>
            <a:r>
              <a:rPr sz="1000" b="0">
                <a:solidFill>
                  <a:srgbClr val="000000"/>
                </a:solidFill>
                <a:latin typeface="Century Gothic"/>
              </a:rPr>
              <a:t>Los datos son sintéticos; la validación con registros reales (TRL-4) es el paso inmediato siguiente.</a:t>
            </a:r>
          </a:p>
        </p:txBody>
      </p:sp>
      <p:sp>
        <p:nvSpPr>
          <p:cNvPr id="33" name="Rectangle 32"/>
          <p:cNvSpPr/>
          <p:nvPr/>
        </p:nvSpPr>
        <p:spPr>
          <a:xfrm>
            <a:off x="0" y="6565392"/>
            <a:ext cx="12188952" cy="292608"/>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82880" y="6574536"/>
            <a:ext cx="11795760" cy="274320"/>
          </a:xfrm>
          <a:prstGeom prst="rect">
            <a:avLst/>
          </a:prstGeom>
          <a:noFill/>
        </p:spPr>
        <p:txBody>
          <a:bodyPr wrap="square">
            <a:spAutoFit/>
          </a:bodyPr>
          <a:lstStyle/>
          <a:p>
            <a:pPr algn="l"/>
            <a:r>
              <a:rPr sz="900" b="0">
                <a:solidFill>
                  <a:srgbClr val="FFFFFF"/>
                </a:solidFill>
                <a:latin typeface="Century Gothic"/>
              </a:rPr>
              <a:t>Jhon A. Correal M.  ·  Rafael A. Guzmán R.  ·  Docente: D. C. Alvarado M.  ·  ETITC  ·  Mayo 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887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0972800" cy="621792"/>
          </a:xfrm>
          <a:prstGeom prst="rect">
            <a:avLst/>
          </a:prstGeom>
          <a:noFill/>
        </p:spPr>
        <p:txBody>
          <a:bodyPr wrap="square">
            <a:spAutoFit/>
          </a:bodyPr>
          <a:lstStyle/>
          <a:p>
            <a:pPr algn="l"/>
            <a:r>
              <a:rPr sz="2800" b="1">
                <a:solidFill>
                  <a:srgbClr val="FFFFFF"/>
                </a:solidFill>
                <a:latin typeface="Century Gothic"/>
              </a:rPr>
              <a:t>Propuesta de Prototipo</a:t>
            </a:r>
          </a:p>
        </p:txBody>
      </p:sp>
      <p:sp>
        <p:nvSpPr>
          <p:cNvPr id="4" name="TextBox 3"/>
          <p:cNvSpPr txBox="1"/>
          <p:nvPr/>
        </p:nvSpPr>
        <p:spPr>
          <a:xfrm>
            <a:off x="274320" y="676656"/>
            <a:ext cx="10972800" cy="411480"/>
          </a:xfrm>
          <a:prstGeom prst="rect">
            <a:avLst/>
          </a:prstGeom>
          <a:noFill/>
        </p:spPr>
        <p:txBody>
          <a:bodyPr wrap="square">
            <a:spAutoFit/>
          </a:bodyPr>
          <a:lstStyle/>
          <a:p>
            <a:pPr algn="l"/>
            <a:r>
              <a:rPr sz="1300" b="0">
                <a:solidFill>
                  <a:srgbClr val="94C121"/>
                </a:solidFill>
                <a:latin typeface="Century Gothic"/>
              </a:rPr>
              <a:t>Arquitectura funcional — TRL-3 alcanzado / TRL-4 planificado</a:t>
            </a:r>
          </a:p>
        </p:txBody>
      </p:sp>
      <p:sp>
        <p:nvSpPr>
          <p:cNvPr id="5" name="Rectangle 4"/>
          <p:cNvSpPr/>
          <p:nvPr/>
        </p:nvSpPr>
        <p:spPr>
          <a:xfrm>
            <a:off x="182880" y="1417320"/>
            <a:ext cx="2834640" cy="347472"/>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1444752"/>
            <a:ext cx="2651760" cy="292608"/>
          </a:xfrm>
          <a:prstGeom prst="rect">
            <a:avLst/>
          </a:prstGeom>
          <a:noFill/>
        </p:spPr>
        <p:txBody>
          <a:bodyPr wrap="square">
            <a:spAutoFit/>
          </a:bodyPr>
          <a:lstStyle/>
          <a:p>
            <a:pPr algn="l"/>
            <a:r>
              <a:rPr sz="1000" b="1">
                <a:solidFill>
                  <a:srgbClr val="FFFFFF"/>
                </a:solidFill>
                <a:latin typeface="Century Gothic"/>
              </a:rPr>
              <a:t>Ingesta de Datos</a:t>
            </a:r>
          </a:p>
        </p:txBody>
      </p:sp>
      <p:sp>
        <p:nvSpPr>
          <p:cNvPr id="7" name="Rectangle 6"/>
          <p:cNvSpPr/>
          <p:nvPr/>
        </p:nvSpPr>
        <p:spPr>
          <a:xfrm>
            <a:off x="182880" y="1764792"/>
            <a:ext cx="2834640" cy="1170432"/>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2608" y="1819656"/>
            <a:ext cx="2633472" cy="274320"/>
          </a:xfrm>
          <a:prstGeom prst="rect">
            <a:avLst/>
          </a:prstGeom>
          <a:noFill/>
        </p:spPr>
        <p:txBody>
          <a:bodyPr wrap="square">
            <a:spAutoFit/>
          </a:bodyPr>
          <a:lstStyle/>
          <a:p>
            <a:pPr algn="l"/>
            <a:r>
              <a:rPr sz="1000" b="0">
                <a:solidFill>
                  <a:srgbClr val="000000"/>
                </a:solidFill>
                <a:latin typeface="Century Gothic"/>
              </a:rPr>
              <a:t>-&gt; Histórico académico (Adviser)</a:t>
            </a:r>
          </a:p>
        </p:txBody>
      </p:sp>
      <p:sp>
        <p:nvSpPr>
          <p:cNvPr id="9" name="TextBox 8"/>
          <p:cNvSpPr txBox="1"/>
          <p:nvPr/>
        </p:nvSpPr>
        <p:spPr>
          <a:xfrm>
            <a:off x="292608" y="2167128"/>
            <a:ext cx="2633472" cy="274320"/>
          </a:xfrm>
          <a:prstGeom prst="rect">
            <a:avLst/>
          </a:prstGeom>
          <a:noFill/>
        </p:spPr>
        <p:txBody>
          <a:bodyPr wrap="square">
            <a:spAutoFit/>
          </a:bodyPr>
          <a:lstStyle/>
          <a:p>
            <a:pPr algn="l"/>
            <a:r>
              <a:rPr sz="1000" b="0">
                <a:solidFill>
                  <a:srgbClr val="000000"/>
                </a:solidFill>
                <a:latin typeface="Century Gothic"/>
              </a:rPr>
              <a:t>-&gt; Logs LMS (Moodle)</a:t>
            </a:r>
          </a:p>
        </p:txBody>
      </p:sp>
      <p:sp>
        <p:nvSpPr>
          <p:cNvPr id="11" name="Rectangle 10"/>
          <p:cNvSpPr/>
          <p:nvPr/>
        </p:nvSpPr>
        <p:spPr>
          <a:xfrm>
            <a:off x="3200400" y="1417320"/>
            <a:ext cx="2834640" cy="347472"/>
          </a:xfrm>
          <a:prstGeom prst="rect">
            <a:avLst/>
          </a:prstGeom>
          <a:solidFill>
            <a:srgbClr val="4DA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91840" y="1444752"/>
            <a:ext cx="2651760" cy="292608"/>
          </a:xfrm>
          <a:prstGeom prst="rect">
            <a:avLst/>
          </a:prstGeom>
          <a:noFill/>
        </p:spPr>
        <p:txBody>
          <a:bodyPr wrap="square">
            <a:spAutoFit/>
          </a:bodyPr>
          <a:lstStyle/>
          <a:p>
            <a:pPr algn="l"/>
            <a:r>
              <a:rPr sz="1000" b="1">
                <a:solidFill>
                  <a:srgbClr val="FFFFFF"/>
                </a:solidFill>
                <a:latin typeface="Century Gothic"/>
              </a:rPr>
              <a:t>Ingeniería de Características</a:t>
            </a:r>
          </a:p>
        </p:txBody>
      </p:sp>
      <p:sp>
        <p:nvSpPr>
          <p:cNvPr id="13" name="Rectangle 12"/>
          <p:cNvSpPr/>
          <p:nvPr/>
        </p:nvSpPr>
        <p:spPr>
          <a:xfrm>
            <a:off x="3200400" y="1764792"/>
            <a:ext cx="2834640" cy="1170432"/>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10128" y="1819656"/>
            <a:ext cx="2633472" cy="274320"/>
          </a:xfrm>
          <a:prstGeom prst="rect">
            <a:avLst/>
          </a:prstGeom>
          <a:noFill/>
        </p:spPr>
        <p:txBody>
          <a:bodyPr wrap="square">
            <a:spAutoFit/>
          </a:bodyPr>
          <a:lstStyle/>
          <a:p>
            <a:pPr algn="l"/>
            <a:r>
              <a:rPr sz="1000" b="0">
                <a:solidFill>
                  <a:srgbClr val="000000"/>
                </a:solidFill>
                <a:latin typeface="Century Gothic"/>
              </a:rPr>
              <a:t>-&gt; Índice Elasticidad Laboral</a:t>
            </a:r>
          </a:p>
        </p:txBody>
      </p:sp>
      <p:sp>
        <p:nvSpPr>
          <p:cNvPr id="15" name="TextBox 14"/>
          <p:cNvSpPr txBox="1"/>
          <p:nvPr/>
        </p:nvSpPr>
        <p:spPr>
          <a:xfrm>
            <a:off x="3310128" y="2167128"/>
            <a:ext cx="2633472" cy="274320"/>
          </a:xfrm>
          <a:prstGeom prst="rect">
            <a:avLst/>
          </a:prstGeom>
          <a:noFill/>
        </p:spPr>
        <p:txBody>
          <a:bodyPr wrap="square">
            <a:spAutoFit/>
          </a:bodyPr>
          <a:lstStyle/>
          <a:p>
            <a:pPr algn="l"/>
            <a:r>
              <a:rPr sz="1000" b="0">
                <a:solidFill>
                  <a:srgbClr val="000000"/>
                </a:solidFill>
                <a:latin typeface="Century Gothic"/>
              </a:rPr>
              <a:t>-&gt; Índice Desvinculación Digital</a:t>
            </a:r>
          </a:p>
        </p:txBody>
      </p:sp>
      <p:sp>
        <p:nvSpPr>
          <p:cNvPr id="17" name="Rectangle 16"/>
          <p:cNvSpPr/>
          <p:nvPr/>
        </p:nvSpPr>
        <p:spPr>
          <a:xfrm>
            <a:off x="6217920" y="1417320"/>
            <a:ext cx="2834640" cy="347472"/>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59" y="1444752"/>
            <a:ext cx="2651760" cy="292608"/>
          </a:xfrm>
          <a:prstGeom prst="rect">
            <a:avLst/>
          </a:prstGeom>
          <a:noFill/>
        </p:spPr>
        <p:txBody>
          <a:bodyPr wrap="square">
            <a:spAutoFit/>
          </a:bodyPr>
          <a:lstStyle/>
          <a:p>
            <a:pPr algn="l"/>
            <a:r>
              <a:rPr sz="1000" b="1">
                <a:solidFill>
                  <a:srgbClr val="FFFFFF"/>
                </a:solidFill>
                <a:latin typeface="Century Gothic"/>
              </a:rPr>
              <a:t>Motor Predictivo RF+XGBoost</a:t>
            </a:r>
          </a:p>
        </p:txBody>
      </p:sp>
      <p:sp>
        <p:nvSpPr>
          <p:cNvPr id="19" name="Rectangle 18"/>
          <p:cNvSpPr/>
          <p:nvPr/>
        </p:nvSpPr>
        <p:spPr>
          <a:xfrm>
            <a:off x="6217920" y="1764792"/>
            <a:ext cx="2834640" cy="1170432"/>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27648" y="1819656"/>
            <a:ext cx="2633472" cy="274320"/>
          </a:xfrm>
          <a:prstGeom prst="rect">
            <a:avLst/>
          </a:prstGeom>
          <a:noFill/>
        </p:spPr>
        <p:txBody>
          <a:bodyPr wrap="square">
            <a:spAutoFit/>
          </a:bodyPr>
          <a:lstStyle/>
          <a:p>
            <a:pPr algn="l"/>
            <a:r>
              <a:rPr sz="1000" b="0">
                <a:solidFill>
                  <a:srgbClr val="000000"/>
                </a:solidFill>
                <a:latin typeface="Century Gothic"/>
              </a:rPr>
              <a:t>-&gt; Validación cruzada 5-fold</a:t>
            </a:r>
          </a:p>
        </p:txBody>
      </p:sp>
      <p:sp>
        <p:nvSpPr>
          <p:cNvPr id="21" name="TextBox 20"/>
          <p:cNvSpPr txBox="1"/>
          <p:nvPr/>
        </p:nvSpPr>
        <p:spPr>
          <a:xfrm>
            <a:off x="6327648" y="2167128"/>
            <a:ext cx="2633472" cy="274320"/>
          </a:xfrm>
          <a:prstGeom prst="rect">
            <a:avLst/>
          </a:prstGeom>
          <a:noFill/>
        </p:spPr>
        <p:txBody>
          <a:bodyPr wrap="square">
            <a:spAutoFit/>
          </a:bodyPr>
          <a:lstStyle/>
          <a:p>
            <a:pPr algn="l"/>
            <a:r>
              <a:rPr sz="1000" b="0">
                <a:solidFill>
                  <a:srgbClr val="000000"/>
                </a:solidFill>
                <a:latin typeface="Century Gothic"/>
              </a:rPr>
              <a:t>-&gt; AUC = 0,976 (RF)</a:t>
            </a:r>
          </a:p>
        </p:txBody>
      </p:sp>
      <p:sp>
        <p:nvSpPr>
          <p:cNvPr id="22" name="TextBox 21"/>
          <p:cNvSpPr txBox="1"/>
          <p:nvPr/>
        </p:nvSpPr>
        <p:spPr>
          <a:xfrm>
            <a:off x="6327648" y="2514600"/>
            <a:ext cx="2633472" cy="274320"/>
          </a:xfrm>
          <a:prstGeom prst="rect">
            <a:avLst/>
          </a:prstGeom>
          <a:noFill/>
        </p:spPr>
        <p:txBody>
          <a:bodyPr wrap="square">
            <a:spAutoFit/>
          </a:bodyPr>
          <a:lstStyle/>
          <a:p>
            <a:pPr algn="l"/>
            <a:r>
              <a:rPr sz="1000" b="0">
                <a:solidFill>
                  <a:srgbClr val="000000"/>
                </a:solidFill>
                <a:latin typeface="Century Gothic"/>
              </a:rPr>
              <a:t>-&gt; F1 = 87 % (XGBoost)</a:t>
            </a:r>
          </a:p>
        </p:txBody>
      </p:sp>
      <p:sp>
        <p:nvSpPr>
          <p:cNvPr id="23" name="Rectangle 22"/>
          <p:cNvSpPr/>
          <p:nvPr/>
        </p:nvSpPr>
        <p:spPr>
          <a:xfrm>
            <a:off x="9235440" y="1417320"/>
            <a:ext cx="2834640" cy="347472"/>
          </a:xfrm>
          <a:prstGeom prst="rect">
            <a:avLst/>
          </a:prstGeom>
          <a:solidFill>
            <a:srgbClr val="4DA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26880" y="1444752"/>
            <a:ext cx="2651760" cy="292608"/>
          </a:xfrm>
          <a:prstGeom prst="rect">
            <a:avLst/>
          </a:prstGeom>
          <a:noFill/>
        </p:spPr>
        <p:txBody>
          <a:bodyPr wrap="square">
            <a:spAutoFit/>
          </a:bodyPr>
          <a:lstStyle/>
          <a:p>
            <a:pPr algn="l"/>
            <a:r>
              <a:rPr sz="1000" b="1">
                <a:solidFill>
                  <a:srgbClr val="FFFFFF"/>
                </a:solidFill>
                <a:latin typeface="Century Gothic"/>
              </a:rPr>
              <a:t>Dashboard Institucional</a:t>
            </a:r>
          </a:p>
        </p:txBody>
      </p:sp>
      <p:sp>
        <p:nvSpPr>
          <p:cNvPr id="25" name="Rectangle 24"/>
          <p:cNvSpPr/>
          <p:nvPr/>
        </p:nvSpPr>
        <p:spPr>
          <a:xfrm>
            <a:off x="9235440" y="1764792"/>
            <a:ext cx="2834640" cy="1170432"/>
          </a:xfrm>
          <a:prstGeom prst="rect">
            <a:avLst/>
          </a:prstGeom>
          <a:solidFill>
            <a:srgbClr val="EC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345167" y="1819656"/>
            <a:ext cx="2633472" cy="274320"/>
          </a:xfrm>
          <a:prstGeom prst="rect">
            <a:avLst/>
          </a:prstGeom>
          <a:noFill/>
        </p:spPr>
        <p:txBody>
          <a:bodyPr wrap="square">
            <a:spAutoFit/>
          </a:bodyPr>
          <a:lstStyle/>
          <a:p>
            <a:pPr algn="l"/>
            <a:r>
              <a:rPr sz="1000" b="0">
                <a:solidFill>
                  <a:srgbClr val="000000"/>
                </a:solidFill>
                <a:latin typeface="Century Gothic"/>
              </a:rPr>
              <a:t>-&gt; Alertas tempranas (semana)</a:t>
            </a:r>
          </a:p>
        </p:txBody>
      </p:sp>
      <p:sp>
        <p:nvSpPr>
          <p:cNvPr id="27" name="TextBox 26"/>
          <p:cNvSpPr txBox="1"/>
          <p:nvPr/>
        </p:nvSpPr>
        <p:spPr>
          <a:xfrm>
            <a:off x="9345167" y="2167128"/>
            <a:ext cx="2633472" cy="274320"/>
          </a:xfrm>
          <a:prstGeom prst="rect">
            <a:avLst/>
          </a:prstGeom>
          <a:noFill/>
        </p:spPr>
        <p:txBody>
          <a:bodyPr wrap="square">
            <a:spAutoFit/>
          </a:bodyPr>
          <a:lstStyle/>
          <a:p>
            <a:pPr algn="l"/>
            <a:r>
              <a:rPr sz="1000" b="0">
                <a:solidFill>
                  <a:srgbClr val="000000"/>
                </a:solidFill>
                <a:latin typeface="Century Gothic"/>
              </a:rPr>
              <a:t>-&gt; Panel docente / bienestar</a:t>
            </a:r>
          </a:p>
        </p:txBody>
      </p:sp>
      <p:sp>
        <p:nvSpPr>
          <p:cNvPr id="28" name="TextBox 27"/>
          <p:cNvSpPr txBox="1"/>
          <p:nvPr/>
        </p:nvSpPr>
        <p:spPr>
          <a:xfrm>
            <a:off x="9345167" y="2514600"/>
            <a:ext cx="2633472" cy="274320"/>
          </a:xfrm>
          <a:prstGeom prst="rect">
            <a:avLst/>
          </a:prstGeom>
          <a:noFill/>
        </p:spPr>
        <p:txBody>
          <a:bodyPr wrap="square">
            <a:spAutoFit/>
          </a:bodyPr>
          <a:lstStyle/>
          <a:p>
            <a:pPr algn="l"/>
            <a:r>
              <a:rPr sz="1000" b="0">
                <a:solidFill>
                  <a:srgbClr val="000000"/>
                </a:solidFill>
                <a:latin typeface="Century Gothic"/>
              </a:rPr>
              <a:t>-&gt; Integración RUSIA/Adviser</a:t>
            </a:r>
          </a:p>
        </p:txBody>
      </p:sp>
      <p:sp>
        <p:nvSpPr>
          <p:cNvPr id="29" name="Rectangle 28"/>
          <p:cNvSpPr/>
          <p:nvPr/>
        </p:nvSpPr>
        <p:spPr>
          <a:xfrm>
            <a:off x="274320" y="3044952"/>
            <a:ext cx="11640312" cy="22860"/>
          </a:xfrm>
          <a:prstGeom prst="rect">
            <a:avLst/>
          </a:prstGeom>
          <a:solidFill>
            <a:srgbClr val="94C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74320" y="3154680"/>
            <a:ext cx="11640312" cy="256032"/>
          </a:xfrm>
          <a:prstGeom prst="rect">
            <a:avLst/>
          </a:prstGeom>
          <a:noFill/>
        </p:spPr>
        <p:txBody>
          <a:bodyPr wrap="square">
            <a:spAutoFit/>
          </a:bodyPr>
          <a:lstStyle/>
          <a:p>
            <a:pPr algn="l"/>
            <a:r>
              <a:rPr sz="1200" b="1">
                <a:solidFill>
                  <a:srgbClr val="287840"/>
                </a:solidFill>
                <a:latin typeface="Century Gothic"/>
              </a:rPr>
              <a:t>Hoja de Ruta TRL</a:t>
            </a:r>
          </a:p>
        </p:txBody>
      </p:sp>
      <p:sp>
        <p:nvSpPr>
          <p:cNvPr id="31" name="Rectangle 30"/>
          <p:cNvSpPr/>
          <p:nvPr/>
        </p:nvSpPr>
        <p:spPr>
          <a:xfrm>
            <a:off x="274320" y="3493008"/>
            <a:ext cx="2194560" cy="347472"/>
          </a:xfrm>
          <a:prstGeom prst="rect">
            <a:avLst/>
          </a:prstGeom>
          <a:solidFill>
            <a:srgbClr val="4DA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520440"/>
            <a:ext cx="2057400" cy="292608"/>
          </a:xfrm>
          <a:prstGeom prst="rect">
            <a:avLst/>
          </a:prstGeom>
          <a:noFill/>
        </p:spPr>
        <p:txBody>
          <a:bodyPr wrap="square">
            <a:spAutoFit/>
          </a:bodyPr>
          <a:lstStyle/>
          <a:p>
            <a:pPr algn="l"/>
            <a:r>
              <a:rPr sz="1100" b="1">
                <a:solidFill>
                  <a:srgbClr val="FFFFFF"/>
                </a:solidFill>
                <a:latin typeface="Century Gothic"/>
              </a:rPr>
              <a:t>TRL-1 ✓</a:t>
            </a:r>
          </a:p>
        </p:txBody>
      </p:sp>
      <p:sp>
        <p:nvSpPr>
          <p:cNvPr id="33" name="TextBox 32"/>
          <p:cNvSpPr txBox="1"/>
          <p:nvPr/>
        </p:nvSpPr>
        <p:spPr>
          <a:xfrm>
            <a:off x="347472" y="3913632"/>
            <a:ext cx="2057400" cy="566928"/>
          </a:xfrm>
          <a:prstGeom prst="rect">
            <a:avLst/>
          </a:prstGeom>
          <a:noFill/>
        </p:spPr>
        <p:txBody>
          <a:bodyPr wrap="square">
            <a:spAutoFit/>
          </a:bodyPr>
          <a:lstStyle/>
          <a:p>
            <a:pPr algn="l"/>
            <a:r>
              <a:rPr sz="900" b="0">
                <a:solidFill>
                  <a:srgbClr val="000000"/>
                </a:solidFill>
                <a:latin typeface="Century Gothic"/>
              </a:rPr>
              <a:t>Análisis bibliográfico</a:t>
            </a:r>
          </a:p>
        </p:txBody>
      </p:sp>
      <p:sp>
        <p:nvSpPr>
          <p:cNvPr id="34" name="Rectangle 33"/>
          <p:cNvSpPr/>
          <p:nvPr/>
        </p:nvSpPr>
        <p:spPr>
          <a:xfrm>
            <a:off x="2606039" y="3493008"/>
            <a:ext cx="2194560" cy="347472"/>
          </a:xfrm>
          <a:prstGeom prst="rect">
            <a:avLst/>
          </a:prstGeom>
          <a:solidFill>
            <a:srgbClr val="4DA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679191" y="3520440"/>
            <a:ext cx="2057400" cy="292608"/>
          </a:xfrm>
          <a:prstGeom prst="rect">
            <a:avLst/>
          </a:prstGeom>
          <a:noFill/>
        </p:spPr>
        <p:txBody>
          <a:bodyPr wrap="square">
            <a:spAutoFit/>
          </a:bodyPr>
          <a:lstStyle/>
          <a:p>
            <a:pPr algn="l"/>
            <a:r>
              <a:rPr sz="1100" b="1">
                <a:solidFill>
                  <a:srgbClr val="FFFFFF"/>
                </a:solidFill>
                <a:latin typeface="Century Gothic"/>
              </a:rPr>
              <a:t>TRL-2 ✓</a:t>
            </a:r>
          </a:p>
        </p:txBody>
      </p:sp>
      <p:sp>
        <p:nvSpPr>
          <p:cNvPr id="36" name="TextBox 35"/>
          <p:cNvSpPr txBox="1"/>
          <p:nvPr/>
        </p:nvSpPr>
        <p:spPr>
          <a:xfrm>
            <a:off x="2679191" y="3913632"/>
            <a:ext cx="2057400" cy="566928"/>
          </a:xfrm>
          <a:prstGeom prst="rect">
            <a:avLst/>
          </a:prstGeom>
          <a:noFill/>
        </p:spPr>
        <p:txBody>
          <a:bodyPr wrap="square">
            <a:spAutoFit/>
          </a:bodyPr>
          <a:lstStyle/>
          <a:p>
            <a:pPr algn="l"/>
            <a:r>
              <a:rPr sz="900" b="0">
                <a:solidFill>
                  <a:srgbClr val="000000"/>
                </a:solidFill>
                <a:latin typeface="Century Gothic"/>
              </a:rPr>
              <a:t>Diseño de variables y metodología</a:t>
            </a:r>
          </a:p>
        </p:txBody>
      </p:sp>
      <p:sp>
        <p:nvSpPr>
          <p:cNvPr id="37" name="Rectangle 36"/>
          <p:cNvSpPr/>
          <p:nvPr/>
        </p:nvSpPr>
        <p:spPr>
          <a:xfrm>
            <a:off x="4937759" y="3493008"/>
            <a:ext cx="2194560" cy="347472"/>
          </a:xfrm>
          <a:prstGeom prst="rect">
            <a:avLst/>
          </a:prstGeom>
          <a:solidFill>
            <a:srgbClr val="94C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010912" y="3520440"/>
            <a:ext cx="2057400" cy="292608"/>
          </a:xfrm>
          <a:prstGeom prst="rect">
            <a:avLst/>
          </a:prstGeom>
          <a:noFill/>
        </p:spPr>
        <p:txBody>
          <a:bodyPr wrap="square">
            <a:spAutoFit/>
          </a:bodyPr>
          <a:lstStyle/>
          <a:p>
            <a:pPr algn="l"/>
            <a:r>
              <a:rPr sz="1100" b="1">
                <a:solidFill>
                  <a:srgbClr val="000000"/>
                </a:solidFill>
                <a:latin typeface="Century Gothic"/>
              </a:rPr>
              <a:t>TRL-3 ✓</a:t>
            </a:r>
          </a:p>
        </p:txBody>
      </p:sp>
      <p:sp>
        <p:nvSpPr>
          <p:cNvPr id="39" name="TextBox 38"/>
          <p:cNvSpPr txBox="1"/>
          <p:nvPr/>
        </p:nvSpPr>
        <p:spPr>
          <a:xfrm>
            <a:off x="5010912" y="3913632"/>
            <a:ext cx="2057400" cy="566928"/>
          </a:xfrm>
          <a:prstGeom prst="rect">
            <a:avLst/>
          </a:prstGeom>
          <a:noFill/>
        </p:spPr>
        <p:txBody>
          <a:bodyPr wrap="square">
            <a:spAutoFit/>
          </a:bodyPr>
          <a:lstStyle/>
          <a:p>
            <a:pPr algn="l"/>
            <a:r>
              <a:rPr sz="900" b="0">
                <a:solidFill>
                  <a:srgbClr val="000000"/>
                </a:solidFill>
                <a:latin typeface="Century Gothic"/>
              </a:rPr>
              <a:t>Prototipo datos sintéticos
XGB 95,5% / RF AUC=0,976</a:t>
            </a:r>
          </a:p>
        </p:txBody>
      </p:sp>
      <p:sp>
        <p:nvSpPr>
          <p:cNvPr id="40" name="Rectangle 39"/>
          <p:cNvSpPr/>
          <p:nvPr/>
        </p:nvSpPr>
        <p:spPr>
          <a:xfrm>
            <a:off x="7269479" y="3493008"/>
            <a:ext cx="2194560" cy="347472"/>
          </a:xfrm>
          <a:prstGeom prst="rect">
            <a:avLst/>
          </a:prstGeom>
          <a:solidFill>
            <a:srgbClr val="B4B3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42631" y="3520440"/>
            <a:ext cx="2057400" cy="292608"/>
          </a:xfrm>
          <a:prstGeom prst="rect">
            <a:avLst/>
          </a:prstGeom>
          <a:noFill/>
        </p:spPr>
        <p:txBody>
          <a:bodyPr wrap="square">
            <a:spAutoFit/>
          </a:bodyPr>
          <a:lstStyle/>
          <a:p>
            <a:pPr algn="l"/>
            <a:r>
              <a:rPr sz="1100" b="1" dirty="0">
                <a:solidFill>
                  <a:srgbClr val="FFFFFF"/>
                </a:solidFill>
                <a:latin typeface="Century Gothic"/>
              </a:rPr>
              <a:t>TRL-4</a:t>
            </a:r>
          </a:p>
        </p:txBody>
      </p:sp>
      <p:sp>
        <p:nvSpPr>
          <p:cNvPr id="42" name="TextBox 41"/>
          <p:cNvSpPr txBox="1"/>
          <p:nvPr/>
        </p:nvSpPr>
        <p:spPr>
          <a:xfrm>
            <a:off x="7342631" y="3913632"/>
            <a:ext cx="2057400" cy="566928"/>
          </a:xfrm>
          <a:prstGeom prst="rect">
            <a:avLst/>
          </a:prstGeom>
          <a:noFill/>
        </p:spPr>
        <p:txBody>
          <a:bodyPr wrap="square">
            <a:spAutoFit/>
          </a:bodyPr>
          <a:lstStyle/>
          <a:p>
            <a:pPr algn="l"/>
            <a:r>
              <a:rPr sz="900" b="0">
                <a:solidFill>
                  <a:srgbClr val="000000"/>
                </a:solidFill>
                <a:latin typeface="Century Gothic"/>
              </a:rPr>
              <a:t>Validación datos reales ETITC
(próximo semestre)</a:t>
            </a:r>
          </a:p>
        </p:txBody>
      </p:sp>
      <p:sp>
        <p:nvSpPr>
          <p:cNvPr id="43" name="Rectangle 42"/>
          <p:cNvSpPr/>
          <p:nvPr/>
        </p:nvSpPr>
        <p:spPr>
          <a:xfrm>
            <a:off x="9601200" y="3493008"/>
            <a:ext cx="2194560" cy="347472"/>
          </a:xfrm>
          <a:prstGeom prst="rect">
            <a:avLst/>
          </a:prstGeom>
          <a:solidFill>
            <a:srgbClr val="B4B3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674352" y="3520440"/>
            <a:ext cx="2057400" cy="292608"/>
          </a:xfrm>
          <a:prstGeom prst="rect">
            <a:avLst/>
          </a:prstGeom>
          <a:noFill/>
        </p:spPr>
        <p:txBody>
          <a:bodyPr wrap="square">
            <a:spAutoFit/>
          </a:bodyPr>
          <a:lstStyle/>
          <a:p>
            <a:pPr algn="l"/>
            <a:r>
              <a:rPr sz="1100" b="1">
                <a:solidFill>
                  <a:srgbClr val="FFFFFF"/>
                </a:solidFill>
                <a:latin typeface="Century Gothic"/>
              </a:rPr>
              <a:t>TRL-5</a:t>
            </a:r>
          </a:p>
        </p:txBody>
      </p:sp>
      <p:sp>
        <p:nvSpPr>
          <p:cNvPr id="45" name="TextBox 44"/>
          <p:cNvSpPr txBox="1"/>
          <p:nvPr/>
        </p:nvSpPr>
        <p:spPr>
          <a:xfrm>
            <a:off x="9674352" y="3913632"/>
            <a:ext cx="2057400" cy="566928"/>
          </a:xfrm>
          <a:prstGeom prst="rect">
            <a:avLst/>
          </a:prstGeom>
          <a:noFill/>
        </p:spPr>
        <p:txBody>
          <a:bodyPr wrap="square">
            <a:spAutoFit/>
          </a:bodyPr>
          <a:lstStyle/>
          <a:p>
            <a:pPr algn="l"/>
            <a:r>
              <a:rPr sz="900" b="0">
                <a:solidFill>
                  <a:srgbClr val="000000"/>
                </a:solidFill>
                <a:latin typeface="Century Gothic"/>
              </a:rPr>
              <a:t>Integración Adviser/RUSIA
(mediano plazo)</a:t>
            </a:r>
          </a:p>
        </p:txBody>
      </p:sp>
      <p:sp>
        <p:nvSpPr>
          <p:cNvPr id="46" name="Rectangle 45"/>
          <p:cNvSpPr/>
          <p:nvPr/>
        </p:nvSpPr>
        <p:spPr>
          <a:xfrm>
            <a:off x="0" y="6565392"/>
            <a:ext cx="12188952" cy="292608"/>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82880" y="6574536"/>
            <a:ext cx="11795760" cy="274320"/>
          </a:xfrm>
          <a:prstGeom prst="rect">
            <a:avLst/>
          </a:prstGeom>
          <a:noFill/>
        </p:spPr>
        <p:txBody>
          <a:bodyPr wrap="square">
            <a:spAutoFit/>
          </a:bodyPr>
          <a:lstStyle/>
          <a:p>
            <a:pPr algn="l"/>
            <a:r>
              <a:rPr sz="900" b="0">
                <a:solidFill>
                  <a:srgbClr val="FFFFFF"/>
                </a:solidFill>
                <a:latin typeface="Century Gothic"/>
              </a:rPr>
              <a:t>Jhon A. Correal M.  ·  Rafael A. Guzmán R.  ·  Docente: D. C. Alvarado M.  ·  ETITC  ·  Mayo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887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0972800" cy="621792"/>
          </a:xfrm>
          <a:prstGeom prst="rect">
            <a:avLst/>
          </a:prstGeom>
          <a:noFill/>
        </p:spPr>
        <p:txBody>
          <a:bodyPr wrap="square">
            <a:spAutoFit/>
          </a:bodyPr>
          <a:lstStyle/>
          <a:p>
            <a:pPr algn="l"/>
            <a:r>
              <a:rPr sz="2800" b="1">
                <a:solidFill>
                  <a:srgbClr val="FFFFFF"/>
                </a:solidFill>
                <a:latin typeface="Century Gothic"/>
              </a:rPr>
              <a:t>Conclusiones</a:t>
            </a:r>
          </a:p>
        </p:txBody>
      </p:sp>
      <p:sp>
        <p:nvSpPr>
          <p:cNvPr id="4" name="Rectangle 3"/>
          <p:cNvSpPr/>
          <p:nvPr/>
        </p:nvSpPr>
        <p:spPr>
          <a:xfrm>
            <a:off x="228600" y="1417320"/>
            <a:ext cx="457200" cy="9601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1673352"/>
            <a:ext cx="365760" cy="438912"/>
          </a:xfrm>
          <a:prstGeom prst="rect">
            <a:avLst/>
          </a:prstGeom>
          <a:noFill/>
        </p:spPr>
        <p:txBody>
          <a:bodyPr wrap="square">
            <a:spAutoFit/>
          </a:bodyPr>
          <a:lstStyle/>
          <a:p>
            <a:pPr algn="ctr"/>
            <a:r>
              <a:rPr sz="2200" b="1">
                <a:solidFill>
                  <a:srgbClr val="FFFFFF"/>
                </a:solidFill>
                <a:latin typeface="Century Gothic"/>
              </a:rPr>
              <a:t>1</a:t>
            </a:r>
          </a:p>
        </p:txBody>
      </p:sp>
      <p:sp>
        <p:nvSpPr>
          <p:cNvPr id="6" name="Rectangle 5"/>
          <p:cNvSpPr/>
          <p:nvPr/>
        </p:nvSpPr>
        <p:spPr>
          <a:xfrm>
            <a:off x="731520" y="1417320"/>
            <a:ext cx="11183112" cy="96012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490472"/>
            <a:ext cx="10972800" cy="274320"/>
          </a:xfrm>
          <a:prstGeom prst="rect">
            <a:avLst/>
          </a:prstGeom>
          <a:noFill/>
        </p:spPr>
        <p:txBody>
          <a:bodyPr wrap="square">
            <a:spAutoFit/>
          </a:bodyPr>
          <a:lstStyle/>
          <a:p>
            <a:pPr algn="l"/>
            <a:r>
              <a:rPr sz="1300" b="1">
                <a:solidFill>
                  <a:srgbClr val="287840"/>
                </a:solidFill>
                <a:latin typeface="Century Gothic"/>
              </a:rPr>
              <a:t>Viabilidad técnica demostrada</a:t>
            </a:r>
          </a:p>
        </p:txBody>
      </p:sp>
      <p:sp>
        <p:nvSpPr>
          <p:cNvPr id="8" name="TextBox 7"/>
          <p:cNvSpPr txBox="1"/>
          <p:nvPr/>
        </p:nvSpPr>
        <p:spPr>
          <a:xfrm>
            <a:off x="868680" y="1801368"/>
            <a:ext cx="10972800" cy="530352"/>
          </a:xfrm>
          <a:prstGeom prst="rect">
            <a:avLst/>
          </a:prstGeom>
          <a:noFill/>
        </p:spPr>
        <p:txBody>
          <a:bodyPr wrap="square">
            <a:spAutoFit/>
          </a:bodyPr>
          <a:lstStyle/>
          <a:p>
            <a:pPr algn="l"/>
            <a:r>
              <a:rPr sz="1100" b="0">
                <a:solidFill>
                  <a:srgbClr val="000000"/>
                </a:solidFill>
                <a:latin typeface="Century Gothic"/>
              </a:rPr>
              <a:t>XGBoost y Random Forest alcanzan exactitudes superiores al 95 % con datos sintéticos calibrados con el perfil real del estudiante nocturno de la ETITC, confirmando la hipótesis de trabajo.</a:t>
            </a:r>
          </a:p>
        </p:txBody>
      </p:sp>
      <p:sp>
        <p:nvSpPr>
          <p:cNvPr id="9" name="Rectangle 8"/>
          <p:cNvSpPr/>
          <p:nvPr/>
        </p:nvSpPr>
        <p:spPr>
          <a:xfrm>
            <a:off x="228600" y="2606040"/>
            <a:ext cx="457200" cy="960120"/>
          </a:xfrm>
          <a:prstGeom prst="rect">
            <a:avLst/>
          </a:prstGeom>
          <a:solidFill>
            <a:srgbClr val="4DA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2862072"/>
            <a:ext cx="365760" cy="438912"/>
          </a:xfrm>
          <a:prstGeom prst="rect">
            <a:avLst/>
          </a:prstGeom>
          <a:noFill/>
        </p:spPr>
        <p:txBody>
          <a:bodyPr wrap="square">
            <a:spAutoFit/>
          </a:bodyPr>
          <a:lstStyle/>
          <a:p>
            <a:pPr algn="ctr"/>
            <a:r>
              <a:rPr sz="2200" b="1">
                <a:solidFill>
                  <a:srgbClr val="FFFFFF"/>
                </a:solidFill>
                <a:latin typeface="Century Gothic"/>
              </a:rPr>
              <a:t>2</a:t>
            </a:r>
          </a:p>
        </p:txBody>
      </p:sp>
      <p:sp>
        <p:nvSpPr>
          <p:cNvPr id="11" name="Rectangle 10"/>
          <p:cNvSpPr/>
          <p:nvPr/>
        </p:nvSpPr>
        <p:spPr>
          <a:xfrm>
            <a:off x="731520" y="2606040"/>
            <a:ext cx="11183112" cy="96012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2679192"/>
            <a:ext cx="10972800" cy="274320"/>
          </a:xfrm>
          <a:prstGeom prst="rect">
            <a:avLst/>
          </a:prstGeom>
          <a:noFill/>
        </p:spPr>
        <p:txBody>
          <a:bodyPr wrap="square">
            <a:spAutoFit/>
          </a:bodyPr>
          <a:lstStyle/>
          <a:p>
            <a:pPr algn="l"/>
            <a:r>
              <a:rPr sz="1300" b="1">
                <a:solidFill>
                  <a:srgbClr val="287840"/>
                </a:solidFill>
                <a:latin typeface="Century Gothic"/>
              </a:rPr>
              <a:t>Las variables dinámicas importan</a:t>
            </a:r>
          </a:p>
        </p:txBody>
      </p:sp>
      <p:sp>
        <p:nvSpPr>
          <p:cNvPr id="13" name="TextBox 12"/>
          <p:cNvSpPr txBox="1"/>
          <p:nvPr/>
        </p:nvSpPr>
        <p:spPr>
          <a:xfrm>
            <a:off x="868680" y="2990088"/>
            <a:ext cx="10972800" cy="530352"/>
          </a:xfrm>
          <a:prstGeom prst="rect">
            <a:avLst/>
          </a:prstGeom>
          <a:noFill/>
        </p:spPr>
        <p:txBody>
          <a:bodyPr wrap="square">
            <a:spAutoFit/>
          </a:bodyPr>
          <a:lstStyle/>
          <a:p>
            <a:pPr algn="l"/>
            <a:r>
              <a:rPr sz="1100" b="0">
                <a:solidFill>
                  <a:srgbClr val="000000"/>
                </a:solidFill>
                <a:latin typeface="Century Gothic"/>
              </a:rPr>
              <a:t>La carga laboral y la inactividad en el LMS son los predictores de mayor peso. Su inclusión diferencia este modelo de los sistemas estáticos existentes (Adviser V.11, RUSIA).</a:t>
            </a:r>
          </a:p>
        </p:txBody>
      </p:sp>
      <p:sp>
        <p:nvSpPr>
          <p:cNvPr id="14" name="Rectangle 13"/>
          <p:cNvSpPr/>
          <p:nvPr/>
        </p:nvSpPr>
        <p:spPr>
          <a:xfrm>
            <a:off x="228600" y="3794760"/>
            <a:ext cx="457200" cy="9601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4320" y="4050792"/>
            <a:ext cx="365760" cy="438912"/>
          </a:xfrm>
          <a:prstGeom prst="rect">
            <a:avLst/>
          </a:prstGeom>
          <a:noFill/>
        </p:spPr>
        <p:txBody>
          <a:bodyPr wrap="square">
            <a:spAutoFit/>
          </a:bodyPr>
          <a:lstStyle/>
          <a:p>
            <a:pPr algn="ctr"/>
            <a:r>
              <a:rPr sz="2200" b="1">
                <a:solidFill>
                  <a:srgbClr val="FFFFFF"/>
                </a:solidFill>
                <a:latin typeface="Century Gothic"/>
              </a:rPr>
              <a:t>3</a:t>
            </a:r>
          </a:p>
        </p:txBody>
      </p:sp>
      <p:sp>
        <p:nvSpPr>
          <p:cNvPr id="16" name="Rectangle 15"/>
          <p:cNvSpPr/>
          <p:nvPr/>
        </p:nvSpPr>
        <p:spPr>
          <a:xfrm>
            <a:off x="731520" y="3794760"/>
            <a:ext cx="11183112" cy="96012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3867912"/>
            <a:ext cx="10972800" cy="274320"/>
          </a:xfrm>
          <a:prstGeom prst="rect">
            <a:avLst/>
          </a:prstGeom>
          <a:noFill/>
        </p:spPr>
        <p:txBody>
          <a:bodyPr wrap="square">
            <a:spAutoFit/>
          </a:bodyPr>
          <a:lstStyle/>
          <a:p>
            <a:pPr algn="l"/>
            <a:r>
              <a:rPr sz="1300" b="1">
                <a:solidFill>
                  <a:srgbClr val="287840"/>
                </a:solidFill>
                <a:latin typeface="Century Gothic"/>
              </a:rPr>
              <a:t>Dilema precisión vs. cobertura</a:t>
            </a:r>
          </a:p>
        </p:txBody>
      </p:sp>
      <p:sp>
        <p:nvSpPr>
          <p:cNvPr id="18" name="TextBox 17"/>
          <p:cNvSpPr txBox="1"/>
          <p:nvPr/>
        </p:nvSpPr>
        <p:spPr>
          <a:xfrm>
            <a:off x="868680" y="4178808"/>
            <a:ext cx="10972800" cy="530352"/>
          </a:xfrm>
          <a:prstGeom prst="rect">
            <a:avLst/>
          </a:prstGeom>
          <a:noFill/>
        </p:spPr>
        <p:txBody>
          <a:bodyPr wrap="square">
            <a:spAutoFit/>
          </a:bodyPr>
          <a:lstStyle/>
          <a:p>
            <a:pPr algn="l"/>
            <a:r>
              <a:rPr sz="1100" b="0">
                <a:solidFill>
                  <a:srgbClr val="000000"/>
                </a:solidFill>
                <a:latin typeface="Century Gothic"/>
              </a:rPr>
              <a:t>RF ofrece precisión perfecta (0 falsas alarmas) con AUC = 0,976; XGBoost cubre más desertores reales (Recall 85,7 %). La elección depende del costo institucional de cada tipo de error.</a:t>
            </a:r>
          </a:p>
        </p:txBody>
      </p:sp>
      <p:sp>
        <p:nvSpPr>
          <p:cNvPr id="19" name="Rectangle 18"/>
          <p:cNvSpPr/>
          <p:nvPr/>
        </p:nvSpPr>
        <p:spPr>
          <a:xfrm>
            <a:off x="228600" y="4983480"/>
            <a:ext cx="457200" cy="960120"/>
          </a:xfrm>
          <a:prstGeom prst="rect">
            <a:avLst/>
          </a:prstGeom>
          <a:solidFill>
            <a:srgbClr val="4DA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4320" y="5239512"/>
            <a:ext cx="365760" cy="438912"/>
          </a:xfrm>
          <a:prstGeom prst="rect">
            <a:avLst/>
          </a:prstGeom>
          <a:noFill/>
        </p:spPr>
        <p:txBody>
          <a:bodyPr wrap="square">
            <a:spAutoFit/>
          </a:bodyPr>
          <a:lstStyle/>
          <a:p>
            <a:pPr algn="ctr"/>
            <a:r>
              <a:rPr sz="2200" b="1">
                <a:solidFill>
                  <a:srgbClr val="FFFFFF"/>
                </a:solidFill>
                <a:latin typeface="Century Gothic"/>
              </a:rPr>
              <a:t>4</a:t>
            </a:r>
          </a:p>
        </p:txBody>
      </p:sp>
      <p:sp>
        <p:nvSpPr>
          <p:cNvPr id="21" name="Rectangle 20"/>
          <p:cNvSpPr/>
          <p:nvPr/>
        </p:nvSpPr>
        <p:spPr>
          <a:xfrm>
            <a:off x="731520" y="4983480"/>
            <a:ext cx="11183112" cy="96012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5056632"/>
            <a:ext cx="10972800" cy="274320"/>
          </a:xfrm>
          <a:prstGeom prst="rect">
            <a:avLst/>
          </a:prstGeom>
          <a:noFill/>
        </p:spPr>
        <p:txBody>
          <a:bodyPr wrap="square">
            <a:spAutoFit/>
          </a:bodyPr>
          <a:lstStyle/>
          <a:p>
            <a:pPr algn="l"/>
            <a:r>
              <a:rPr sz="1300" b="1">
                <a:solidFill>
                  <a:srgbClr val="287840"/>
                </a:solidFill>
                <a:latin typeface="Century Gothic"/>
              </a:rPr>
              <a:t>TRL-3 alcanzado — paso siguiente: TRL-4</a:t>
            </a:r>
          </a:p>
        </p:txBody>
      </p:sp>
      <p:sp>
        <p:nvSpPr>
          <p:cNvPr id="23" name="TextBox 22"/>
          <p:cNvSpPr txBox="1"/>
          <p:nvPr/>
        </p:nvSpPr>
        <p:spPr>
          <a:xfrm>
            <a:off x="868680" y="5367528"/>
            <a:ext cx="10972800" cy="530352"/>
          </a:xfrm>
          <a:prstGeom prst="rect">
            <a:avLst/>
          </a:prstGeom>
          <a:noFill/>
        </p:spPr>
        <p:txBody>
          <a:bodyPr wrap="square">
            <a:spAutoFit/>
          </a:bodyPr>
          <a:lstStyle/>
          <a:p>
            <a:pPr algn="l"/>
            <a:r>
              <a:rPr sz="1100" b="0">
                <a:solidFill>
                  <a:srgbClr val="000000"/>
                </a:solidFill>
                <a:latin typeface="Century Gothic"/>
              </a:rPr>
              <a:t>El prototipo completó la fase experimental con datos sintéticos. La validación con registros reales de la ETITC es el requisito para avanzar al nivel de laboratorio institucional.</a:t>
            </a:r>
          </a:p>
        </p:txBody>
      </p:sp>
      <p:sp>
        <p:nvSpPr>
          <p:cNvPr id="24" name="Rectangle 23"/>
          <p:cNvSpPr/>
          <p:nvPr/>
        </p:nvSpPr>
        <p:spPr>
          <a:xfrm>
            <a:off x="0" y="6565392"/>
            <a:ext cx="12188952" cy="292608"/>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82880" y="6574536"/>
            <a:ext cx="11795760" cy="274320"/>
          </a:xfrm>
          <a:prstGeom prst="rect">
            <a:avLst/>
          </a:prstGeom>
          <a:noFill/>
        </p:spPr>
        <p:txBody>
          <a:bodyPr wrap="square">
            <a:spAutoFit/>
          </a:bodyPr>
          <a:lstStyle/>
          <a:p>
            <a:pPr algn="l"/>
            <a:r>
              <a:rPr sz="900" b="0">
                <a:solidFill>
                  <a:srgbClr val="FFFFFF"/>
                </a:solidFill>
                <a:latin typeface="Century Gothic"/>
              </a:rPr>
              <a:t>Jhon A. Correal M.  ·  Rafael A. Guzmán R.  ·  Docente: D. C. Alvarado M.  ·  ETITC  ·  Mayo 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887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0972800" cy="621792"/>
          </a:xfrm>
          <a:prstGeom prst="rect">
            <a:avLst/>
          </a:prstGeom>
          <a:noFill/>
        </p:spPr>
        <p:txBody>
          <a:bodyPr wrap="square">
            <a:spAutoFit/>
          </a:bodyPr>
          <a:lstStyle/>
          <a:p>
            <a:pPr algn="l"/>
            <a:r>
              <a:rPr sz="2800" b="1">
                <a:solidFill>
                  <a:srgbClr val="FFFFFF"/>
                </a:solidFill>
                <a:latin typeface="Century Gothic"/>
              </a:rPr>
              <a:t>Discusión y Limitaciones</a:t>
            </a:r>
          </a:p>
        </p:txBody>
      </p:sp>
      <p:sp>
        <p:nvSpPr>
          <p:cNvPr id="4" name="Rectangle 3"/>
          <p:cNvSpPr/>
          <p:nvPr/>
        </p:nvSpPr>
        <p:spPr>
          <a:xfrm>
            <a:off x="182880" y="1417320"/>
            <a:ext cx="5760720" cy="2743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1444752"/>
            <a:ext cx="5486400" cy="219456"/>
          </a:xfrm>
          <a:prstGeom prst="rect">
            <a:avLst/>
          </a:prstGeom>
          <a:noFill/>
        </p:spPr>
        <p:txBody>
          <a:bodyPr wrap="square">
            <a:spAutoFit/>
          </a:bodyPr>
          <a:lstStyle/>
          <a:p>
            <a:pPr algn="l"/>
            <a:r>
              <a:rPr sz="1200" b="1">
                <a:solidFill>
                  <a:srgbClr val="FFFFFF"/>
                </a:solidFill>
                <a:latin typeface="Century Gothic"/>
              </a:rPr>
              <a:t>Discusión</a:t>
            </a:r>
          </a:p>
        </p:txBody>
      </p:sp>
      <p:sp>
        <p:nvSpPr>
          <p:cNvPr id="6" name="TextBox 5"/>
          <p:cNvSpPr txBox="1"/>
          <p:nvPr/>
        </p:nvSpPr>
        <p:spPr>
          <a:xfrm>
            <a:off x="274320" y="1801368"/>
            <a:ext cx="5486400" cy="640080"/>
          </a:xfrm>
          <a:prstGeom prst="rect">
            <a:avLst/>
          </a:prstGeom>
          <a:noFill/>
        </p:spPr>
        <p:txBody>
          <a:bodyPr wrap="square">
            <a:spAutoFit/>
          </a:bodyPr>
          <a:lstStyle/>
          <a:p>
            <a:pPr algn="l"/>
            <a:r>
              <a:rPr sz="1000" b="0">
                <a:solidFill>
                  <a:srgbClr val="000000"/>
                </a:solidFill>
                <a:latin typeface="Century Gothic"/>
              </a:rPr>
              <a:t>• Los resultados son consistentes con la literatura EDM (Romero &amp; Ventura, 2010): los modelos de ML superan los umbrales de precisión de sistemas basados en reglas.</a:t>
            </a:r>
          </a:p>
        </p:txBody>
      </p:sp>
      <p:sp>
        <p:nvSpPr>
          <p:cNvPr id="7" name="TextBox 6"/>
          <p:cNvSpPr txBox="1"/>
          <p:nvPr/>
        </p:nvSpPr>
        <p:spPr>
          <a:xfrm>
            <a:off x="274320" y="2551176"/>
            <a:ext cx="5486400" cy="640080"/>
          </a:xfrm>
          <a:prstGeom prst="rect">
            <a:avLst/>
          </a:prstGeom>
          <a:noFill/>
        </p:spPr>
        <p:txBody>
          <a:bodyPr wrap="square">
            <a:spAutoFit/>
          </a:bodyPr>
          <a:lstStyle/>
          <a:p>
            <a:pPr algn="l"/>
            <a:r>
              <a:rPr sz="1000" b="0">
                <a:solidFill>
                  <a:srgbClr val="000000"/>
                </a:solidFill>
                <a:latin typeface="Century Gothic"/>
              </a:rPr>
              <a:t>• La hipótesis de Tinto (1975) sobre desvinculación académica se confirma: la baja actividad LMS precede al abandono y aparece como variable crítica en ambos modelos.</a:t>
            </a:r>
          </a:p>
        </p:txBody>
      </p:sp>
      <p:sp>
        <p:nvSpPr>
          <p:cNvPr id="8" name="TextBox 7"/>
          <p:cNvSpPr txBox="1"/>
          <p:nvPr/>
        </p:nvSpPr>
        <p:spPr>
          <a:xfrm>
            <a:off x="274320" y="3300984"/>
            <a:ext cx="5486400" cy="640080"/>
          </a:xfrm>
          <a:prstGeom prst="rect">
            <a:avLst/>
          </a:prstGeom>
          <a:noFill/>
        </p:spPr>
        <p:txBody>
          <a:bodyPr wrap="square">
            <a:spAutoFit/>
          </a:bodyPr>
          <a:lstStyle/>
          <a:p>
            <a:pPr algn="l"/>
            <a:r>
              <a:rPr sz="1000" b="0">
                <a:solidFill>
                  <a:srgbClr val="000000"/>
                </a:solidFill>
                <a:latin typeface="Century Gothic"/>
              </a:rPr>
              <a:t>• La comparación RF vs. XGBoost replica los hallazgos de Chen &amp; Guestrin (2016): XGBoost es más robusto con datos desbalanceados.</a:t>
            </a:r>
          </a:p>
        </p:txBody>
      </p:sp>
      <p:sp>
        <p:nvSpPr>
          <p:cNvPr id="9" name="TextBox 8"/>
          <p:cNvSpPr txBox="1"/>
          <p:nvPr/>
        </p:nvSpPr>
        <p:spPr>
          <a:xfrm>
            <a:off x="274320" y="4050791"/>
            <a:ext cx="5486400" cy="640080"/>
          </a:xfrm>
          <a:prstGeom prst="rect">
            <a:avLst/>
          </a:prstGeom>
          <a:noFill/>
        </p:spPr>
        <p:txBody>
          <a:bodyPr wrap="square">
            <a:spAutoFit/>
          </a:bodyPr>
          <a:lstStyle/>
          <a:p>
            <a:pPr algn="l"/>
            <a:r>
              <a:rPr sz="1000" b="0">
                <a:solidFill>
                  <a:srgbClr val="000000"/>
                </a:solidFill>
                <a:latin typeface="Century Gothic"/>
              </a:rPr>
              <a:t>• La brecha frente a Adviser/RUSIA es cuantificable: los sistemas actuales no detectan el 28,6 % de los desertores que RF identifica mediante variables dinámicas.</a:t>
            </a:r>
          </a:p>
        </p:txBody>
      </p:sp>
      <p:sp>
        <p:nvSpPr>
          <p:cNvPr id="10" name="Rectangle 9"/>
          <p:cNvSpPr/>
          <p:nvPr/>
        </p:nvSpPr>
        <p:spPr>
          <a:xfrm>
            <a:off x="6245352" y="1417320"/>
            <a:ext cx="5760720" cy="2743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36792" y="1444752"/>
            <a:ext cx="5486400" cy="219456"/>
          </a:xfrm>
          <a:prstGeom prst="rect">
            <a:avLst/>
          </a:prstGeom>
          <a:noFill/>
        </p:spPr>
        <p:txBody>
          <a:bodyPr wrap="square">
            <a:spAutoFit/>
          </a:bodyPr>
          <a:lstStyle/>
          <a:p>
            <a:pPr algn="l"/>
            <a:r>
              <a:rPr sz="1200" b="1">
                <a:solidFill>
                  <a:srgbClr val="FFFFFF"/>
                </a:solidFill>
                <a:latin typeface="Century Gothic"/>
              </a:rPr>
              <a:t>Limitaciones</a:t>
            </a:r>
          </a:p>
        </p:txBody>
      </p:sp>
      <p:sp>
        <p:nvSpPr>
          <p:cNvPr id="12" name="Rectangle 11"/>
          <p:cNvSpPr/>
          <p:nvPr/>
        </p:nvSpPr>
        <p:spPr>
          <a:xfrm>
            <a:off x="6245352" y="1801368"/>
            <a:ext cx="5760720" cy="658368"/>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856231"/>
            <a:ext cx="5486400" cy="201168"/>
          </a:xfrm>
          <a:prstGeom prst="rect">
            <a:avLst/>
          </a:prstGeom>
          <a:noFill/>
        </p:spPr>
        <p:txBody>
          <a:bodyPr wrap="square">
            <a:spAutoFit/>
          </a:bodyPr>
          <a:lstStyle/>
          <a:p>
            <a:pPr algn="l"/>
            <a:r>
              <a:rPr sz="1100" b="1">
                <a:solidFill>
                  <a:srgbClr val="C0392B"/>
                </a:solidFill>
                <a:latin typeface="Century Gothic"/>
              </a:rPr>
              <a:t>Datos sintéticos</a:t>
            </a:r>
          </a:p>
        </p:txBody>
      </p:sp>
      <p:sp>
        <p:nvSpPr>
          <p:cNvPr id="14" name="TextBox 13"/>
          <p:cNvSpPr txBox="1"/>
          <p:nvPr/>
        </p:nvSpPr>
        <p:spPr>
          <a:xfrm>
            <a:off x="6355080" y="2075688"/>
            <a:ext cx="5486400" cy="329184"/>
          </a:xfrm>
          <a:prstGeom prst="rect">
            <a:avLst/>
          </a:prstGeom>
          <a:noFill/>
        </p:spPr>
        <p:txBody>
          <a:bodyPr wrap="square">
            <a:spAutoFit/>
          </a:bodyPr>
          <a:lstStyle/>
          <a:p>
            <a:pPr algn="l"/>
            <a:r>
              <a:rPr sz="1000" b="0">
                <a:solidFill>
                  <a:srgbClr val="000000"/>
                </a:solidFill>
                <a:latin typeface="Century Gothic"/>
              </a:rPr>
              <a:t>El conjunto de entrenamiento fue generado artificialmente. Las métricas pueden no reflejar la variabilidad real de los registros institucionales.</a:t>
            </a:r>
          </a:p>
        </p:txBody>
      </p:sp>
      <p:sp>
        <p:nvSpPr>
          <p:cNvPr id="15" name="Rectangle 14"/>
          <p:cNvSpPr/>
          <p:nvPr/>
        </p:nvSpPr>
        <p:spPr>
          <a:xfrm>
            <a:off x="6245352" y="2532888"/>
            <a:ext cx="5760720" cy="658368"/>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55080" y="2587752"/>
            <a:ext cx="5486400" cy="201168"/>
          </a:xfrm>
          <a:prstGeom prst="rect">
            <a:avLst/>
          </a:prstGeom>
          <a:noFill/>
        </p:spPr>
        <p:txBody>
          <a:bodyPr wrap="square">
            <a:spAutoFit/>
          </a:bodyPr>
          <a:lstStyle/>
          <a:p>
            <a:pPr algn="l"/>
            <a:r>
              <a:rPr sz="1100" b="1">
                <a:solidFill>
                  <a:srgbClr val="C0392B"/>
                </a:solidFill>
                <a:latin typeface="Century Gothic"/>
              </a:rPr>
              <a:t>Escasez de registros LMS</a:t>
            </a:r>
          </a:p>
        </p:txBody>
      </p:sp>
      <p:sp>
        <p:nvSpPr>
          <p:cNvPr id="17" name="TextBox 16"/>
          <p:cNvSpPr txBox="1"/>
          <p:nvPr/>
        </p:nvSpPr>
        <p:spPr>
          <a:xfrm>
            <a:off x="6355080" y="2807208"/>
            <a:ext cx="5486400" cy="329184"/>
          </a:xfrm>
          <a:prstGeom prst="rect">
            <a:avLst/>
          </a:prstGeom>
          <a:noFill/>
        </p:spPr>
        <p:txBody>
          <a:bodyPr wrap="square">
            <a:spAutoFit/>
          </a:bodyPr>
          <a:lstStyle/>
          <a:p>
            <a:pPr algn="l"/>
            <a:r>
              <a:rPr sz="1000" b="0">
                <a:solidFill>
                  <a:srgbClr val="000000"/>
                </a:solidFill>
                <a:latin typeface="Century Gothic"/>
              </a:rPr>
              <a:t>La ETITC no tiene histórico digital de actividad Moodle por estudiante; su recolección requiere instrumentación adicional.</a:t>
            </a:r>
          </a:p>
        </p:txBody>
      </p:sp>
      <p:sp>
        <p:nvSpPr>
          <p:cNvPr id="18" name="Rectangle 17"/>
          <p:cNvSpPr/>
          <p:nvPr/>
        </p:nvSpPr>
        <p:spPr>
          <a:xfrm>
            <a:off x="6245352" y="3264408"/>
            <a:ext cx="5760720" cy="658368"/>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3319272"/>
            <a:ext cx="5486400" cy="261610"/>
          </a:xfrm>
          <a:prstGeom prst="rect">
            <a:avLst/>
          </a:prstGeom>
          <a:noFill/>
        </p:spPr>
        <p:txBody>
          <a:bodyPr wrap="square">
            <a:spAutoFit/>
          </a:bodyPr>
          <a:lstStyle/>
          <a:p>
            <a:r>
              <a:rPr lang="en-US" sz="1100" b="1" dirty="0" err="1">
                <a:solidFill>
                  <a:srgbClr val="C0392B"/>
                </a:solidFill>
                <a:latin typeface="Century Gothic"/>
              </a:rPr>
              <a:t>Generalización</a:t>
            </a:r>
            <a:endParaRPr lang="en-US" sz="1100" b="1" dirty="0">
              <a:solidFill>
                <a:srgbClr val="C0392B"/>
              </a:solidFill>
              <a:latin typeface="Century Gothic"/>
            </a:endParaRPr>
          </a:p>
        </p:txBody>
      </p:sp>
      <p:sp>
        <p:nvSpPr>
          <p:cNvPr id="20" name="TextBox 19"/>
          <p:cNvSpPr txBox="1"/>
          <p:nvPr/>
        </p:nvSpPr>
        <p:spPr>
          <a:xfrm>
            <a:off x="6355080" y="3538728"/>
            <a:ext cx="5486400" cy="400110"/>
          </a:xfrm>
          <a:prstGeom prst="rect">
            <a:avLst/>
          </a:prstGeom>
          <a:noFill/>
        </p:spPr>
        <p:txBody>
          <a:bodyPr wrap="square">
            <a:spAutoFit/>
          </a:bodyPr>
          <a:lstStyle/>
          <a:p>
            <a:r>
              <a:rPr lang="en-US" sz="1000" dirty="0">
                <a:solidFill>
                  <a:srgbClr val="000000"/>
                </a:solidFill>
                <a:latin typeface="Century Gothic"/>
              </a:rPr>
              <a:t>El </a:t>
            </a:r>
            <a:r>
              <a:rPr lang="en-US" sz="1000" dirty="0" err="1">
                <a:solidFill>
                  <a:srgbClr val="000000"/>
                </a:solidFill>
                <a:latin typeface="Century Gothic"/>
              </a:rPr>
              <a:t>modelo</a:t>
            </a:r>
            <a:r>
              <a:rPr lang="en-US" sz="1000" dirty="0">
                <a:solidFill>
                  <a:srgbClr val="000000"/>
                </a:solidFill>
                <a:latin typeface="Century Gothic"/>
              </a:rPr>
              <a:t> </a:t>
            </a:r>
            <a:r>
              <a:rPr lang="en-US" sz="1000" dirty="0" err="1">
                <a:solidFill>
                  <a:srgbClr val="000000"/>
                </a:solidFill>
                <a:latin typeface="Century Gothic"/>
              </a:rPr>
              <a:t>fue</a:t>
            </a:r>
            <a:r>
              <a:rPr lang="en-US" sz="1000" dirty="0">
                <a:solidFill>
                  <a:srgbClr val="000000"/>
                </a:solidFill>
                <a:latin typeface="Century Gothic"/>
              </a:rPr>
              <a:t> </a:t>
            </a:r>
            <a:r>
              <a:rPr lang="en-US" sz="1000" dirty="0" err="1">
                <a:solidFill>
                  <a:srgbClr val="000000"/>
                </a:solidFill>
                <a:latin typeface="Century Gothic"/>
              </a:rPr>
              <a:t>calibrado</a:t>
            </a:r>
            <a:r>
              <a:rPr lang="en-US" sz="1000" dirty="0">
                <a:solidFill>
                  <a:srgbClr val="000000"/>
                </a:solidFill>
                <a:latin typeface="Century Gothic"/>
              </a:rPr>
              <a:t> para la jornada </a:t>
            </a:r>
            <a:r>
              <a:rPr lang="en-US" sz="1000" dirty="0" err="1">
                <a:solidFill>
                  <a:srgbClr val="000000"/>
                </a:solidFill>
                <a:latin typeface="Century Gothic"/>
              </a:rPr>
              <a:t>nocturna</a:t>
            </a:r>
            <a:r>
              <a:rPr lang="en-US" sz="1000" dirty="0">
                <a:solidFill>
                  <a:srgbClr val="000000"/>
                </a:solidFill>
                <a:latin typeface="Century Gothic"/>
              </a:rPr>
              <a:t> ETITC; </a:t>
            </a:r>
            <a:r>
              <a:rPr lang="en-US" sz="1000" dirty="0" err="1">
                <a:solidFill>
                  <a:srgbClr val="000000"/>
                </a:solidFill>
                <a:latin typeface="Century Gothic"/>
              </a:rPr>
              <a:t>transferirlo</a:t>
            </a:r>
            <a:r>
              <a:rPr lang="en-US" sz="1000" dirty="0">
                <a:solidFill>
                  <a:srgbClr val="000000"/>
                </a:solidFill>
                <a:latin typeface="Century Gothic"/>
              </a:rPr>
              <a:t> a </a:t>
            </a:r>
            <a:r>
              <a:rPr lang="en-US" sz="1000" dirty="0" err="1">
                <a:solidFill>
                  <a:srgbClr val="000000"/>
                </a:solidFill>
                <a:latin typeface="Century Gothic"/>
              </a:rPr>
              <a:t>otras</a:t>
            </a:r>
            <a:r>
              <a:rPr lang="en-US" sz="1000" dirty="0">
                <a:solidFill>
                  <a:srgbClr val="000000"/>
                </a:solidFill>
                <a:latin typeface="Century Gothic"/>
              </a:rPr>
              <a:t> </a:t>
            </a:r>
            <a:r>
              <a:rPr lang="en-US" sz="1000" dirty="0" err="1">
                <a:solidFill>
                  <a:srgbClr val="000000"/>
                </a:solidFill>
                <a:latin typeface="Century Gothic"/>
              </a:rPr>
              <a:t>instituciones</a:t>
            </a:r>
            <a:r>
              <a:rPr lang="en-US" sz="1000" dirty="0">
                <a:solidFill>
                  <a:srgbClr val="000000"/>
                </a:solidFill>
                <a:latin typeface="Century Gothic"/>
              </a:rPr>
              <a:t> </a:t>
            </a:r>
            <a:r>
              <a:rPr lang="en-US" sz="1000" dirty="0" err="1">
                <a:solidFill>
                  <a:srgbClr val="000000"/>
                </a:solidFill>
                <a:latin typeface="Century Gothic"/>
              </a:rPr>
              <a:t>requeriría</a:t>
            </a:r>
            <a:r>
              <a:rPr lang="en-US" sz="1000" dirty="0">
                <a:solidFill>
                  <a:srgbClr val="000000"/>
                </a:solidFill>
                <a:latin typeface="Century Gothic"/>
              </a:rPr>
              <a:t> </a:t>
            </a:r>
            <a:r>
              <a:rPr lang="en-US" sz="1000" dirty="0" err="1">
                <a:solidFill>
                  <a:srgbClr val="000000"/>
                </a:solidFill>
                <a:latin typeface="Century Gothic"/>
              </a:rPr>
              <a:t>reentrenamiento</a:t>
            </a:r>
            <a:r>
              <a:rPr lang="en-US" sz="1000" dirty="0">
                <a:solidFill>
                  <a:srgbClr val="000000"/>
                </a:solidFill>
                <a:latin typeface="Century Gothic"/>
              </a:rPr>
              <a:t>.</a:t>
            </a:r>
          </a:p>
        </p:txBody>
      </p:sp>
      <p:sp>
        <p:nvSpPr>
          <p:cNvPr id="24" name="Rectangle 23"/>
          <p:cNvSpPr/>
          <p:nvPr/>
        </p:nvSpPr>
        <p:spPr>
          <a:xfrm>
            <a:off x="0" y="6565392"/>
            <a:ext cx="12188952" cy="292608"/>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82880" y="6574536"/>
            <a:ext cx="11795760" cy="274320"/>
          </a:xfrm>
          <a:prstGeom prst="rect">
            <a:avLst/>
          </a:prstGeom>
          <a:noFill/>
        </p:spPr>
        <p:txBody>
          <a:bodyPr wrap="square">
            <a:spAutoFit/>
          </a:bodyPr>
          <a:lstStyle/>
          <a:p>
            <a:pPr algn="l"/>
            <a:r>
              <a:rPr sz="900" b="0">
                <a:solidFill>
                  <a:srgbClr val="FFFFFF"/>
                </a:solidFill>
                <a:latin typeface="Century Gothic"/>
              </a:rPr>
              <a:t>Jhon A. Correal M.  ·  Rafael A. Guzmán R.  ·  Docente: D. C. Alvarado M.  ·  ETITC  ·  Mayo 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8872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10972800" cy="621792"/>
          </a:xfrm>
          <a:prstGeom prst="rect">
            <a:avLst/>
          </a:prstGeom>
          <a:noFill/>
        </p:spPr>
        <p:txBody>
          <a:bodyPr wrap="square">
            <a:spAutoFit/>
          </a:bodyPr>
          <a:lstStyle/>
          <a:p>
            <a:pPr algn="l"/>
            <a:r>
              <a:rPr sz="2800" b="1">
                <a:solidFill>
                  <a:srgbClr val="FFFFFF"/>
                </a:solidFill>
                <a:latin typeface="Century Gothic"/>
              </a:rPr>
              <a:t>Referencias Bibliográficas</a:t>
            </a:r>
          </a:p>
        </p:txBody>
      </p:sp>
      <p:sp>
        <p:nvSpPr>
          <p:cNvPr id="4" name="TextBox 3"/>
          <p:cNvSpPr txBox="1"/>
          <p:nvPr/>
        </p:nvSpPr>
        <p:spPr>
          <a:xfrm>
            <a:off x="274320" y="676656"/>
            <a:ext cx="10972800" cy="411480"/>
          </a:xfrm>
          <a:prstGeom prst="rect">
            <a:avLst/>
          </a:prstGeom>
          <a:noFill/>
        </p:spPr>
        <p:txBody>
          <a:bodyPr wrap="square">
            <a:spAutoFit/>
          </a:bodyPr>
          <a:lstStyle/>
          <a:p>
            <a:pPr algn="l"/>
            <a:r>
              <a:rPr sz="1300" b="0">
                <a:solidFill>
                  <a:srgbClr val="94C121"/>
                </a:solidFill>
                <a:latin typeface="Century Gothic"/>
              </a:rPr>
              <a:t>Estilo APA 7.ª edición</a:t>
            </a:r>
          </a:p>
        </p:txBody>
      </p:sp>
      <p:sp>
        <p:nvSpPr>
          <p:cNvPr id="5" name="TextBox 4"/>
          <p:cNvSpPr txBox="1"/>
          <p:nvPr/>
        </p:nvSpPr>
        <p:spPr>
          <a:xfrm>
            <a:off x="274320" y="1435608"/>
            <a:ext cx="11640312" cy="310896"/>
          </a:xfrm>
          <a:prstGeom prst="rect">
            <a:avLst/>
          </a:prstGeom>
          <a:noFill/>
        </p:spPr>
        <p:txBody>
          <a:bodyPr wrap="square">
            <a:spAutoFit/>
          </a:bodyPr>
          <a:lstStyle/>
          <a:p>
            <a:pPr algn="l"/>
            <a:r>
              <a:rPr sz="950" b="0">
                <a:solidFill>
                  <a:srgbClr val="000000"/>
                </a:solidFill>
                <a:latin typeface="Century Gothic"/>
              </a:rPr>
              <a:t>Arias, L., et al. (2018). El conflicto trabajo-estudio y su impacto en la educación tecnológica en Colombia. Revista de Educación Superior TyT, 12(1), 45-58.</a:t>
            </a:r>
          </a:p>
        </p:txBody>
      </p:sp>
      <p:sp>
        <p:nvSpPr>
          <p:cNvPr id="6" name="TextBox 5"/>
          <p:cNvSpPr txBox="1"/>
          <p:nvPr/>
        </p:nvSpPr>
        <p:spPr>
          <a:xfrm>
            <a:off x="274320" y="1778508"/>
            <a:ext cx="11640312" cy="310896"/>
          </a:xfrm>
          <a:prstGeom prst="rect">
            <a:avLst/>
          </a:prstGeom>
          <a:noFill/>
        </p:spPr>
        <p:txBody>
          <a:bodyPr wrap="square">
            <a:spAutoFit/>
          </a:bodyPr>
          <a:lstStyle/>
          <a:p>
            <a:pPr algn="l"/>
            <a:r>
              <a:rPr sz="950" b="0">
                <a:solidFill>
                  <a:srgbClr val="000000"/>
                </a:solidFill>
                <a:latin typeface="Century Gothic"/>
              </a:rPr>
              <a:t>Bersoft S.A. (2024). Manual técnico de arquitectura de datos y módulos de permanencia: Sistema Adviser V.11 y Plataforma RUSIA. Documentación técnica corporativa.</a:t>
            </a:r>
          </a:p>
        </p:txBody>
      </p:sp>
      <p:sp>
        <p:nvSpPr>
          <p:cNvPr id="7" name="TextBox 6"/>
          <p:cNvSpPr txBox="1"/>
          <p:nvPr/>
        </p:nvSpPr>
        <p:spPr>
          <a:xfrm>
            <a:off x="274320" y="2121408"/>
            <a:ext cx="11640312" cy="310896"/>
          </a:xfrm>
          <a:prstGeom prst="rect">
            <a:avLst/>
          </a:prstGeom>
          <a:noFill/>
        </p:spPr>
        <p:txBody>
          <a:bodyPr wrap="square">
            <a:spAutoFit/>
          </a:bodyPr>
          <a:lstStyle/>
          <a:p>
            <a:pPr algn="l"/>
            <a:r>
              <a:rPr sz="950" b="0">
                <a:solidFill>
                  <a:srgbClr val="000000"/>
                </a:solidFill>
                <a:latin typeface="Century Gothic"/>
              </a:rPr>
              <a:t>Breiman, L. (2001). Random Forests. Machine Learning, 45(1), 5-32. https://doi.org/10.1023/A:1010933404324</a:t>
            </a:r>
          </a:p>
        </p:txBody>
      </p:sp>
      <p:sp>
        <p:nvSpPr>
          <p:cNvPr id="8" name="TextBox 7"/>
          <p:cNvSpPr txBox="1"/>
          <p:nvPr/>
        </p:nvSpPr>
        <p:spPr>
          <a:xfrm>
            <a:off x="274320" y="2464308"/>
            <a:ext cx="11640312" cy="310896"/>
          </a:xfrm>
          <a:prstGeom prst="rect">
            <a:avLst/>
          </a:prstGeom>
          <a:noFill/>
        </p:spPr>
        <p:txBody>
          <a:bodyPr wrap="square">
            <a:spAutoFit/>
          </a:bodyPr>
          <a:lstStyle/>
          <a:p>
            <a:pPr algn="l"/>
            <a:r>
              <a:rPr sz="950" b="0">
                <a:solidFill>
                  <a:srgbClr val="000000"/>
                </a:solidFill>
                <a:latin typeface="Century Gothic"/>
              </a:rPr>
              <a:t>Chen, T. &amp; Guestrin, C. (2016). XGBoost: A Scalable Tree Boosting System. KDD 2016, 785-794. https://doi.org/10.1145/2939672.2939785</a:t>
            </a:r>
          </a:p>
        </p:txBody>
      </p:sp>
      <p:sp>
        <p:nvSpPr>
          <p:cNvPr id="9" name="TextBox 8"/>
          <p:cNvSpPr txBox="1"/>
          <p:nvPr/>
        </p:nvSpPr>
        <p:spPr>
          <a:xfrm>
            <a:off x="274320" y="2807208"/>
            <a:ext cx="11640312" cy="310896"/>
          </a:xfrm>
          <a:prstGeom prst="rect">
            <a:avLst/>
          </a:prstGeom>
          <a:noFill/>
        </p:spPr>
        <p:txBody>
          <a:bodyPr wrap="square">
            <a:spAutoFit/>
          </a:bodyPr>
          <a:lstStyle/>
          <a:p>
            <a:pPr algn="l"/>
            <a:r>
              <a:rPr sz="950" b="0">
                <a:solidFill>
                  <a:srgbClr val="000000"/>
                </a:solidFill>
                <a:latin typeface="Century Gothic"/>
              </a:rPr>
              <a:t>Congreso de la República de Colombia. (2009). Ley 1341 de 2009. Diario Oficial 47.426.</a:t>
            </a:r>
          </a:p>
        </p:txBody>
      </p:sp>
      <p:sp>
        <p:nvSpPr>
          <p:cNvPr id="10" name="TextBox 9"/>
          <p:cNvSpPr txBox="1"/>
          <p:nvPr/>
        </p:nvSpPr>
        <p:spPr>
          <a:xfrm>
            <a:off x="274320" y="3150108"/>
            <a:ext cx="11640312" cy="310896"/>
          </a:xfrm>
          <a:prstGeom prst="rect">
            <a:avLst/>
          </a:prstGeom>
          <a:noFill/>
        </p:spPr>
        <p:txBody>
          <a:bodyPr wrap="square">
            <a:spAutoFit/>
          </a:bodyPr>
          <a:lstStyle/>
          <a:p>
            <a:pPr algn="l"/>
            <a:r>
              <a:rPr sz="950" b="0">
                <a:solidFill>
                  <a:srgbClr val="000000"/>
                </a:solidFill>
                <a:latin typeface="Century Gothic"/>
              </a:rPr>
              <a:t>Congreso de la República de Colombia. (2012). Ley Estatutaria 1581 de 2012. Diario Oficial 48.587.</a:t>
            </a:r>
          </a:p>
        </p:txBody>
      </p:sp>
      <p:sp>
        <p:nvSpPr>
          <p:cNvPr id="11" name="TextBox 10"/>
          <p:cNvSpPr txBox="1"/>
          <p:nvPr/>
        </p:nvSpPr>
        <p:spPr>
          <a:xfrm>
            <a:off x="274320" y="3493008"/>
            <a:ext cx="11640312" cy="310896"/>
          </a:xfrm>
          <a:prstGeom prst="rect">
            <a:avLst/>
          </a:prstGeom>
          <a:noFill/>
        </p:spPr>
        <p:txBody>
          <a:bodyPr wrap="square">
            <a:spAutoFit/>
          </a:bodyPr>
          <a:lstStyle/>
          <a:p>
            <a:pPr algn="l"/>
            <a:r>
              <a:rPr sz="950" b="0">
                <a:solidFill>
                  <a:srgbClr val="000000"/>
                </a:solidFill>
                <a:latin typeface="Century Gothic"/>
              </a:rPr>
              <a:t>Escorsa, P. &amp; Valls, J. (2003). Tecnología e innovación en la empresa (2.ª ed.). Edicions UPC.</a:t>
            </a:r>
          </a:p>
        </p:txBody>
      </p:sp>
      <p:sp>
        <p:nvSpPr>
          <p:cNvPr id="12" name="TextBox 11"/>
          <p:cNvSpPr txBox="1"/>
          <p:nvPr/>
        </p:nvSpPr>
        <p:spPr>
          <a:xfrm>
            <a:off x="274320" y="3835908"/>
            <a:ext cx="11640312" cy="310896"/>
          </a:xfrm>
          <a:prstGeom prst="rect">
            <a:avLst/>
          </a:prstGeom>
          <a:noFill/>
        </p:spPr>
        <p:txBody>
          <a:bodyPr wrap="square">
            <a:spAutoFit/>
          </a:bodyPr>
          <a:lstStyle/>
          <a:p>
            <a:pPr algn="l"/>
            <a:r>
              <a:rPr sz="950" b="0">
                <a:solidFill>
                  <a:srgbClr val="000000"/>
                </a:solidFill>
                <a:latin typeface="Century Gothic"/>
              </a:rPr>
              <a:t>ETITC. (2021-2025). Informes de Caracterización Estudiantil, periodos 2021-I a 2025-II. Bienestar Universitario.</a:t>
            </a:r>
          </a:p>
        </p:txBody>
      </p:sp>
      <p:sp>
        <p:nvSpPr>
          <p:cNvPr id="13" name="TextBox 12"/>
          <p:cNvSpPr txBox="1"/>
          <p:nvPr/>
        </p:nvSpPr>
        <p:spPr>
          <a:xfrm>
            <a:off x="274320" y="4178808"/>
            <a:ext cx="11640312" cy="310896"/>
          </a:xfrm>
          <a:prstGeom prst="rect">
            <a:avLst/>
          </a:prstGeom>
          <a:noFill/>
        </p:spPr>
        <p:txBody>
          <a:bodyPr wrap="square">
            <a:spAutoFit/>
          </a:bodyPr>
          <a:lstStyle/>
          <a:p>
            <a:pPr algn="l"/>
            <a:r>
              <a:rPr sz="950" b="0">
                <a:solidFill>
                  <a:srgbClr val="000000"/>
                </a:solidFill>
                <a:latin typeface="Century Gothic"/>
              </a:rPr>
              <a:t>ETITC. (2025). Plan de Desarrollo Institucional 2025-2032 (Resolución 216 de 2025). Escuela Tecnológica Instituto Técnico Central.</a:t>
            </a:r>
          </a:p>
        </p:txBody>
      </p:sp>
      <p:sp>
        <p:nvSpPr>
          <p:cNvPr id="14" name="TextBox 13"/>
          <p:cNvSpPr txBox="1"/>
          <p:nvPr/>
        </p:nvSpPr>
        <p:spPr>
          <a:xfrm>
            <a:off x="274320" y="4521708"/>
            <a:ext cx="11640312" cy="310896"/>
          </a:xfrm>
          <a:prstGeom prst="rect">
            <a:avLst/>
          </a:prstGeom>
          <a:noFill/>
        </p:spPr>
        <p:txBody>
          <a:bodyPr wrap="square">
            <a:spAutoFit/>
          </a:bodyPr>
          <a:lstStyle/>
          <a:p>
            <a:pPr algn="l"/>
            <a:r>
              <a:rPr sz="950" b="0">
                <a:solidFill>
                  <a:srgbClr val="000000"/>
                </a:solidFill>
                <a:latin typeface="Century Gothic"/>
              </a:rPr>
              <a:t>Macfadyen, L. P. &amp; Dawson, S. (2010). Mining LMS data to develop an early warning system for student dropout. Computers &amp; Education, 54(2), 588-599.</a:t>
            </a:r>
          </a:p>
        </p:txBody>
      </p:sp>
      <p:sp>
        <p:nvSpPr>
          <p:cNvPr id="15" name="TextBox 14"/>
          <p:cNvSpPr txBox="1"/>
          <p:nvPr/>
        </p:nvSpPr>
        <p:spPr>
          <a:xfrm>
            <a:off x="274320" y="4864608"/>
            <a:ext cx="11640312" cy="310896"/>
          </a:xfrm>
          <a:prstGeom prst="rect">
            <a:avLst/>
          </a:prstGeom>
          <a:noFill/>
        </p:spPr>
        <p:txBody>
          <a:bodyPr wrap="square">
            <a:spAutoFit/>
          </a:bodyPr>
          <a:lstStyle/>
          <a:p>
            <a:pPr algn="l"/>
            <a:r>
              <a:rPr sz="950" b="0">
                <a:solidFill>
                  <a:srgbClr val="000000"/>
                </a:solidFill>
                <a:latin typeface="Century Gothic"/>
              </a:rPr>
              <a:t>Ministerio de Educación Nacional. (2025). Sistema SPADIES 3.0. Bogotá, Colombia.</a:t>
            </a:r>
          </a:p>
        </p:txBody>
      </p:sp>
      <p:sp>
        <p:nvSpPr>
          <p:cNvPr id="16" name="TextBox 15"/>
          <p:cNvSpPr txBox="1"/>
          <p:nvPr/>
        </p:nvSpPr>
        <p:spPr>
          <a:xfrm>
            <a:off x="274320" y="5207508"/>
            <a:ext cx="11640312" cy="310896"/>
          </a:xfrm>
          <a:prstGeom prst="rect">
            <a:avLst/>
          </a:prstGeom>
          <a:noFill/>
        </p:spPr>
        <p:txBody>
          <a:bodyPr wrap="square">
            <a:spAutoFit/>
          </a:bodyPr>
          <a:lstStyle/>
          <a:p>
            <a:pPr algn="l"/>
            <a:r>
              <a:rPr sz="950" b="0">
                <a:solidFill>
                  <a:srgbClr val="000000"/>
                </a:solidFill>
                <a:latin typeface="Century Gothic"/>
              </a:rPr>
              <a:t>ONU. (2015). Transformar nuestro mundo: la Agenda 2030 para el Desarrollo Sostenible. Resolución A/RES/70/1.</a:t>
            </a:r>
          </a:p>
        </p:txBody>
      </p:sp>
      <p:sp>
        <p:nvSpPr>
          <p:cNvPr id="17" name="TextBox 16"/>
          <p:cNvSpPr txBox="1"/>
          <p:nvPr/>
        </p:nvSpPr>
        <p:spPr>
          <a:xfrm>
            <a:off x="274320" y="5550408"/>
            <a:ext cx="11640312" cy="310896"/>
          </a:xfrm>
          <a:prstGeom prst="rect">
            <a:avLst/>
          </a:prstGeom>
          <a:noFill/>
        </p:spPr>
        <p:txBody>
          <a:bodyPr wrap="square">
            <a:spAutoFit/>
          </a:bodyPr>
          <a:lstStyle/>
          <a:p>
            <a:pPr algn="l"/>
            <a:r>
              <a:rPr sz="950" b="0">
                <a:solidFill>
                  <a:srgbClr val="000000"/>
                </a:solidFill>
                <a:latin typeface="Century Gothic"/>
              </a:rPr>
              <a:t>Romero, C. &amp; Ventura, S. (2010). Educational Data Mining: A Review of the State of the Art. IEEE Trans. SMC-C, 40(6), 601-618.</a:t>
            </a:r>
          </a:p>
        </p:txBody>
      </p:sp>
      <p:sp>
        <p:nvSpPr>
          <p:cNvPr id="18" name="TextBox 17"/>
          <p:cNvSpPr txBox="1"/>
          <p:nvPr/>
        </p:nvSpPr>
        <p:spPr>
          <a:xfrm>
            <a:off x="274320" y="5893308"/>
            <a:ext cx="11640312" cy="310896"/>
          </a:xfrm>
          <a:prstGeom prst="rect">
            <a:avLst/>
          </a:prstGeom>
          <a:noFill/>
        </p:spPr>
        <p:txBody>
          <a:bodyPr wrap="square">
            <a:spAutoFit/>
          </a:bodyPr>
          <a:lstStyle/>
          <a:p>
            <a:pPr algn="l"/>
            <a:r>
              <a:rPr sz="950" b="0">
                <a:solidFill>
                  <a:srgbClr val="000000"/>
                </a:solidFill>
                <a:latin typeface="Century Gothic"/>
              </a:rPr>
              <a:t>Tinto, V. (1975). Dropout from Higher Education: A Theoretical Synthesis. Review of Educational Research, 45(1), 89-125.</a:t>
            </a:r>
          </a:p>
        </p:txBody>
      </p:sp>
      <p:sp>
        <p:nvSpPr>
          <p:cNvPr id="19" name="Rectangle 18"/>
          <p:cNvSpPr/>
          <p:nvPr/>
        </p:nvSpPr>
        <p:spPr>
          <a:xfrm>
            <a:off x="0" y="6565392"/>
            <a:ext cx="12188952" cy="292608"/>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82880" y="6574536"/>
            <a:ext cx="11795760" cy="274320"/>
          </a:xfrm>
          <a:prstGeom prst="rect">
            <a:avLst/>
          </a:prstGeom>
          <a:noFill/>
        </p:spPr>
        <p:txBody>
          <a:bodyPr wrap="square">
            <a:spAutoFit/>
          </a:bodyPr>
          <a:lstStyle/>
          <a:p>
            <a:pPr algn="l"/>
            <a:r>
              <a:rPr sz="900" b="0">
                <a:solidFill>
                  <a:srgbClr val="FFFFFF"/>
                </a:solidFill>
                <a:latin typeface="Century Gothic"/>
              </a:rPr>
              <a:t>Jhon A. Correal M.  ·  Rafael A. Guzmán R.  ·  Docente: D. C. Alvarado M.  ·  ETITC  ·  Mayo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71800"/>
            <a:ext cx="12188952" cy="73152"/>
          </a:xfrm>
          <a:prstGeom prst="rect">
            <a:avLst/>
          </a:prstGeom>
          <a:solidFill>
            <a:srgbClr val="94C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25880"/>
            <a:ext cx="10360152" cy="1097280"/>
          </a:xfrm>
          <a:prstGeom prst="rect">
            <a:avLst/>
          </a:prstGeom>
          <a:noFill/>
        </p:spPr>
        <p:txBody>
          <a:bodyPr wrap="square">
            <a:spAutoFit/>
          </a:bodyPr>
          <a:lstStyle/>
          <a:p>
            <a:pPr algn="ctr"/>
            <a:r>
              <a:rPr sz="4000" b="1">
                <a:solidFill>
                  <a:srgbClr val="FFFFFF"/>
                </a:solidFill>
                <a:latin typeface="Century Gothic"/>
              </a:rPr>
              <a:t>¡Gracias por su atención!</a:t>
            </a:r>
          </a:p>
        </p:txBody>
      </p:sp>
      <p:sp>
        <p:nvSpPr>
          <p:cNvPr id="5" name="TextBox 4"/>
          <p:cNvSpPr txBox="1"/>
          <p:nvPr/>
        </p:nvSpPr>
        <p:spPr>
          <a:xfrm>
            <a:off x="914400" y="2633472"/>
            <a:ext cx="10360152" cy="457200"/>
          </a:xfrm>
          <a:prstGeom prst="rect">
            <a:avLst/>
          </a:prstGeom>
          <a:noFill/>
        </p:spPr>
        <p:txBody>
          <a:bodyPr wrap="square">
            <a:spAutoFit/>
          </a:bodyPr>
          <a:lstStyle/>
          <a:p>
            <a:pPr algn="ctr"/>
            <a:r>
              <a:rPr sz="1500" b="0">
                <a:solidFill>
                  <a:srgbClr val="94C121"/>
                </a:solidFill>
                <a:latin typeface="Century Gothic"/>
              </a:rPr>
              <a:t>Sistema de Analítica Predictiva para la Detección Temprana de Deserción — ETITC</a:t>
            </a:r>
          </a:p>
        </p:txBody>
      </p:sp>
      <p:sp>
        <p:nvSpPr>
          <p:cNvPr id="6" name="TextBox 5"/>
          <p:cNvSpPr txBox="1"/>
          <p:nvPr/>
        </p:nvSpPr>
        <p:spPr>
          <a:xfrm>
            <a:off x="914400" y="3273552"/>
            <a:ext cx="10360152" cy="365760"/>
          </a:xfrm>
          <a:prstGeom prst="rect">
            <a:avLst/>
          </a:prstGeom>
          <a:noFill/>
        </p:spPr>
        <p:txBody>
          <a:bodyPr wrap="square">
            <a:spAutoFit/>
          </a:bodyPr>
          <a:lstStyle/>
          <a:p>
            <a:pPr algn="ctr"/>
            <a:r>
              <a:rPr sz="1300" b="0">
                <a:solidFill>
                  <a:srgbClr val="FFFFFF"/>
                </a:solidFill>
                <a:latin typeface="Century Gothic"/>
              </a:rPr>
              <a:t>Jhon Alejandro Correal Martínez  ·  Rafael Andrés Guzmán Rodríguez</a:t>
            </a:r>
          </a:p>
        </p:txBody>
      </p:sp>
      <p:sp>
        <p:nvSpPr>
          <p:cNvPr id="7" name="TextBox 6"/>
          <p:cNvSpPr txBox="1"/>
          <p:nvPr/>
        </p:nvSpPr>
        <p:spPr>
          <a:xfrm>
            <a:off x="914400" y="3685032"/>
            <a:ext cx="10360152" cy="320040"/>
          </a:xfrm>
          <a:prstGeom prst="rect">
            <a:avLst/>
          </a:prstGeom>
          <a:noFill/>
        </p:spPr>
        <p:txBody>
          <a:bodyPr wrap="square">
            <a:spAutoFit/>
          </a:bodyPr>
          <a:lstStyle/>
          <a:p>
            <a:pPr algn="ctr"/>
            <a:r>
              <a:rPr sz="1200" b="0">
                <a:solidFill>
                  <a:srgbClr val="B4B3B6"/>
                </a:solidFill>
                <a:latin typeface="Century Gothic"/>
              </a:rPr>
              <a:t>Docente: Doris Constanza Alvarado Mariño</a:t>
            </a:r>
          </a:p>
        </p:txBody>
      </p:sp>
      <p:sp>
        <p:nvSpPr>
          <p:cNvPr id="8" name="Rectangle 7"/>
          <p:cNvSpPr/>
          <p:nvPr/>
        </p:nvSpPr>
        <p:spPr>
          <a:xfrm>
            <a:off x="3657600" y="4187952"/>
            <a:ext cx="4873752" cy="365760"/>
          </a:xfrm>
          <a:prstGeom prst="rect">
            <a:avLst/>
          </a:prstGeom>
          <a:solidFill>
            <a:srgbClr val="4DA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49039" y="4215384"/>
            <a:ext cx="4690872" cy="292608"/>
          </a:xfrm>
          <a:prstGeom prst="rect">
            <a:avLst/>
          </a:prstGeom>
          <a:noFill/>
        </p:spPr>
        <p:txBody>
          <a:bodyPr wrap="square">
            <a:spAutoFit/>
          </a:bodyPr>
          <a:lstStyle/>
          <a:p>
            <a:pPr algn="ctr"/>
            <a:r>
              <a:rPr sz="1200" b="1">
                <a:solidFill>
                  <a:srgbClr val="FFFFFF"/>
                </a:solidFill>
                <a:latin typeface="Century Gothic"/>
              </a:rPr>
              <a:t>jacorrealm645@gmail.com  ·  Mayo 2026</a:t>
            </a:r>
          </a:p>
        </p:txBody>
      </p:sp>
      <p:sp>
        <p:nvSpPr>
          <p:cNvPr id="10" name="Rectangle 9"/>
          <p:cNvSpPr/>
          <p:nvPr/>
        </p:nvSpPr>
        <p:spPr>
          <a:xfrm>
            <a:off x="0" y="6565392"/>
            <a:ext cx="12188952" cy="292608"/>
          </a:xfrm>
          <a:prstGeom prst="rect">
            <a:avLst/>
          </a:prstGeom>
          <a:solidFill>
            <a:srgbClr val="287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 y="6574536"/>
            <a:ext cx="11795760" cy="274320"/>
          </a:xfrm>
          <a:prstGeom prst="rect">
            <a:avLst/>
          </a:prstGeom>
          <a:noFill/>
        </p:spPr>
        <p:txBody>
          <a:bodyPr wrap="square">
            <a:spAutoFit/>
          </a:bodyPr>
          <a:lstStyle/>
          <a:p>
            <a:pPr algn="l"/>
            <a:r>
              <a:rPr sz="900" b="0">
                <a:solidFill>
                  <a:srgbClr val="FFFFFF"/>
                </a:solidFill>
                <a:latin typeface="Century Gothic"/>
              </a:rPr>
              <a:t>Jhon A. Correal M.  ·  Rafael A. Guzmán R.  ·  Docente: D. C. Alvarado M.  ·  ETITC  ·  Mayo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2652</Words>
  <Application>Microsoft Macintosh PowerPoint</Application>
  <PresentationFormat>Custom</PresentationFormat>
  <Paragraphs>280</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Century Gothic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JHON ALEJANDRO CORREAL MARTINEZ</cp:lastModifiedBy>
  <cp:revision>2</cp:revision>
  <dcterms:created xsi:type="dcterms:W3CDTF">2013-01-27T09:14:16Z</dcterms:created>
  <dcterms:modified xsi:type="dcterms:W3CDTF">2026-05-27T23:03:43Z</dcterms:modified>
  <cp:category/>
</cp:coreProperties>
</file>